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68"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3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96C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65760" y="274320"/>
            <a:ext cx="1463040" cy="585216"/>
          </a:xfrm>
          <a:prstGeom prst="rect">
            <a:avLst/>
          </a:prstGeom>
        </p:spPr>
      </p:pic>
      <p:sp>
        <p:nvSpPr>
          <p:cNvPr id="3" name="Text 0"/>
          <p:cNvSpPr/>
          <p:nvPr/>
        </p:nvSpPr>
        <p:spPr>
          <a:xfrm>
            <a:off x="457200" y="1051560"/>
            <a:ext cx="8229600" cy="502920"/>
          </a:xfrm>
          <a:prstGeom prst="rect">
            <a:avLst/>
          </a:prstGeom>
          <a:noFill/>
        </p:spPr>
        <p:txBody>
          <a:bodyPr wrap="square" rtlCol="0" anchor="ctr"/>
          <a:lstStyle/>
          <a:p>
            <a:pPr marL="0" indent="0">
              <a:buNone/>
            </a:pPr>
            <a:r>
              <a:rPr lang="en-US" sz="2200" dirty="0">
                <a:solidFill>
                  <a:srgbClr val="FFFFFF"/>
                </a:solidFill>
                <a:latin typeface="Arial" panose="020B0604020202020204" pitchFamily="34" charset="0"/>
                <a:ea typeface="Arial" panose="020B0604020202020204" pitchFamily="34" charset="-122"/>
                <a:cs typeface="Arial" panose="020B0604020202020204" pitchFamily="34" charset="-120"/>
              </a:rPr>
              <a:t>WIPRO NGA Program _26SUB0726-JAVA J2EE INTEGRATION</a:t>
            </a:r>
            <a:endParaRPr lang="en-US" sz="2200" dirty="0"/>
          </a:p>
        </p:txBody>
      </p:sp>
      <p:sp>
        <p:nvSpPr>
          <p:cNvPr id="4" name="Text 1"/>
          <p:cNvSpPr/>
          <p:nvPr/>
        </p:nvSpPr>
        <p:spPr>
          <a:xfrm>
            <a:off x="457200" y="1737360"/>
            <a:ext cx="8229600" cy="45720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Capstone Project Presentation – 23rd June 2026</a:t>
            </a:r>
            <a:endParaRPr lang="en-US" sz="2000" dirty="0"/>
          </a:p>
        </p:txBody>
      </p:sp>
      <p:sp>
        <p:nvSpPr>
          <p:cNvPr id="5" name="Text 2"/>
          <p:cNvSpPr/>
          <p:nvPr/>
        </p:nvSpPr>
        <p:spPr>
          <a:xfrm>
            <a:off x="457200" y="2315210"/>
            <a:ext cx="8229600" cy="79375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Project Title Here - Smart Parking Management System</a:t>
            </a:r>
            <a:endParaRPr lang="en-US" sz="2000" dirty="0"/>
          </a:p>
        </p:txBody>
      </p:sp>
      <p:sp>
        <p:nvSpPr>
          <p:cNvPr id="6" name="Text 3"/>
          <p:cNvSpPr/>
          <p:nvPr/>
        </p:nvSpPr>
        <p:spPr>
          <a:xfrm>
            <a:off x="457200" y="3383280"/>
            <a:ext cx="8229600" cy="457200"/>
          </a:xfrm>
          <a:prstGeom prst="rect">
            <a:avLst/>
          </a:prstGeom>
          <a:noFill/>
        </p:spPr>
        <p:txBody>
          <a:bodyPr wrap="square" rtlCol="0" anchor="ctr"/>
          <a:lstStyle/>
          <a:p>
            <a:pPr marL="0" indent="0">
              <a:buNone/>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Presented by – Mohammed Athaf, Naveen Muthu</a:t>
            </a:r>
            <a:endParaRPr lang="en-US" sz="2000" dirty="0"/>
          </a:p>
        </p:txBody>
      </p:sp>
      <p:sp>
        <p:nvSpPr>
          <p:cNvPr id="7" name="Text 4"/>
          <p:cNvSpPr/>
          <p:nvPr/>
        </p:nvSpPr>
        <p:spPr>
          <a:xfrm>
            <a:off x="457200" y="4663440"/>
            <a:ext cx="3657600" cy="274320"/>
          </a:xfrm>
          <a:prstGeom prst="rect">
            <a:avLst/>
          </a:prstGeom>
          <a:noFill/>
        </p:spPr>
        <p:txBody>
          <a:bodyPr wrap="square" rtlCol="0" anchor="ctr"/>
          <a:lstStyle/>
          <a:p>
            <a:pPr marL="0" indent="0">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www.rpsconsulting.in</a:t>
            </a:r>
            <a:endParaRPr lang="en-US" sz="1000" dirty="0"/>
          </a:p>
        </p:txBody>
      </p:sp>
      <p:sp>
        <p:nvSpPr>
          <p:cNvPr id="8" name="Text 5"/>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defRPr>
                <a:solidFill/>
              </a:defRPr>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defRPr>
                <a:solidFill/>
              </a:defRPr>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defRPr>
                <a:solidFill/>
              </a:defRPr>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Smart Parking Management System</a:t>
            </a:r>
            <a:endParaRPr lang="en-US" sz="2600" dirty="0"/>
          </a:p>
        </p:txBody>
      </p:sp>
      <p:sp>
        <p:nvSpPr>
          <p:cNvPr id="6" name="Text 3"/>
          <p:cNvSpPr/>
          <p:nvPr/>
        </p:nvSpPr>
        <p:spPr>
          <a:xfrm>
            <a:off x="400685" y="823087"/>
            <a:ext cx="8229600" cy="347472"/>
          </a:xfrm>
          <a:prstGeom prst="rect">
            <a:avLst/>
          </a:prstGeom>
          <a:noFill/>
        </p:spPr>
        <p:txBody>
          <a:bodyPr wrap="square" lIns="0" tIns="0" rIns="0" bIns="0" rtlCol="0" anchor="ctr"/>
          <a:lstStyle/>
          <a:p>
            <a:pPr marL="0" indent="0">
              <a:buNone/>
            </a:pPr>
            <a:r>
              <a:rPr lang="en-US" sz="1800" b="1" dirty="0">
                <a:solidFill>
                  <a:srgbClr val="0096CC"/>
                </a:solidFill>
                <a:latin typeface="Arial" panose="020B0604020202020204" pitchFamily="34" charset="0"/>
                <a:ea typeface="Arial" panose="020B0604020202020204" pitchFamily="34" charset="-122"/>
                <a:cs typeface="Arial" panose="020B0604020202020204" pitchFamily="34" charset="-120"/>
              </a:rPr>
              <a:t>Introduction</a:t>
            </a:r>
            <a:endParaRPr lang="en-US" sz="1800" dirty="0"/>
          </a:p>
        </p:txBody>
      </p:sp>
      <p:sp>
        <p:nvSpPr>
          <p:cNvPr id="7" name="Text 4"/>
          <p:cNvSpPr/>
          <p:nvPr/>
        </p:nvSpPr>
        <p:spPr>
          <a:xfrm>
            <a:off x="400685" y="1245235"/>
            <a:ext cx="8229600" cy="2729865"/>
          </a:xfrm>
          <a:prstGeom prst="rect">
            <a:avLst/>
          </a:prstGeom>
          <a:noFill/>
        </p:spPr>
        <p:txBody>
          <a:bodyPr wrap="square" rtlCol="0" anchor="ctr"/>
          <a:lstStyle/>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Smart Parking Management System is a web-based application built to streamline the management of parking lots, parking slots, vehicle reservations, entry and exit tracking, billing, and digital payments.</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platform enables customers to locate available parking spaces, book slots in advance, and complete payments online — all from a single interface.</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Administrators gain centralized control over the entire parking infrastructure through a unified dashboard, improving visibility and operational efficiency.</a:t>
            </a:r>
            <a:endParaRPr lang="en-US" sz="1400" dirty="0"/>
          </a:p>
          <a:p>
            <a:pPr marL="342900" indent="-342900" algn="just">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eliminates manual processes, reduces human error, and significantly enhances the overall parking experience for both users and operators.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Existing System</a:t>
            </a:r>
            <a:endParaRPr lang="en-US" sz="2600" dirty="0"/>
          </a:p>
        </p:txBody>
      </p:sp>
      <p:sp>
        <p:nvSpPr>
          <p:cNvPr id="6" name="Text 3"/>
          <p:cNvSpPr/>
          <p:nvPr/>
        </p:nvSpPr>
        <p:spPr>
          <a:xfrm>
            <a:off x="38608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 traditional parking systems:</a:t>
            </a:r>
            <a:endParaRPr lang="en-US" sz="1400" dirty="0"/>
          </a:p>
        </p:txBody>
      </p:sp>
      <p:sp>
        <p:nvSpPr>
          <p:cNvPr id="7" name="Text 4"/>
          <p:cNvSpPr/>
          <p:nvPr/>
        </p:nvSpPr>
        <p:spPr>
          <a:xfrm>
            <a:off x="386080" y="1217930"/>
            <a:ext cx="8229600" cy="2471420"/>
          </a:xfrm>
          <a:prstGeom prst="rect">
            <a:avLst/>
          </a:prstGeom>
          <a:noFill/>
        </p:spPr>
        <p:txBody>
          <a:bodyPr wrap="square" rtlCol="0" anchor="ctr"/>
          <a:lstStyle/>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slots are assigned manually, causing delays and inefficient use of space.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Drivers are forced to search for available spots without any real-time guidance.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records are maintained manually, making them error-prone and difficult to audit.</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Billing is computed by hand, leading to inconsistencies and revenue leakage.</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There is no real-time monitoring of parking slot availability for administrators.</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Overall parking management is inefficient and highly susceptible to human errors.</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These limitations lead to longer wait times, reduced throughput, and poor customer satisfaction.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Proposed System</a:t>
            </a:r>
            <a:endParaRPr lang="en-US" sz="2600" dirty="0"/>
          </a:p>
        </p:txBody>
      </p:sp>
      <p:sp>
        <p:nvSpPr>
          <p:cNvPr id="6" name="Text 3"/>
          <p:cNvSpPr/>
          <p:nvPr/>
        </p:nvSpPr>
        <p:spPr>
          <a:xfrm>
            <a:off x="365125" y="819785"/>
            <a:ext cx="8229600" cy="64008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proposed Smart Parking Management System fully automates the end-to-end parking workflow.</a:t>
            </a:r>
            <a:endParaRPr lang="en-US" sz="1400" dirty="0"/>
          </a:p>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delivers:</a:t>
            </a:r>
            <a:endParaRPr lang="en-US" sz="1400" dirty="0"/>
          </a:p>
        </p:txBody>
      </p:sp>
      <p:sp>
        <p:nvSpPr>
          <p:cNvPr id="7" name="Text 4"/>
          <p:cNvSpPr/>
          <p:nvPr/>
        </p:nvSpPr>
        <p:spPr>
          <a:xfrm>
            <a:off x="365125" y="1508760"/>
            <a:ext cx="8229600" cy="2647315"/>
          </a:xfrm>
          <a:prstGeom prst="rect">
            <a:avLst/>
          </a:prstGeom>
          <a:noFill/>
        </p:spPr>
        <p:txBody>
          <a:bodyPr wrap="square" rtlCol="0" anchor="ctr"/>
          <a:lstStyle/>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Secure user registration and authentication.</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Vehicle details management and tracking.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Parking lot and slot administration.</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Online slot reservation with real-time availability.</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Automated vehicle entry and exit logging.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System-generated billing and integrated payment processing.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Real-time monitoring of parking slot status.</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Comprehensive administrative dashboard for oversight and reporting.</a:t>
            </a:r>
            <a:endParaRPr lang="en-US" sz="1400" dirty="0"/>
          </a:p>
          <a:p>
            <a:pPr marL="342900" indent="-342900">
              <a:spcAft>
                <a:spcPts val="4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solution is designed to be scalable, secure, and user-friendly.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Project Objectives</a:t>
            </a:r>
            <a:endParaRPr lang="en-US" sz="2600" dirty="0"/>
          </a:p>
        </p:txBody>
      </p:sp>
      <p:sp>
        <p:nvSpPr>
          <p:cNvPr id="6" name="Text 3"/>
          <p:cNvSpPr/>
          <p:nvPr/>
        </p:nvSpPr>
        <p:spPr>
          <a:xfrm>
            <a:off x="457200" y="823087"/>
            <a:ext cx="8229600" cy="347472"/>
          </a:xfrm>
          <a:prstGeom prst="rect">
            <a:avLst/>
          </a:prstGeom>
          <a:noFill/>
        </p:spPr>
        <p:txBody>
          <a:bodyPr wrap="square" lIns="0" tIns="0" rIns="0" bIns="0" rtlCol="0" anchor="ctr"/>
          <a:lstStyle/>
          <a:p>
            <a:pPr marL="0" indent="0">
              <a:buNone/>
            </a:pPr>
            <a:r>
              <a:rPr lang="en-US" sz="1800" b="1" dirty="0">
                <a:solidFill>
                  <a:srgbClr val="0096CC"/>
                </a:solidFill>
                <a:latin typeface="Arial" panose="020B0604020202020204" pitchFamily="34" charset="0"/>
                <a:ea typeface="Arial" panose="020B0604020202020204" pitchFamily="34" charset="-122"/>
                <a:cs typeface="Arial" panose="020B0604020202020204" pitchFamily="34" charset="-120"/>
              </a:rPr>
              <a:t>Objectives</a:t>
            </a:r>
            <a:endParaRPr lang="en-US" sz="1800" dirty="0"/>
          </a:p>
        </p:txBody>
      </p:sp>
      <p:sp>
        <p:nvSpPr>
          <p:cNvPr id="7" name="Text 4"/>
          <p:cNvSpPr/>
          <p:nvPr/>
        </p:nvSpPr>
        <p:spPr>
          <a:xfrm>
            <a:off x="364490" y="1170305"/>
            <a:ext cx="8229600" cy="2797810"/>
          </a:xfrm>
          <a:prstGeom prst="rect">
            <a:avLst/>
          </a:prstGeom>
          <a:noFill/>
        </p:spPr>
        <p:txBody>
          <a:bodyPr wrap="square" rtlCol="0" anchor="ctr"/>
          <a:lstStyle/>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 parking slot allocation and optimize space utilization.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 and log vehicle entry and exit with accuracy.</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Provide an online reservation facility for advance slot booking.</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Generate billing statements automatically based on parking duration.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Maintain structured parking records for auditing and reporting.</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Enable secure user authentication and role-based authorization.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Deploy the application using Docker containers and Kubernetes orchestration.</a:t>
            </a:r>
            <a:endParaRPr lang="en-US" sz="1400" dirty="0"/>
          </a:p>
          <a:p>
            <a:pPr marL="342900" indent="-342900">
              <a:spcAft>
                <a:spcPts val="6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Automate the build and deployment pipeline using Jenkins CI/CD.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164592"/>
            <a:ext cx="8229600" cy="411480"/>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Architecture</a:t>
            </a:r>
            <a:endParaRPr lang="en-US" sz="2600" dirty="0"/>
          </a:p>
        </p:txBody>
      </p:sp>
      <p:sp>
        <p:nvSpPr>
          <p:cNvPr id="6" name="Text 3"/>
          <p:cNvSpPr/>
          <p:nvPr/>
        </p:nvSpPr>
        <p:spPr>
          <a:xfrm>
            <a:off x="438785" y="721995"/>
            <a:ext cx="8229600" cy="292608"/>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Objectives</a:t>
            </a:r>
            <a:endParaRPr lang="en-US" sz="1600" dirty="0"/>
          </a:p>
        </p:txBody>
      </p:sp>
      <p:sp>
        <p:nvSpPr>
          <p:cNvPr id="7" name="Text 4"/>
          <p:cNvSpPr/>
          <p:nvPr/>
        </p:nvSpPr>
        <p:spPr>
          <a:xfrm>
            <a:off x="1371600" y="960120"/>
            <a:ext cx="6400800" cy="320040"/>
          </a:xfrm>
          <a:prstGeom prst="rect">
            <a:avLst/>
          </a:prstGeom>
          <a:noFill/>
        </p:spPr>
        <p:txBody>
          <a:bodyPr wrap="square" rtlCol="0" anchor="ctr"/>
          <a:lstStyle/>
          <a:p>
            <a:pPr marL="0" indent="0" algn="ctr">
              <a:buNone/>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THREE – TIER ARCHITECTURE</a:t>
            </a:r>
            <a:endParaRPr lang="en-US" sz="1600" dirty="0"/>
          </a:p>
        </p:txBody>
      </p:sp>
      <p:sp>
        <p:nvSpPr>
          <p:cNvPr id="8" name="Text 5"/>
          <p:cNvSpPr/>
          <p:nvPr/>
        </p:nvSpPr>
        <p:spPr>
          <a:xfrm>
            <a:off x="1371600" y="1261872"/>
            <a:ext cx="6400800" cy="256032"/>
          </a:xfrm>
          <a:prstGeom prst="rect">
            <a:avLst/>
          </a:prstGeom>
          <a:noFill/>
        </p:spPr>
        <p:txBody>
          <a:bodyPr wrap="square" rtlCol="0" anchor="ctr"/>
          <a:lstStyle/>
          <a:p>
            <a:pPr marL="0" indent="0" algn="ctr">
              <a:buNone/>
            </a:pPr>
            <a:r>
              <a:rPr lang="en-US" sz="1200" dirty="0">
                <a:solidFill>
                  <a:srgbClr val="888888"/>
                </a:solidFill>
                <a:latin typeface="Arial" panose="020B0604020202020204" pitchFamily="34" charset="0"/>
                <a:ea typeface="Arial" panose="020B0604020202020204" pitchFamily="34" charset="-122"/>
                <a:cs typeface="Arial" panose="020B0604020202020204" pitchFamily="34" charset="-120"/>
              </a:rPr>
              <a:t>Smart Parking Management System</a:t>
            </a:r>
            <a:endParaRPr lang="en-US" sz="1200" dirty="0"/>
          </a:p>
        </p:txBody>
      </p:sp>
      <p:sp>
        <p:nvSpPr>
          <p:cNvPr id="9" name="Shape 6"/>
          <p:cNvSpPr/>
          <p:nvPr/>
        </p:nvSpPr>
        <p:spPr>
          <a:xfrm>
            <a:off x="365760" y="1572768"/>
            <a:ext cx="2377440" cy="475488"/>
          </a:xfrm>
          <a:prstGeom prst="rect">
            <a:avLst/>
          </a:prstGeom>
          <a:solidFill>
            <a:srgbClr val="4472C4"/>
          </a:solidFill>
          <a:ln w="12700">
            <a:solidFill>
              <a:srgbClr val="4472C4"/>
            </a:solidFill>
            <a:prstDash val="solid"/>
          </a:ln>
        </p:spPr>
      </p:sp>
      <p:sp>
        <p:nvSpPr>
          <p:cNvPr id="10" name="Text 7"/>
          <p:cNvSpPr/>
          <p:nvPr/>
        </p:nvSpPr>
        <p:spPr>
          <a:xfrm>
            <a:off x="36576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PRESENTATION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(Thymeleaf)</a:t>
            </a:r>
            <a:endParaRPr lang="en-US" sz="950" dirty="0"/>
          </a:p>
        </p:txBody>
      </p:sp>
      <p:sp>
        <p:nvSpPr>
          <p:cNvPr id="11" name="Shape 8"/>
          <p:cNvSpPr/>
          <p:nvPr/>
        </p:nvSpPr>
        <p:spPr>
          <a:xfrm>
            <a:off x="365760" y="2048256"/>
            <a:ext cx="2377440" cy="1901952"/>
          </a:xfrm>
          <a:prstGeom prst="rect">
            <a:avLst/>
          </a:prstGeom>
          <a:solidFill>
            <a:srgbClr val="F4F4F4"/>
          </a:solidFill>
          <a:ln w="12700">
            <a:solidFill>
              <a:srgbClr val="CCCCCC"/>
            </a:solidFill>
            <a:prstDash val="solid"/>
          </a:ln>
        </p:spPr>
      </p:sp>
      <p:sp>
        <p:nvSpPr>
          <p:cNvPr id="12" name="Text 9"/>
          <p:cNvSpPr/>
          <p:nvPr/>
        </p:nvSpPr>
        <p:spPr>
          <a:xfrm>
            <a:off x="43891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User Interface</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Form Validation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Server-side Rendering</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Dashboard Visualization</a:t>
            </a:r>
            <a:endParaRPr lang="en-US" sz="1000" dirty="0"/>
          </a:p>
        </p:txBody>
      </p:sp>
      <p:sp>
        <p:nvSpPr>
          <p:cNvPr id="13" name="Shape 10"/>
          <p:cNvSpPr/>
          <p:nvPr/>
        </p:nvSpPr>
        <p:spPr>
          <a:xfrm>
            <a:off x="3383280" y="1572768"/>
            <a:ext cx="2377440" cy="475488"/>
          </a:xfrm>
          <a:prstGeom prst="rect">
            <a:avLst/>
          </a:prstGeom>
          <a:solidFill>
            <a:srgbClr val="9370DB"/>
          </a:solidFill>
          <a:ln w="12700">
            <a:solidFill>
              <a:srgbClr val="9370DB"/>
            </a:solidFill>
            <a:prstDash val="solid"/>
          </a:ln>
        </p:spPr>
      </p:sp>
      <p:sp>
        <p:nvSpPr>
          <p:cNvPr id="14" name="Text 11"/>
          <p:cNvSpPr/>
          <p:nvPr/>
        </p:nvSpPr>
        <p:spPr>
          <a:xfrm>
            <a:off x="338328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BUSINESS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(Spring Boot)</a:t>
            </a:r>
            <a:endParaRPr lang="en-US" sz="950" dirty="0"/>
          </a:p>
        </p:txBody>
      </p:sp>
      <p:sp>
        <p:nvSpPr>
          <p:cNvPr id="15" name="Shape 12"/>
          <p:cNvSpPr/>
          <p:nvPr/>
        </p:nvSpPr>
        <p:spPr>
          <a:xfrm>
            <a:off x="3383280" y="2048256"/>
            <a:ext cx="2377440" cy="1901952"/>
          </a:xfrm>
          <a:prstGeom prst="rect">
            <a:avLst/>
          </a:prstGeom>
          <a:solidFill>
            <a:srgbClr val="F4F4F4"/>
          </a:solidFill>
          <a:ln w="12700">
            <a:solidFill>
              <a:srgbClr val="CCCCCC"/>
            </a:solidFill>
            <a:prstDash val="solid"/>
          </a:ln>
        </p:spPr>
      </p:sp>
      <p:sp>
        <p:nvSpPr>
          <p:cNvPr id="16" name="Text 13"/>
          <p:cNvSpPr/>
          <p:nvPr/>
        </p:nvSpPr>
        <p:spPr>
          <a:xfrm>
            <a:off x="345643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Business Logic</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Authentication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Authorization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Reservation Processing</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Billing Calculation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Parking Allocation</a:t>
            </a:r>
            <a:endParaRPr lang="en-US" sz="1000" dirty="0"/>
          </a:p>
        </p:txBody>
      </p:sp>
      <p:sp>
        <p:nvSpPr>
          <p:cNvPr id="17" name="Shape 14"/>
          <p:cNvSpPr/>
          <p:nvPr/>
        </p:nvSpPr>
        <p:spPr>
          <a:xfrm>
            <a:off x="6400800" y="1572768"/>
            <a:ext cx="2377440" cy="475488"/>
          </a:xfrm>
          <a:prstGeom prst="rect">
            <a:avLst/>
          </a:prstGeom>
          <a:solidFill>
            <a:srgbClr val="17A589"/>
          </a:solidFill>
          <a:ln w="12700">
            <a:solidFill>
              <a:srgbClr val="17A589"/>
            </a:solidFill>
            <a:prstDash val="solid"/>
          </a:ln>
        </p:spPr>
      </p:sp>
      <p:sp>
        <p:nvSpPr>
          <p:cNvPr id="18" name="Text 15"/>
          <p:cNvSpPr/>
          <p:nvPr/>
        </p:nvSpPr>
        <p:spPr>
          <a:xfrm>
            <a:off x="6400800" y="1572768"/>
            <a:ext cx="2377440" cy="475488"/>
          </a:xfrm>
          <a:prstGeom prst="rect">
            <a:avLst/>
          </a:prstGeom>
          <a:noFill/>
        </p:spPr>
        <p:txBody>
          <a:bodyPr wrap="square" lIns="25400" tIns="25400" rIns="25400" bIns="25400" rtlCol="0" anchor="ctr"/>
          <a:lstStyle/>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DATA LAYER</a:t>
            </a:r>
            <a:endParaRPr lang="en-US" sz="950" dirty="0"/>
          </a:p>
          <a:p>
            <a:pPr marL="0" indent="0" algn="ctr">
              <a:buNone/>
            </a:pPr>
            <a:r>
              <a:rPr lang="en-US" sz="950" b="1" dirty="0">
                <a:solidFill>
                  <a:srgbClr val="FFFFFF"/>
                </a:solidFill>
                <a:latin typeface="Arial" panose="020B0604020202020204" pitchFamily="34" charset="0"/>
                <a:ea typeface="Arial" panose="020B0604020202020204" pitchFamily="34" charset="-122"/>
                <a:cs typeface="Arial" panose="020B0604020202020204" pitchFamily="34" charset="-120"/>
              </a:rPr>
              <a:t>(MySQL)</a:t>
            </a:r>
            <a:endParaRPr lang="en-US" sz="950" dirty="0"/>
          </a:p>
        </p:txBody>
      </p:sp>
      <p:sp>
        <p:nvSpPr>
          <p:cNvPr id="19" name="Shape 16"/>
          <p:cNvSpPr/>
          <p:nvPr/>
        </p:nvSpPr>
        <p:spPr>
          <a:xfrm>
            <a:off x="6400800" y="2048256"/>
            <a:ext cx="2377440" cy="1901952"/>
          </a:xfrm>
          <a:prstGeom prst="rect">
            <a:avLst/>
          </a:prstGeom>
          <a:solidFill>
            <a:srgbClr val="F4F4F4"/>
          </a:solidFill>
          <a:ln w="12700">
            <a:solidFill>
              <a:srgbClr val="CCCCCC"/>
            </a:solidFill>
            <a:prstDash val="solid"/>
          </a:ln>
        </p:spPr>
      </p:sp>
      <p:sp>
        <p:nvSpPr>
          <p:cNvPr id="20" name="Text 17"/>
          <p:cNvSpPr/>
          <p:nvPr/>
        </p:nvSpPr>
        <p:spPr>
          <a:xfrm>
            <a:off x="6473952" y="2121408"/>
            <a:ext cx="2231136" cy="1737360"/>
          </a:xfrm>
          <a:prstGeom prst="rect">
            <a:avLst/>
          </a:prstGeom>
          <a:noFill/>
        </p:spPr>
        <p:txBody>
          <a:bodyPr wrap="square" rtlCol="0" anchor="t"/>
          <a:lstStyle/>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User Information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Vehicle Details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Parking Information</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Reservations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Parking Records</a:t>
            </a:r>
            <a:endParaRPr lang="en-US" sz="1000" dirty="0"/>
          </a:p>
          <a:p>
            <a:pPr marL="0" indent="0">
              <a:buNone/>
            </a:pPr>
            <a:r>
              <a:rPr lang="en-US" sz="1000" dirty="0">
                <a:solidFill>
                  <a:srgbClr val="333333"/>
                </a:solidFill>
                <a:latin typeface="Arial" panose="020B0604020202020204" pitchFamily="34" charset="0"/>
                <a:ea typeface="Arial" panose="020B0604020202020204" pitchFamily="34" charset="-122"/>
                <a:cs typeface="Arial" panose="020B0604020202020204" pitchFamily="34" charset="-120"/>
              </a:rPr>
              <a:t>• Store Billing Records</a:t>
            </a:r>
            <a:endParaRPr lang="en-US" sz="1000" dirty="0"/>
          </a:p>
        </p:txBody>
      </p:sp>
      <p:sp>
        <p:nvSpPr>
          <p:cNvPr id="21" name="Shape 18"/>
          <p:cNvSpPr/>
          <p:nvPr/>
        </p:nvSpPr>
        <p:spPr>
          <a:xfrm>
            <a:off x="1370965" y="4041775"/>
            <a:ext cx="6626860" cy="731520"/>
          </a:xfrm>
          <a:prstGeom prst="rect">
            <a:avLst/>
          </a:prstGeom>
          <a:solidFill>
            <a:srgbClr val="FAFAFA"/>
          </a:solidFill>
          <a:ln w="12700">
            <a:solidFill>
              <a:srgbClr val="DDDDDD"/>
            </a:solidFill>
            <a:prstDash val="solid"/>
          </a:ln>
        </p:spPr>
      </p:sp>
      <p:sp>
        <p:nvSpPr>
          <p:cNvPr id="22" name="Text 19"/>
          <p:cNvSpPr/>
          <p:nvPr/>
        </p:nvSpPr>
        <p:spPr>
          <a:xfrm>
            <a:off x="1370965" y="413308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User</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(Browser)</a:t>
            </a:r>
            <a:endParaRPr lang="en-US" sz="900" dirty="0"/>
          </a:p>
        </p:txBody>
      </p:sp>
      <p:sp>
        <p:nvSpPr>
          <p:cNvPr id="23" name="Text 20"/>
          <p:cNvSpPr/>
          <p:nvPr/>
        </p:nvSpPr>
        <p:spPr>
          <a:xfrm>
            <a:off x="2513965" y="413308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4" name="Text 21"/>
          <p:cNvSpPr/>
          <p:nvPr/>
        </p:nvSpPr>
        <p:spPr>
          <a:xfrm>
            <a:off x="2926080" y="415594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Web</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Application</a:t>
            </a:r>
            <a:endParaRPr lang="en-US" sz="900" dirty="0"/>
          </a:p>
        </p:txBody>
      </p:sp>
      <p:sp>
        <p:nvSpPr>
          <p:cNvPr id="25" name="Text 22"/>
          <p:cNvSpPr/>
          <p:nvPr/>
        </p:nvSpPr>
        <p:spPr>
          <a:xfrm>
            <a:off x="4480560" y="413308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6" name="Text 23"/>
          <p:cNvSpPr/>
          <p:nvPr/>
        </p:nvSpPr>
        <p:spPr>
          <a:xfrm>
            <a:off x="4937760" y="413308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Application</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Server</a:t>
            </a:r>
            <a:endParaRPr lang="en-US" sz="900" dirty="0"/>
          </a:p>
        </p:txBody>
      </p:sp>
      <p:sp>
        <p:nvSpPr>
          <p:cNvPr id="27" name="Text 24"/>
          <p:cNvSpPr/>
          <p:nvPr/>
        </p:nvSpPr>
        <p:spPr>
          <a:xfrm>
            <a:off x="6198870" y="4155948"/>
            <a:ext cx="365760" cy="548640"/>
          </a:xfrm>
          <a:prstGeom prst="rect">
            <a:avLst/>
          </a:prstGeom>
          <a:noFill/>
        </p:spPr>
        <p:txBody>
          <a:bodyPr wrap="square" rtlCol="0" anchor="ctr"/>
          <a:lstStyle/>
          <a:p>
            <a:pPr marL="0" indent="0" algn="ctr">
              <a:buNone/>
            </a:pPr>
            <a:r>
              <a:rPr lang="en-US" sz="1800" b="1" dirty="0">
                <a:solidFill>
                  <a:srgbClr val="55555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8" name="Text 25"/>
          <p:cNvSpPr/>
          <p:nvPr/>
        </p:nvSpPr>
        <p:spPr>
          <a:xfrm>
            <a:off x="6628130" y="4155948"/>
            <a:ext cx="1371600" cy="548640"/>
          </a:xfrm>
          <a:prstGeom prst="rect">
            <a:avLst/>
          </a:prstGeom>
          <a:noFill/>
        </p:spPr>
        <p:txBody>
          <a:bodyPr wrap="square" rtlCol="0" anchor="ctr"/>
          <a:lstStyle/>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Database</a:t>
            </a:r>
            <a:endParaRPr lang="en-US" sz="900" dirty="0"/>
          </a:p>
          <a:p>
            <a:pPr marL="0" indent="0" algn="ctr">
              <a:buNone/>
            </a:pPr>
            <a:r>
              <a:rPr lang="en-US" sz="900" dirty="0">
                <a:solidFill>
                  <a:srgbClr val="333333"/>
                </a:solidFill>
                <a:latin typeface="Arial" panose="020B0604020202020204" pitchFamily="34" charset="0"/>
                <a:ea typeface="Arial" panose="020B0604020202020204" pitchFamily="34" charset="-122"/>
                <a:cs typeface="Arial" panose="020B0604020202020204" pitchFamily="34" charset="-120"/>
              </a:rPr>
              <a:t>Server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Presentation Layer</a:t>
            </a:r>
            <a:endParaRPr lang="en-US" sz="2600" dirty="0"/>
          </a:p>
        </p:txBody>
      </p:sp>
      <p:sp>
        <p:nvSpPr>
          <p:cNvPr id="6" name="Text 3"/>
          <p:cNvSpPr/>
          <p:nvPr/>
        </p:nvSpPr>
        <p:spPr>
          <a:xfrm>
            <a:off x="372110" y="76784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project follows a three-tier architecture.</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372110" y="1572895"/>
            <a:ext cx="8229600" cy="2749550"/>
          </a:xfrm>
          <a:prstGeom prst="rect">
            <a:avLst/>
          </a:prstGeom>
          <a:noFill/>
        </p:spPr>
        <p:txBody>
          <a:bodyPr wrap="square" rtlCol="0" anchor="ctr"/>
          <a:lstStyle/>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Thymeleaf — a server-side Java template engine integrated with Spring Boot.</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Responsible for rendering the User Interface dynamically on the server before delivery to the browser.</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Handles form validation and user input processing on the server side.</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Manages server-side page rendering and dashboard visualization for both customer and admin views.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Interacts with the Spring Boot backend directly through model attributes, eliminating the need for separate API calls from the frontend.</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Users interact with the application through standard web pages served by the backend.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Business Layer</a:t>
            </a:r>
            <a:endParaRPr lang="en-US" sz="2600" dirty="0"/>
          </a:p>
        </p:txBody>
      </p:sp>
      <p:sp>
        <p:nvSpPr>
          <p:cNvPr id="6" name="Text 3"/>
          <p:cNvSpPr/>
          <p:nvPr/>
        </p:nvSpPr>
        <p:spPr>
          <a:xfrm>
            <a:off x="45720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Spring Boot.</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343535" y="1572895"/>
            <a:ext cx="8229600" cy="2592070"/>
          </a:xfrm>
          <a:prstGeom prst="rect">
            <a:avLst/>
          </a:prstGeom>
          <a:noFill/>
        </p:spPr>
        <p:txBody>
          <a:bodyPr wrap="square" rtlCol="0" anchor="ctr"/>
          <a:lstStyle/>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Encapsulates all core Business Logic governing parking operations.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Handles user Authentication and role-based Authorization using Spring Security and JWT.</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Processes Reservation requests — slot selection, availability checks, and confirmation.</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Performs Billing Calculation based on vehicle entry time, exit time, and applicable rates.</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Manages Parking Slot Allocation, status updates, and conflict resolution.</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Exposes REST APIs (consumed internally by Thymeleaf controllers) for structured data flow.</a:t>
            </a:r>
            <a:endParaRPr lang="en-US" sz="1400" dirty="0"/>
          </a:p>
          <a:p>
            <a:pPr marL="342900" indent="-342900">
              <a:spcAft>
                <a:spcPts val="7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Integrates with MySQL via Spring Data JPA for all persistence operations.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Data Layer</a:t>
            </a:r>
            <a:endParaRPr lang="en-US" sz="2600" dirty="0"/>
          </a:p>
        </p:txBody>
      </p:sp>
      <p:sp>
        <p:nvSpPr>
          <p:cNvPr id="6" name="Text 3"/>
          <p:cNvSpPr/>
          <p:nvPr/>
        </p:nvSpPr>
        <p:spPr>
          <a:xfrm>
            <a:off x="457200" y="804672"/>
            <a:ext cx="8229600" cy="320040"/>
          </a:xfrm>
          <a:prstGeom prst="rect">
            <a:avLst/>
          </a:prstGeom>
          <a:noFill/>
        </p:spPr>
        <p:txBody>
          <a:bodyPr wrap="square" rtlCol="0" anchor="ctr"/>
          <a:lstStyle/>
          <a:p>
            <a:pPr marL="0" indent="0">
              <a:buNone/>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Developed using MySQL.</a:t>
            </a:r>
            <a:endParaRPr lang="en-US" sz="1400" dirty="0"/>
          </a:p>
        </p:txBody>
      </p:sp>
      <p:sp>
        <p:nvSpPr>
          <p:cNvPr id="7" name="Text 4"/>
          <p:cNvSpPr/>
          <p:nvPr/>
        </p:nvSpPr>
        <p:spPr>
          <a:xfrm>
            <a:off x="457200" y="1188720"/>
            <a:ext cx="8229600" cy="320040"/>
          </a:xfrm>
          <a:prstGeom prst="rect">
            <a:avLst/>
          </a:prstGeom>
          <a:noFill/>
        </p:spPr>
        <p:txBody>
          <a:bodyPr wrap="square" lIns="0" tIns="0" rIns="0" bIns="0" rtlCol="0" anchor="ctr"/>
          <a:lstStyle/>
          <a:p>
            <a:pPr marL="0" indent="0">
              <a:buNone/>
            </a:pPr>
            <a:r>
              <a:rPr lang="en-US" sz="1600" b="1" dirty="0">
                <a:solidFill>
                  <a:srgbClr val="0096CC"/>
                </a:solidFill>
                <a:latin typeface="Arial" panose="020B0604020202020204" pitchFamily="34" charset="0"/>
                <a:ea typeface="Arial" panose="020B0604020202020204" pitchFamily="34" charset="-122"/>
                <a:cs typeface="Arial" panose="020B0604020202020204" pitchFamily="34" charset="-120"/>
              </a:rPr>
              <a:t>Responsibilities:</a:t>
            </a:r>
            <a:endParaRPr lang="en-US" sz="1600" dirty="0"/>
          </a:p>
        </p:txBody>
      </p:sp>
      <p:sp>
        <p:nvSpPr>
          <p:cNvPr id="8" name="Text 5"/>
          <p:cNvSpPr/>
          <p:nvPr/>
        </p:nvSpPr>
        <p:spPr>
          <a:xfrm>
            <a:off x="457200" y="1188593"/>
            <a:ext cx="8229600" cy="3017520"/>
          </a:xfrm>
          <a:prstGeom prst="rect">
            <a:avLst/>
          </a:prstGeom>
          <a:noFill/>
        </p:spPr>
        <p:txBody>
          <a:bodyPr wrap="square" rtlCol="0" anchor="ctr"/>
          <a:lstStyle/>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Stores and manages User Information including credentials and role assignments.</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Maintains Vehicle Details linked to each registered customer.</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Persists Parking Information covering lot configurations and slot metadata.</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Retains Reservation records capturing booking details and timestamps.</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Stores Parking Records that log vehicle entry, exit, and duration for every session.</a:t>
            </a:r>
            <a:endParaRPr lang="en-US" sz="1400" dirty="0"/>
          </a:p>
          <a:p>
            <a:pPr marL="342900" indent="-342900">
              <a:spcAft>
                <a:spcPts val="8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Preserves Billing Records containing charge calculations and payment status.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Modules &amp; Features</a:t>
            </a:r>
            <a:endParaRPr lang="en-US" sz="2600" dirty="0"/>
          </a:p>
        </p:txBody>
      </p:sp>
      <p:sp>
        <p:nvSpPr>
          <p:cNvPr id="6" name="Text 3"/>
          <p:cNvSpPr/>
          <p:nvPr/>
        </p:nvSpPr>
        <p:spPr>
          <a:xfrm>
            <a:off x="457200" y="824865"/>
            <a:ext cx="8229600" cy="3160395"/>
          </a:xfrm>
          <a:prstGeom prst="rect">
            <a:avLst/>
          </a:prstGeom>
          <a:noFill/>
        </p:spPr>
        <p:txBody>
          <a:bodyPr wrap="square" rtlCol="0" anchor="ctr"/>
          <a:lstStyle/>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Smart Parking Management System is structured around two primary user roles — Administrator and Customer — each with distinct capabilities and access levels.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Administrator oversees users, parking lots, parking slots, parking records, and revenue monitoring, ensuring full control and efficient maintenance of the infrastructure.</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Customer interacts with the system by creating an account, logging in, registering vehicles, reserving parking slots, making payments, and downloading billing receipts.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JWT-based authentication is embedded throughout the system to protect resources, enforce role-based access, and secure all sensitive user data.</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application centralizes all parking operations — vehicle management, lot and slot handling, reservations, billing, and payments — into one cohesive platform, cutting manual effort and improving efficiency.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28600"/>
            <a:ext cx="8229600" cy="438912"/>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System Workflow</a:t>
            </a:r>
            <a:endParaRPr lang="en-US" sz="2600" dirty="0"/>
          </a:p>
        </p:txBody>
      </p:sp>
      <p:sp>
        <p:nvSpPr>
          <p:cNvPr id="6" name="Text 3"/>
          <p:cNvSpPr/>
          <p:nvPr/>
        </p:nvSpPr>
        <p:spPr>
          <a:xfrm>
            <a:off x="379095" y="822960"/>
            <a:ext cx="8229600" cy="3479165"/>
          </a:xfrm>
          <a:prstGeom prst="rect">
            <a:avLst/>
          </a:prstGeom>
          <a:noFill/>
        </p:spPr>
        <p:txBody>
          <a:bodyPr wrap="square" rtlCol="0" anchor="ctr"/>
          <a:lstStyle/>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workflow begins with user authentication — upon successful login, a JWT token is issued and used to authorize all subsequent requests, ensuring secure communication across the application.</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Customers register their vehicles and choose a parking lot based on current availability. The system instantly reflects available slots filtered by lot and vehicle type, and a reservation is created once the user confirms a slot.</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At vehicle entry, the system captures the entry timestamp and marks the selected slot as occupied. When the vehicle exits, the exit time is recorded, parking duration is computed, and the slot is released back to available status.</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The billing module automatically calculates charges based on the session duration and triggers payment processing. A receipt is made available for download upon successful payment.</a:t>
            </a:r>
            <a:endParaRPr lang="en-US" sz="1400" dirty="0"/>
          </a:p>
          <a:p>
            <a:pPr marL="342900" indent="-342900" algn="just">
              <a:spcAft>
                <a:spcPts val="1000"/>
              </a:spcAft>
              <a:buSzPct val="100000"/>
              <a:buChar char="•"/>
            </a:pPr>
            <a:r>
              <a:rPr lang="en-US" sz="1400" dirty="0">
                <a:solidFill>
                  <a:srgbClr val="333333"/>
                </a:solidFill>
                <a:latin typeface="Arial" panose="020B0604020202020204" pitchFamily="34" charset="0"/>
                <a:ea typeface="Arial" panose="020B0604020202020204" pitchFamily="34" charset="-122"/>
                <a:cs typeface="Arial" panose="020B0604020202020204" pitchFamily="34" charset="-120"/>
              </a:rPr>
              <a:t>All data flows through the following entities: User, Vehicle, Parking Lot, Parking Slot, Reservation, Parking Record, and Billing — ensuring complete traceability of every parking session.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01168"/>
            <a:ext cx="8229600" cy="411480"/>
          </a:xfrm>
          <a:prstGeom prst="rect">
            <a:avLst/>
          </a:prstGeom>
          <a:noFill/>
        </p:spPr>
        <p:txBody>
          <a:bodyPr wrap="square" lIns="0" tIns="0" rIns="0" bIns="0" rtlCol="0" anchor="ctr"/>
          <a:lstStyle/>
          <a:p>
            <a:pPr marL="0" indent="0">
              <a:buNone/>
            </a:pPr>
            <a:r>
              <a:rPr lang="en-US" sz="2600" b="1" dirty="0">
                <a:solidFill>
                  <a:srgbClr val="0096CC"/>
                </a:solidFill>
                <a:latin typeface="Arial" panose="020B0604020202020204" pitchFamily="34" charset="0"/>
                <a:ea typeface="Arial" panose="020B0604020202020204" pitchFamily="34" charset="-122"/>
                <a:cs typeface="Arial" panose="020B0604020202020204" pitchFamily="34" charset="-120"/>
              </a:rPr>
              <a:t>DevOps, Deployment &amp; Benefits</a:t>
            </a:r>
            <a:endParaRPr lang="en-US" sz="2600" dirty="0"/>
          </a:p>
        </p:txBody>
      </p:sp>
      <p:sp>
        <p:nvSpPr>
          <p:cNvPr id="6" name="Text 3"/>
          <p:cNvSpPr/>
          <p:nvPr/>
        </p:nvSpPr>
        <p:spPr>
          <a:xfrm>
            <a:off x="457200" y="1022350"/>
            <a:ext cx="8229600" cy="2011680"/>
          </a:xfrm>
          <a:prstGeom prst="rect">
            <a:avLst/>
          </a:prstGeom>
          <a:noFill/>
        </p:spPr>
        <p:txBody>
          <a:bodyPr wrap="square" rtlCol="0" anchor="ctr"/>
          <a:lstStyle/>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The system is built with Thymeleaf for server-side rendering, Spring Boot for backend logic, and MySQL for persistent data storage. Spring Security with JWT handles access control; Swagger provides API documentation; and Spring Boot Actuator monitors application health and metrics.</a:t>
            </a:r>
            <a:endParaRPr lang="en-US" sz="1300" dirty="0"/>
          </a:p>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For environment-agnostic deployment, the application is containerized using Docker. Kubernetes orchestrates the containers across nodes, delivering high availability and simplified rollout management.</a:t>
            </a:r>
            <a:endParaRPr lang="en-US" sz="1300" dirty="0"/>
          </a:p>
          <a:p>
            <a:pPr marL="342900" indent="-342900" algn="just">
              <a:spcAft>
                <a:spcPts val="8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A Jenkins CI/CD pipeline automates the entire delivery lifecycle — from source code checkout and application build to testing, Docker image creation, and Kubernetes deployment — ensuring fast and reliable releases.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Swagger REST API Documentation</a:t>
            </a:r>
          </a:p>
        </p:txBody>
      </p:sp>
      <p:pic>
        <p:nvPicPr>
          <p:cNvPr id="7" name="Picture 6" descr="Swagger.PNG"/>
          <p:cNvPicPr>
            <a:picLocks noChangeAspect="1"/>
          </p:cNvPicPr>
          <p:nvPr/>
        </p:nvPicPr>
        <p:blipFill>
          <a:blip r:embed="rId3"/>
          <a:stretch>
            <a:fillRect/>
          </a:stretch>
        </p:blipFill>
        <p:spPr>
          <a:xfrm>
            <a:off x="1724215" y="1403604"/>
            <a:ext cx="5695569" cy="3017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Spring Boot Actuator Health Monitoring</a:t>
            </a:r>
          </a:p>
        </p:txBody>
      </p:sp>
      <p:pic>
        <p:nvPicPr>
          <p:cNvPr id="7" name="Picture 6" descr="actuator.PNG"/>
          <p:cNvPicPr>
            <a:picLocks noChangeAspect="1"/>
          </p:cNvPicPr>
          <p:nvPr/>
        </p:nvPicPr>
        <p:blipFill>
          <a:blip r:embed="rId3"/>
          <a:stretch>
            <a:fillRect/>
          </a:stretch>
        </p:blipFill>
        <p:spPr>
          <a:xfrm>
            <a:off x="1905301" y="1403604"/>
            <a:ext cx="5333397" cy="3017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Postman API Verification Testing</a:t>
            </a:r>
          </a:p>
        </p:txBody>
      </p:sp>
      <p:pic>
        <p:nvPicPr>
          <p:cNvPr id="7" name="Picture 6" descr="postman.PNG"/>
          <p:cNvPicPr>
            <a:picLocks noChangeAspect="1"/>
          </p:cNvPicPr>
          <p:nvPr/>
        </p:nvPicPr>
        <p:blipFill>
          <a:blip r:embed="rId3"/>
          <a:stretch>
            <a:fillRect/>
          </a:stretch>
        </p:blipFill>
        <p:spPr>
          <a:xfrm>
            <a:off x="1569988" y="1403604"/>
            <a:ext cx="6004022" cy="3017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Docker Containers Deployment</a:t>
            </a:r>
          </a:p>
        </p:txBody>
      </p:sp>
      <p:pic>
        <p:nvPicPr>
          <p:cNvPr id="7" name="Picture 6" descr="docker.PNG"/>
          <p:cNvPicPr>
            <a:picLocks noChangeAspect="1"/>
          </p:cNvPicPr>
          <p:nvPr/>
        </p:nvPicPr>
        <p:blipFill>
          <a:blip r:embed="rId3"/>
          <a:stretch>
            <a:fillRect/>
          </a:stretch>
        </p:blipFill>
        <p:spPr>
          <a:xfrm>
            <a:off x="1828603" y="1403604"/>
            <a:ext cx="5486792" cy="3017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Docker Container Images</a:t>
            </a:r>
          </a:p>
        </p:txBody>
      </p:sp>
      <p:pic>
        <p:nvPicPr>
          <p:cNvPr id="7" name="Picture 6" descr="docker-images.PNG"/>
          <p:cNvPicPr>
            <a:picLocks noChangeAspect="1"/>
          </p:cNvPicPr>
          <p:nvPr/>
        </p:nvPicPr>
        <p:blipFill>
          <a:blip r:embed="rId3"/>
          <a:stretch>
            <a:fillRect/>
          </a:stretch>
        </p:blipFill>
        <p:spPr>
          <a:xfrm>
            <a:off x="1827851" y="1403604"/>
            <a:ext cx="5488297" cy="3017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Kubernetes MySQL Database Service</a:t>
            </a:r>
          </a:p>
        </p:txBody>
      </p:sp>
      <p:pic>
        <p:nvPicPr>
          <p:cNvPr id="7" name="Picture 6" descr="K8-sql.PNG"/>
          <p:cNvPicPr>
            <a:picLocks noChangeAspect="1"/>
          </p:cNvPicPr>
          <p:nvPr/>
        </p:nvPicPr>
        <p:blipFill>
          <a:blip r:embed="rId3"/>
          <a:stretch>
            <a:fillRect/>
          </a:stretch>
        </p:blipFill>
        <p:spPr>
          <a:xfrm>
            <a:off x="1798544" y="1403604"/>
            <a:ext cx="5546911" cy="3017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Kubernetes Web UI Deployment</a:t>
            </a:r>
          </a:p>
        </p:txBody>
      </p:sp>
      <p:pic>
        <p:nvPicPr>
          <p:cNvPr id="7" name="Picture 6" descr="k8-ui.PNG"/>
          <p:cNvPicPr>
            <a:picLocks noChangeAspect="1"/>
          </p:cNvPicPr>
          <p:nvPr/>
        </p:nvPicPr>
        <p:blipFill>
          <a:blip r:embed="rId3"/>
          <a:stretch>
            <a:fillRect/>
          </a:stretch>
        </p:blipFill>
        <p:spPr>
          <a:xfrm>
            <a:off x="2175856" y="1403604"/>
            <a:ext cx="4792287" cy="3017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panose="020B0604020202020204"/>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panose="020B0604020202020204"/>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panose="020B0604020202020204"/>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panose="020B0604020202020204"/>
              </a:rPr>
              <a:t>Jenkins CI/CD Build Pipeline</a:t>
            </a:r>
          </a:p>
        </p:txBody>
      </p:sp>
      <p:pic>
        <p:nvPicPr>
          <p:cNvPr id="7" name="Picture 6" descr="Jenkins.PNG"/>
          <p:cNvPicPr>
            <a:picLocks noChangeAspect="1"/>
          </p:cNvPicPr>
          <p:nvPr/>
        </p:nvPicPr>
        <p:blipFill>
          <a:blip r:embed="rId3"/>
          <a:stretch>
            <a:fillRect/>
          </a:stretch>
        </p:blipFill>
        <p:spPr>
          <a:xfrm>
            <a:off x="1699215" y="1403604"/>
            <a:ext cx="5745568" cy="3017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74320" y="4553712"/>
            <a:ext cx="1005840" cy="402336"/>
          </a:xfrm>
          <a:prstGeom prst="rect">
            <a:avLst/>
          </a:prstGeom>
        </p:spPr>
      </p:pic>
      <p:sp>
        <p:nvSpPr>
          <p:cNvPr id="3" name="Text 0"/>
          <p:cNvSpPr txBox="1"/>
          <p:nvPr/>
        </p:nvSpPr>
        <p:spPr>
          <a:xfrm>
            <a:off x="3200400" y="4910328"/>
            <a:ext cx="2743200" cy="201168"/>
          </a:xfrm>
          <a:prstGeom prst="rect">
            <a:avLst/>
          </a:prstGeom>
          <a:noFill/>
        </p:spPr>
        <p:txBody>
          <a:bodyPr wrap="square">
            <a:spAutoFit/>
          </a:bodyPr>
          <a:lstStyle/>
          <a:p>
            <a:pPr algn="ctr">
              <a:defRPr/>
            </a:pPr>
            <a:r>
              <a:rPr sz="800">
                <a:solidFill>
                  <a:srgbClr val="888888"/>
                </a:solidFill>
                <a:latin typeface="Arial"/>
              </a:rPr>
              <a:t>General - RPS Data</a:t>
            </a:r>
          </a:p>
        </p:txBody>
      </p:sp>
      <p:sp>
        <p:nvSpPr>
          <p:cNvPr id="4" name="Text 1"/>
          <p:cNvSpPr txBox="1"/>
          <p:nvPr/>
        </p:nvSpPr>
        <p:spPr>
          <a:xfrm>
            <a:off x="5029200" y="4910328"/>
            <a:ext cx="3931920" cy="201168"/>
          </a:xfrm>
          <a:prstGeom prst="rect">
            <a:avLst/>
          </a:prstGeom>
          <a:noFill/>
        </p:spPr>
        <p:txBody>
          <a:bodyPr wrap="square">
            <a:spAutoFit/>
          </a:bodyPr>
          <a:lstStyle/>
          <a:p>
            <a:pPr algn="r">
              <a:defRPr/>
            </a:pPr>
            <a:r>
              <a:rPr sz="800">
                <a:solidFill>
                  <a:srgbClr val="888888"/>
                </a:solidFill>
                <a:latin typeface="Arial"/>
              </a:rPr>
              <a:t>2026 - RPS Consulting all rights reserved    2</a:t>
            </a:r>
          </a:p>
        </p:txBody>
      </p:sp>
      <p:sp>
        <p:nvSpPr>
          <p:cNvPr id="5" name="Text 2"/>
          <p:cNvSpPr txBox="1"/>
          <p:nvPr/>
        </p:nvSpPr>
        <p:spPr>
          <a:xfrm>
            <a:off x="457200" y="228600"/>
            <a:ext cx="8229600" cy="438912"/>
          </a:xfrm>
          <a:prstGeom prst="rect">
            <a:avLst/>
          </a:prstGeom>
          <a:noFill/>
        </p:spPr>
        <p:txBody>
          <a:bodyPr wrap="square" lIns="0" tIns="0" rIns="0" bIns="0">
            <a:spAutoFit/>
          </a:bodyPr>
          <a:lstStyle/>
          <a:p>
            <a:pPr>
              <a:defRPr/>
            </a:pPr>
            <a:r>
              <a:rPr sz="2600" b="1">
                <a:solidFill>
                  <a:srgbClr val="0096CC"/>
                </a:solidFill>
                <a:latin typeface="Arial"/>
              </a:rPr>
              <a:t>Smart Parking Management System</a:t>
            </a:r>
          </a:p>
        </p:txBody>
      </p:sp>
      <p:sp>
        <p:nvSpPr>
          <p:cNvPr id="6" name="Text 3"/>
          <p:cNvSpPr txBox="1"/>
          <p:nvPr/>
        </p:nvSpPr>
        <p:spPr>
          <a:xfrm>
            <a:off x="400685" y="823087"/>
            <a:ext cx="8229600" cy="347472"/>
          </a:xfrm>
          <a:prstGeom prst="rect">
            <a:avLst/>
          </a:prstGeom>
          <a:noFill/>
        </p:spPr>
        <p:txBody>
          <a:bodyPr wrap="square" lIns="0" tIns="0" rIns="0" bIns="0">
            <a:spAutoFit/>
          </a:bodyPr>
          <a:lstStyle/>
          <a:p>
            <a:r>
              <a:rPr sz="1800" b="1">
                <a:solidFill>
                  <a:srgbClr val="0096CC"/>
                </a:solidFill>
                <a:latin typeface="Arial"/>
              </a:rPr>
              <a:t>Entity Relationship Diagram</a:t>
            </a:r>
          </a:p>
        </p:txBody>
      </p:sp>
      <p:pic>
        <p:nvPicPr>
          <p:cNvPr id="7" name="Picture 6" descr="ER_page_1.png"/>
          <p:cNvPicPr>
            <a:picLocks noChangeAspect="1"/>
          </p:cNvPicPr>
          <p:nvPr/>
        </p:nvPicPr>
        <p:blipFill>
          <a:blip r:embed="rId3"/>
          <a:stretch>
            <a:fillRect/>
          </a:stretch>
        </p:blipFill>
        <p:spPr>
          <a:xfrm>
            <a:off x="1828800" y="1403604"/>
            <a:ext cx="5486400" cy="30175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0" y="4553712"/>
            <a:ext cx="1005840" cy="402336"/>
          </a:xfrm>
          <a:prstGeom prst="rect">
            <a:avLst/>
          </a:prstGeom>
        </p:spPr>
      </p:pic>
      <p:sp>
        <p:nvSpPr>
          <p:cNvPr id="3" name="Text 0"/>
          <p:cNvSpPr/>
          <p:nvPr/>
        </p:nvSpPr>
        <p:spPr>
          <a:xfrm>
            <a:off x="3200400" y="4910328"/>
            <a:ext cx="2743200" cy="201168"/>
          </a:xfrm>
          <a:prstGeom prst="rect">
            <a:avLst/>
          </a:prstGeom>
          <a:noFill/>
        </p:spPr>
        <p:txBody>
          <a:bodyPr wrap="square" rtlCol="0" anchor="ctr"/>
          <a:lstStyle/>
          <a:p>
            <a:pPr marL="0" indent="0" algn="ct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General - RPS Data</a:t>
            </a:r>
            <a:endParaRPr lang="en-US" sz="800" dirty="0"/>
          </a:p>
        </p:txBody>
      </p:sp>
      <p:sp>
        <p:nvSpPr>
          <p:cNvPr id="4" name="Text 1"/>
          <p:cNvSpPr/>
          <p:nvPr/>
        </p:nvSpPr>
        <p:spPr>
          <a:xfrm>
            <a:off x="5029200" y="4910328"/>
            <a:ext cx="3931920" cy="201168"/>
          </a:xfrm>
          <a:prstGeom prst="rect">
            <a:avLst/>
          </a:prstGeom>
          <a:noFill/>
        </p:spPr>
        <p:txBody>
          <a:bodyPr wrap="square" rtlCol="0" anchor="ctr"/>
          <a:lstStyle/>
          <a:p>
            <a:pPr marL="0" indent="0" algn="r">
              <a:buNone/>
            </a:pPr>
            <a:r>
              <a:rPr lang="en-US" sz="800" dirty="0">
                <a:solidFill>
                  <a:srgbClr val="888888"/>
                </a:solidFill>
                <a:latin typeface="Arial" panose="020B0604020202020204" pitchFamily="34" charset="0"/>
                <a:ea typeface="Arial" panose="020B0604020202020204" pitchFamily="34" charset="-122"/>
                <a:cs typeface="Arial" panose="020B0604020202020204" pitchFamily="34" charset="-120"/>
              </a:rPr>
              <a:t>2026 - RPS Consulting all rights reserved    2</a:t>
            </a:r>
            <a:endParaRPr lang="en-US" sz="800" dirty="0"/>
          </a:p>
        </p:txBody>
      </p:sp>
      <p:sp>
        <p:nvSpPr>
          <p:cNvPr id="5" name="Text 2"/>
          <p:cNvSpPr/>
          <p:nvPr/>
        </p:nvSpPr>
        <p:spPr>
          <a:xfrm>
            <a:off x="457200" y="201168"/>
            <a:ext cx="8229600" cy="384048"/>
          </a:xfrm>
          <a:prstGeom prst="rect">
            <a:avLst/>
          </a:prstGeom>
          <a:noFill/>
        </p:spPr>
        <p:txBody>
          <a:bodyPr wrap="square" lIns="0" tIns="0" rIns="0" bIns="0" rtlCol="0" anchor="ctr"/>
          <a:lstStyle/>
          <a:p>
            <a:pPr marL="0" indent="0">
              <a:buNone/>
            </a:pPr>
            <a:r>
              <a:rPr lang="en-US" sz="2200" b="1" dirty="0">
                <a:solidFill>
                  <a:srgbClr val="0096CC"/>
                </a:solidFill>
                <a:latin typeface="Arial" panose="020B0604020202020204" pitchFamily="34" charset="0"/>
                <a:ea typeface="Arial" panose="020B0604020202020204" pitchFamily="34" charset="-122"/>
                <a:cs typeface="Arial" panose="020B0604020202020204" pitchFamily="34" charset="-120"/>
              </a:rPr>
              <a:t>Benefits:</a:t>
            </a:r>
            <a:endParaRPr lang="en-US" sz="2200" dirty="0"/>
          </a:p>
        </p:txBody>
      </p:sp>
      <p:sp>
        <p:nvSpPr>
          <p:cNvPr id="6" name="Text 3"/>
          <p:cNvSpPr/>
          <p:nvPr/>
        </p:nvSpPr>
        <p:spPr>
          <a:xfrm>
            <a:off x="457200" y="682625"/>
            <a:ext cx="8229600" cy="2080260"/>
          </a:xfrm>
          <a:prstGeom prst="rect">
            <a:avLst/>
          </a:prstGeom>
          <a:noFill/>
        </p:spPr>
        <p:txBody>
          <a:bodyPr wrap="square" rtlCol="0" anchor="ctr"/>
          <a:lstStyle/>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Fully automated parking management eliminates manual intervention.</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Real-time slot tracking ensures accurate occupancy visibility.</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Secure JWT-based authentication protects user data and system resources.</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Automatic billing generation and integrated payment processing improve accuracy.</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Enhanced user experience through seamless online reservation and digital receipts.</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Containerized deployment with Docker and Kubernetes ensures portability and resilience.</a:t>
            </a:r>
            <a:endParaRPr lang="en-US" sz="1300" dirty="0"/>
          </a:p>
          <a:p>
            <a:pPr marL="342900" indent="-342900">
              <a:spcAft>
                <a:spcPts val="500"/>
              </a:spcAft>
              <a:buSzPct val="100000"/>
              <a:buChar char="•"/>
            </a:pPr>
            <a:r>
              <a:rPr lang="en-US" sz="1300" dirty="0">
                <a:solidFill>
                  <a:srgbClr val="333333"/>
                </a:solidFill>
                <a:latin typeface="Arial" panose="020B0604020202020204" pitchFamily="34" charset="0"/>
                <a:ea typeface="Arial" panose="020B0604020202020204" pitchFamily="34" charset="-122"/>
                <a:cs typeface="Arial" panose="020B0604020202020204" pitchFamily="34" charset="-120"/>
              </a:rPr>
              <a:t>Jenkins CI/CD automation accelerates software delivery and reduces deployment risk.</a:t>
            </a:r>
            <a:endParaRPr lang="en-US" sz="1300" dirty="0"/>
          </a:p>
        </p:txBody>
      </p:sp>
      <p:sp>
        <p:nvSpPr>
          <p:cNvPr id="7" name="Text 4"/>
          <p:cNvSpPr/>
          <p:nvPr/>
        </p:nvSpPr>
        <p:spPr>
          <a:xfrm>
            <a:off x="457200" y="2999232"/>
            <a:ext cx="8229600" cy="365760"/>
          </a:xfrm>
          <a:prstGeom prst="rect">
            <a:avLst/>
          </a:prstGeom>
          <a:noFill/>
        </p:spPr>
        <p:txBody>
          <a:bodyPr wrap="square" lIns="0" tIns="0" rIns="0" bIns="0" rtlCol="0" anchor="ctr"/>
          <a:lstStyle/>
          <a:p>
            <a:pPr marL="0" indent="0">
              <a:buNone/>
            </a:pPr>
            <a:r>
              <a:rPr lang="en-US" sz="2200" b="1" dirty="0">
                <a:solidFill>
                  <a:srgbClr val="0096CC"/>
                </a:solidFill>
                <a:latin typeface="Arial" panose="020B0604020202020204" pitchFamily="34" charset="0"/>
                <a:ea typeface="Arial" panose="020B0604020202020204" pitchFamily="34" charset="-122"/>
                <a:cs typeface="Arial" panose="020B0604020202020204" pitchFamily="34" charset="-120"/>
              </a:rPr>
              <a:t>Drawbacks:</a:t>
            </a:r>
            <a:endParaRPr lang="en-US" sz="2200" dirty="0"/>
          </a:p>
        </p:txBody>
      </p:sp>
      <p:sp>
        <p:nvSpPr>
          <p:cNvPr id="8" name="Text 5"/>
          <p:cNvSpPr/>
          <p:nvPr/>
        </p:nvSpPr>
        <p:spPr>
          <a:xfrm>
            <a:off x="457200" y="3280918"/>
            <a:ext cx="8229600" cy="1371600"/>
          </a:xfrm>
          <a:prstGeom prst="rect">
            <a:avLst/>
          </a:prstGeom>
          <a:noFill/>
        </p:spPr>
        <p:txBody>
          <a:bodyPr wrap="square" rtlCol="0" anchor="ctr"/>
          <a:lstStyle/>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Higher infrastructure resource consumption due to Docker and Kubernetes overhead.</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Requires ongoing maintenance and periodic updates to remain secure and stable.</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No IoT or RFID integration is available in the current version.</a:t>
            </a:r>
            <a:endParaRPr lang="en-US" sz="1250" dirty="0"/>
          </a:p>
          <a:p>
            <a:pPr marL="342900" indent="-342900">
              <a:spcAft>
                <a:spcPts val="300"/>
              </a:spcAft>
              <a:buSzPct val="100000"/>
              <a:buChar char="•"/>
            </a:pPr>
            <a:r>
              <a:rPr lang="en-US" sz="1250" dirty="0">
                <a:solidFill>
                  <a:srgbClr val="333333"/>
                </a:solidFill>
                <a:latin typeface="Arial" panose="020B0604020202020204" pitchFamily="34" charset="0"/>
                <a:ea typeface="Arial" panose="020B0604020202020204" pitchFamily="34" charset="-122"/>
                <a:cs typeface="Arial" panose="020B0604020202020204" pitchFamily="34" charset="-120"/>
              </a:rPr>
              <a:t>The database remains a single point of failure within the current project deployment configuration.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1674</Words>
  <Application>Microsoft Office PowerPoint</Application>
  <PresentationFormat>On-screen Show (16:9)</PresentationFormat>
  <Paragraphs>210</Paragraphs>
  <Slides>22</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Management System</dc:title>
  <dc:subject>PptxGenJS Presentation</dc:subject>
  <dc:creator>PptxGenJS</dc:creator>
  <cp:lastModifiedBy>Mohammed Althaf</cp:lastModifiedBy>
  <cp:revision>5</cp:revision>
  <dcterms:created xsi:type="dcterms:W3CDTF">2026-06-22T19:48:00Z</dcterms:created>
  <dcterms:modified xsi:type="dcterms:W3CDTF">2026-06-23T09:45:27Z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21E80C54719B4F0DBD4617565DAA4A02_12</vt:lpwstr>
  </property>
  <property fmtid="{D5CDD505-2E9C-101B-9397-08002B2CF9AE}" pid="3" name="KSOProductBuildVer">
    <vt:lpwstr>1033-12.1.0.26880</vt:lpwstr>
  </property>
</Properties>
</file>
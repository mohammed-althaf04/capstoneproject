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77" r:id="rId28"/>
    <p:sldId id="265" r:id="rId13"/>
    <p:sldId id="266" r:id="rId14"/>
    <p:sldId id="267" r:id="rId15"/>
    <p:sldId id="269" r:id="rId16"/>
    <p:sldId id="270" r:id="rId17"/>
    <p:sldId id="271" r:id="rId18"/>
    <p:sldId id="272" r:id="rId19"/>
    <p:sldId id="273" r:id="rId20"/>
    <p:sldId id="274" r:id="rId21"/>
    <p:sldId id="275" r:id="rId22"/>
    <p:sldId id="276" r:id="rId23"/>
    <p:sldId id="268" r:id="rId24"/>
  </p:sld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ableStyles" Target="tableStyles.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3.png"/><Relationship Id="rId3"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4.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5.png"/><Relationship Id="rId3"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6.png"/><Relationship Id="rId3"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7.png"/><Relationship Id="rId3"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8.png"/><Relationship Id="rId3"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9.png"/><Relationship Id="rId3"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96C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365760" y="274320"/>
            <a:ext cx="1463040" cy="585216"/>
          </a:xfrm>
          <a:prstGeom prst="rect">
            <a:avLst/>
          </a:prstGeom>
        </p:spPr>
      </p:pic>
      <p:sp>
        <p:nvSpPr>
          <p:cNvPr id="3" name="Text 0"/>
          <p:cNvSpPr/>
          <p:nvPr/>
        </p:nvSpPr>
        <p:spPr>
          <a:xfrm>
            <a:off x="457200" y="1051560"/>
            <a:ext cx="8229600" cy="502920"/>
          </a:xfrm>
          <a:prstGeom prst="rect">
            <a:avLst/>
          </a:prstGeom>
          <a:noFill/>
        </p:spPr>
        <p:txBody>
          <a:bodyPr wrap="square" rtlCol="0" anchor="ctr"/>
          <a:lstStyle/>
          <a:p>
            <a:pPr marL="0" indent="0">
              <a:buNone/>
            </a:pPr>
            <a:r>
              <a:rPr lang="en-US" sz="2200" dirty="0">
                <a:solidFill>
                  <a:srgbClr val="FFFFFF"/>
                </a:solidFill>
                <a:latin typeface="Arial" panose="020B0604020202020204" pitchFamily="34" charset="0"/>
                <a:ea typeface="Arial" panose="020B0604020202020204" pitchFamily="34" charset="-122"/>
                <a:cs typeface="Arial" panose="020B0604020202020204" pitchFamily="34" charset="-120"/>
              </a:rPr>
              <a:t>WIPRO NGA Program _26SUB0726-JAVA J2EE INTEGRATION</a:t>
            </a:r>
            <a:endParaRPr lang="en-US" sz="2200" dirty="0"/>
          </a:p>
        </p:txBody>
      </p:sp>
      <p:sp>
        <p:nvSpPr>
          <p:cNvPr id="4" name="Text 1"/>
          <p:cNvSpPr/>
          <p:nvPr/>
        </p:nvSpPr>
        <p:spPr>
          <a:xfrm>
            <a:off x="457200" y="1737360"/>
            <a:ext cx="8229600" cy="457200"/>
          </a:xfrm>
          <a:prstGeom prst="rect">
            <a:avLst/>
          </a:prstGeom>
          <a:noFill/>
        </p:spPr>
        <p:txBody>
          <a:bodyPr wrap="square" rtlCol="0" anchor="ctr"/>
          <a:lstStyle/>
          <a:p>
            <a:pPr marL="0" indent="0">
              <a:buNone/>
            </a:pPr>
            <a:r>
              <a:rPr lang="en-US" sz="2000" dirty="0">
                <a:solidFill>
                  <a:srgbClr val="FFFFFF"/>
                </a:solidFill>
                <a:latin typeface="Arial" panose="020B0604020202020204" pitchFamily="34" charset="0"/>
                <a:ea typeface="Arial" panose="020B0604020202020204" pitchFamily="34" charset="-122"/>
                <a:cs typeface="Arial" panose="020B0604020202020204" pitchFamily="34" charset="-120"/>
              </a:rPr>
              <a:t>Capstone Project Presentation – 23rd June 2026</a:t>
            </a:r>
            <a:endParaRPr lang="en-US" sz="2000" dirty="0"/>
          </a:p>
        </p:txBody>
      </p:sp>
      <p:sp>
        <p:nvSpPr>
          <p:cNvPr id="5" name="Text 2"/>
          <p:cNvSpPr/>
          <p:nvPr/>
        </p:nvSpPr>
        <p:spPr>
          <a:xfrm>
            <a:off x="457200" y="2315210"/>
            <a:ext cx="8229600" cy="793750"/>
          </a:xfrm>
          <a:prstGeom prst="rect">
            <a:avLst/>
          </a:prstGeom>
          <a:noFill/>
        </p:spPr>
        <p:txBody>
          <a:bodyPr wrap="square" rtlCol="0" anchor="ctr"/>
          <a:lstStyle/>
          <a:p>
            <a:pPr marL="0" indent="0">
              <a:buNone/>
            </a:pPr>
            <a:r>
              <a:rPr lang="en-US" sz="2000" dirty="0">
                <a:solidFill>
                  <a:srgbClr val="FFFFFF"/>
                </a:solidFill>
                <a:latin typeface="Arial" panose="020B0604020202020204" pitchFamily="34" charset="0"/>
                <a:ea typeface="Arial" panose="020B0604020202020204" pitchFamily="34" charset="-122"/>
                <a:cs typeface="Arial" panose="020B0604020202020204" pitchFamily="34" charset="-120"/>
              </a:rPr>
              <a:t>Project Title Here - Smart Parking Management System</a:t>
            </a:r>
            <a:endParaRPr lang="en-US" sz="2000" dirty="0"/>
          </a:p>
        </p:txBody>
      </p:sp>
      <p:sp>
        <p:nvSpPr>
          <p:cNvPr id="6" name="Text 3"/>
          <p:cNvSpPr/>
          <p:nvPr/>
        </p:nvSpPr>
        <p:spPr>
          <a:xfrm>
            <a:off x="457200" y="3383280"/>
            <a:ext cx="8229600" cy="457200"/>
          </a:xfrm>
          <a:prstGeom prst="rect">
            <a:avLst/>
          </a:prstGeom>
          <a:noFill/>
        </p:spPr>
        <p:txBody>
          <a:bodyPr wrap="square" rtlCol="0" anchor="ctr"/>
          <a:lstStyle/>
          <a:p>
            <a:pPr marL="0" indent="0">
              <a:buNone/>
            </a:pPr>
            <a:r>
              <a:rPr lang="en-US" sz="2000" dirty="0">
                <a:solidFill>
                  <a:srgbClr val="FFFFFF"/>
                </a:solidFill>
                <a:latin typeface="Arial" panose="020B0604020202020204" pitchFamily="34" charset="0"/>
                <a:ea typeface="Arial" panose="020B0604020202020204" pitchFamily="34" charset="-122"/>
                <a:cs typeface="Arial" panose="020B0604020202020204" pitchFamily="34" charset="-120"/>
              </a:rPr>
              <a:t>Presented by – Mohammed Athaf, Naveen Muthu</a:t>
            </a:r>
            <a:endParaRPr lang="en-US" sz="2000" dirty="0"/>
          </a:p>
        </p:txBody>
      </p:sp>
      <p:sp>
        <p:nvSpPr>
          <p:cNvPr id="7" name="Text 4"/>
          <p:cNvSpPr/>
          <p:nvPr/>
        </p:nvSpPr>
        <p:spPr>
          <a:xfrm>
            <a:off x="457200" y="4663440"/>
            <a:ext cx="3657600" cy="274320"/>
          </a:xfrm>
          <a:prstGeom prst="rect">
            <a:avLst/>
          </a:prstGeom>
          <a:noFill/>
        </p:spPr>
        <p:txBody>
          <a:bodyPr wrap="square" rtlCol="0" anchor="ctr"/>
          <a:lstStyle/>
          <a:p>
            <a:pPr marL="0" indent="0">
              <a:buNone/>
            </a:pPr>
            <a:r>
              <a:rPr lang="en-US" sz="1000" b="1" dirty="0">
                <a:solidFill>
                  <a:srgbClr val="FFFFFF"/>
                </a:solidFill>
                <a:latin typeface="Arial" panose="020B0604020202020204" pitchFamily="34" charset="0"/>
                <a:ea typeface="Arial" panose="020B0604020202020204" pitchFamily="34" charset="-122"/>
                <a:cs typeface="Arial" panose="020B0604020202020204" pitchFamily="34" charset="-120"/>
              </a:rPr>
              <a:t>www.rpsconsulting.in</a:t>
            </a:r>
            <a:endParaRPr lang="en-US" sz="1000" dirty="0"/>
          </a:p>
        </p:txBody>
      </p:sp>
      <p:sp>
        <p:nvSpPr>
          <p:cNvPr id="8" name="Text 5"/>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defRPr>
                <a:solidFill/>
              </a:defRPr>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defRPr>
                <a:solidFill/>
              </a:defRPr>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defRPr>
                <a:solidFill/>
              </a:defRPr>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Smart Parking Management System</a:t>
            </a:r>
            <a:endParaRPr lang="en-US" sz="2600" dirty="0"/>
          </a:p>
        </p:txBody>
      </p:sp>
      <p:sp>
        <p:nvSpPr>
          <p:cNvPr id="6" name="Text 3"/>
          <p:cNvSpPr/>
          <p:nvPr/>
        </p:nvSpPr>
        <p:spPr>
          <a:xfrm>
            <a:off x="400685" y="823087"/>
            <a:ext cx="8229600" cy="347472"/>
          </a:xfrm>
          <a:prstGeom prst="rect">
            <a:avLst/>
          </a:prstGeom>
          <a:noFill/>
        </p:spPr>
        <p:txBody>
          <a:bodyPr wrap="square" lIns="0" tIns="0" rIns="0" bIns="0" rtlCol="0" anchor="ctr"/>
          <a:lstStyle/>
          <a:p>
            <a:pPr marL="0" indent="0">
              <a:buNone/>
            </a:pPr>
            <a:r>
              <a:rPr lang="en-US" sz="1800" b="1" dirty="0">
                <a:solidFill>
                  <a:srgbClr val="0096CC"/>
                </a:solidFill>
                <a:latin typeface="Arial" panose="020B0604020202020204" pitchFamily="34" charset="0"/>
                <a:ea typeface="Arial" panose="020B0604020202020204" pitchFamily="34" charset="-122"/>
                <a:cs typeface="Arial" panose="020B0604020202020204" pitchFamily="34" charset="-120"/>
              </a:rPr>
              <a:t>Introduction</a:t>
            </a:r>
            <a:endParaRPr lang="en-US" sz="1800" dirty="0"/>
          </a:p>
        </p:txBody>
      </p:sp>
      <p:sp>
        <p:nvSpPr>
          <p:cNvPr id="7" name="Text 4"/>
          <p:cNvSpPr/>
          <p:nvPr/>
        </p:nvSpPr>
        <p:spPr>
          <a:xfrm>
            <a:off x="400685" y="1245235"/>
            <a:ext cx="8229600" cy="2729865"/>
          </a:xfrm>
          <a:prstGeom prst="rect">
            <a:avLst/>
          </a:prstGeom>
          <a:noFill/>
        </p:spPr>
        <p:txBody>
          <a:bodyPr wrap="square" rtlCol="0" anchor="ctr"/>
          <a:lstStyle/>
          <a:p>
            <a:pPr marL="342900" indent="-342900" algn="just">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Smart Parking Management System is a web-based application built to streamline the management of parking lots, parking slots, vehicle reservations, entry and exit tracking, billing, and digital payments.</a:t>
            </a:r>
            <a:endParaRPr lang="en-US" sz="1400" dirty="0"/>
          </a:p>
          <a:p>
            <a:pPr marL="342900" indent="-342900" algn="just">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platform enables customers to locate available parking spaces, book slots in advance, and complete payments online — all from a single interface.</a:t>
            </a:r>
            <a:endParaRPr lang="en-US" sz="1400" dirty="0"/>
          </a:p>
          <a:p>
            <a:pPr marL="342900" indent="-342900" algn="just">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Administrators gain centralized control over the entire parking infrastructure through a unified dashboard, improving visibility and operational efficiency.</a:t>
            </a:r>
            <a:endParaRPr lang="en-US" sz="1400" dirty="0"/>
          </a:p>
          <a:p>
            <a:pPr marL="342900" indent="-342900" algn="just">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system eliminates manual processes, reduces human error, and significantly enhances the overall parking experience for both users and operators.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Existing System</a:t>
            </a:r>
            <a:endParaRPr lang="en-US" sz="2600" dirty="0"/>
          </a:p>
        </p:txBody>
      </p:sp>
      <p:sp>
        <p:nvSpPr>
          <p:cNvPr id="6" name="Text 3"/>
          <p:cNvSpPr/>
          <p:nvPr/>
        </p:nvSpPr>
        <p:spPr>
          <a:xfrm>
            <a:off x="386080" y="804672"/>
            <a:ext cx="8229600" cy="320040"/>
          </a:xfrm>
          <a:prstGeom prst="rect">
            <a:avLst/>
          </a:prstGeom>
          <a:noFill/>
        </p:spPr>
        <p:txBody>
          <a:bodyPr wrap="square" rtlCol="0" anchor="ctr"/>
          <a:lstStyle/>
          <a:p>
            <a:pPr marL="0" indent="0">
              <a:buNone/>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In traditional parking systems:</a:t>
            </a:r>
            <a:endParaRPr lang="en-US" sz="1400" dirty="0"/>
          </a:p>
        </p:txBody>
      </p:sp>
      <p:sp>
        <p:nvSpPr>
          <p:cNvPr id="7" name="Text 4"/>
          <p:cNvSpPr/>
          <p:nvPr/>
        </p:nvSpPr>
        <p:spPr>
          <a:xfrm>
            <a:off x="386080" y="1217930"/>
            <a:ext cx="8229600" cy="2471420"/>
          </a:xfrm>
          <a:prstGeom prst="rect">
            <a:avLst/>
          </a:prstGeom>
          <a:noFill/>
        </p:spPr>
        <p:txBody>
          <a:bodyPr wrap="square" rtlCol="0" anchor="ctr"/>
          <a:lstStyle/>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Parking slots are assigned manually, causing delays and inefficient use of space.</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Drivers are forced to search for available spots without any real-time guidance.</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Parking records are maintained manually, making them error-prone and difficult to audit.</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Billing is computed by hand, leading to inconsistencies and revenue leakage.</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There is no real-time monitoring of parking slot availability for administrators.</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Overall parking management is inefficient and highly susceptible to human errors.</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These limitations lead to longer wait times, reduced throughput, and poor customer satisfaction.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Proposed System</a:t>
            </a:r>
            <a:endParaRPr lang="en-US" sz="2600" dirty="0"/>
          </a:p>
        </p:txBody>
      </p:sp>
      <p:sp>
        <p:nvSpPr>
          <p:cNvPr id="6" name="Text 3"/>
          <p:cNvSpPr/>
          <p:nvPr/>
        </p:nvSpPr>
        <p:spPr>
          <a:xfrm>
            <a:off x="365125" y="819785"/>
            <a:ext cx="8229600" cy="640080"/>
          </a:xfrm>
          <a:prstGeom prst="rect">
            <a:avLst/>
          </a:prstGeom>
          <a:noFill/>
        </p:spPr>
        <p:txBody>
          <a:bodyPr wrap="square" rtlCol="0" anchor="ctr"/>
          <a:lstStyle/>
          <a:p>
            <a:pPr marL="0" indent="0">
              <a:buNone/>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proposed Smart Parking Management System fully automates the end-to-end parking workflow.</a:t>
            </a:r>
            <a:endParaRPr lang="en-US" sz="1400" dirty="0"/>
          </a:p>
          <a:p>
            <a:pPr marL="0" indent="0">
              <a:buNone/>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system delivers:</a:t>
            </a:r>
            <a:endParaRPr lang="en-US" sz="1400" dirty="0"/>
          </a:p>
        </p:txBody>
      </p:sp>
      <p:sp>
        <p:nvSpPr>
          <p:cNvPr id="7" name="Text 4"/>
          <p:cNvSpPr/>
          <p:nvPr/>
        </p:nvSpPr>
        <p:spPr>
          <a:xfrm>
            <a:off x="365125" y="1508760"/>
            <a:ext cx="8229600" cy="2647315"/>
          </a:xfrm>
          <a:prstGeom prst="rect">
            <a:avLst/>
          </a:prstGeom>
          <a:noFill/>
        </p:spPr>
        <p:txBody>
          <a:bodyPr wrap="square" rtlCol="0" anchor="ctr"/>
          <a:lstStyle/>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Secure user registration and authentication.</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Vehicle details management and tracking.</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Parking lot and slot administration.</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Online slot reservation with real-time availability.</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Automated vehicle entry and exit logging.</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System-generated billing and integrated payment processing.</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Real-time monitoring of parking slot status.</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Comprehensive administrative dashboard for oversight and reporting.</a:t>
            </a:r>
            <a:endParaRPr lang="en-US" sz="1400" dirty="0"/>
          </a:p>
          <a:p>
            <a:pPr marL="342900" indent="-342900">
              <a:spcAft>
                <a:spcPts val="4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solution is designed to be scalable, secure, and user-friendly.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Project Objectives</a:t>
            </a:r>
            <a:endParaRPr lang="en-US" sz="2600" dirty="0"/>
          </a:p>
        </p:txBody>
      </p:sp>
      <p:sp>
        <p:nvSpPr>
          <p:cNvPr id="6" name="Text 3"/>
          <p:cNvSpPr/>
          <p:nvPr/>
        </p:nvSpPr>
        <p:spPr>
          <a:xfrm>
            <a:off x="457200" y="823087"/>
            <a:ext cx="8229600" cy="347472"/>
          </a:xfrm>
          <a:prstGeom prst="rect">
            <a:avLst/>
          </a:prstGeom>
          <a:noFill/>
        </p:spPr>
        <p:txBody>
          <a:bodyPr wrap="square" lIns="0" tIns="0" rIns="0" bIns="0" rtlCol="0" anchor="ctr"/>
          <a:lstStyle/>
          <a:p>
            <a:pPr marL="0" indent="0">
              <a:buNone/>
            </a:pPr>
            <a:r>
              <a:rPr lang="en-US" sz="1800" b="1" dirty="0">
                <a:solidFill>
                  <a:srgbClr val="0096CC"/>
                </a:solidFill>
                <a:latin typeface="Arial" panose="020B0604020202020204" pitchFamily="34" charset="0"/>
                <a:ea typeface="Arial" panose="020B0604020202020204" pitchFamily="34" charset="-122"/>
                <a:cs typeface="Arial" panose="020B0604020202020204" pitchFamily="34" charset="-120"/>
              </a:rPr>
              <a:t>Objectives</a:t>
            </a:r>
            <a:endParaRPr lang="en-US" sz="1800" dirty="0"/>
          </a:p>
        </p:txBody>
      </p:sp>
      <p:sp>
        <p:nvSpPr>
          <p:cNvPr id="7" name="Text 4"/>
          <p:cNvSpPr/>
          <p:nvPr/>
        </p:nvSpPr>
        <p:spPr>
          <a:xfrm>
            <a:off x="364490" y="1170305"/>
            <a:ext cx="8229600" cy="2797810"/>
          </a:xfrm>
          <a:prstGeom prst="rect">
            <a:avLst/>
          </a:prstGeom>
          <a:noFill/>
        </p:spPr>
        <p:txBody>
          <a:bodyPr wrap="square" rtlCol="0" anchor="ctr"/>
          <a:lstStyle/>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Automate parking slot allocation and optimize space utilization.</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Manage and log vehicle entry and exit with accuracy.</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Provide an online reservation facility for advance slot booking.</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Generate billing statements automatically based on parking duration.</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Maintain structured parking records for auditing and reporting.</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Enable secure user authentication and role-based authorization.</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Deploy the application using Docker containers and Kubernetes orchestration.</a:t>
            </a:r>
            <a:endParaRPr lang="en-US" sz="1400" dirty="0"/>
          </a:p>
          <a:p>
            <a:pPr marL="342900" indent="-342900">
              <a:spcAft>
                <a:spcPts val="6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Automate the build and deployment pipeline using Jenkins CI/CD.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164592"/>
            <a:ext cx="8229600" cy="411480"/>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System Architecture</a:t>
            </a:r>
            <a:endParaRPr lang="en-US" sz="2600" dirty="0"/>
          </a:p>
        </p:txBody>
      </p:sp>
      <p:sp>
        <p:nvSpPr>
          <p:cNvPr id="6" name="Text 3"/>
          <p:cNvSpPr/>
          <p:nvPr/>
        </p:nvSpPr>
        <p:spPr>
          <a:xfrm>
            <a:off x="438785" y="721995"/>
            <a:ext cx="8229600" cy="292608"/>
          </a:xfrm>
          <a:prstGeom prst="rect">
            <a:avLst/>
          </a:prstGeom>
          <a:noFill/>
        </p:spPr>
        <p:txBody>
          <a:bodyPr wrap="square" lIns="0" tIns="0" rIns="0" bIns="0" rtlCol="0" anchor="ctr"/>
          <a:lstStyle/>
          <a:p>
            <a:pPr marL="0" indent="0">
              <a:buNone/>
            </a:pPr>
            <a:r>
              <a:rPr lang="en-US" sz="1600" b="1" dirty="0">
                <a:solidFill>
                  <a:srgbClr val="0096CC"/>
                </a:solidFill>
                <a:latin typeface="Arial" panose="020B0604020202020204" pitchFamily="34" charset="0"/>
                <a:ea typeface="Arial" panose="020B0604020202020204" pitchFamily="34" charset="-122"/>
                <a:cs typeface="Arial" panose="020B0604020202020204" pitchFamily="34" charset="-120"/>
              </a:rPr>
              <a:t>Objectives</a:t>
            </a:r>
            <a:endParaRPr lang="en-US" sz="1600" dirty="0"/>
          </a:p>
        </p:txBody>
      </p:sp>
      <p:sp>
        <p:nvSpPr>
          <p:cNvPr id="7" name="Text 4"/>
          <p:cNvSpPr/>
          <p:nvPr/>
        </p:nvSpPr>
        <p:spPr>
          <a:xfrm>
            <a:off x="1371600" y="960120"/>
            <a:ext cx="6400800" cy="320040"/>
          </a:xfrm>
          <a:prstGeom prst="rect">
            <a:avLst/>
          </a:prstGeom>
          <a:noFill/>
        </p:spPr>
        <p:txBody>
          <a:bodyPr wrap="square" rtlCol="0" anchor="ctr"/>
          <a:lstStyle/>
          <a:p>
            <a:pPr marL="0" indent="0" algn="ctr">
              <a:buNone/>
            </a:pPr>
            <a:r>
              <a:rPr lang="en-US" sz="1600" b="1" dirty="0">
                <a:solidFill>
                  <a:srgbClr val="333333"/>
                </a:solidFill>
                <a:latin typeface="Arial" panose="020B0604020202020204" pitchFamily="34" charset="0"/>
                <a:ea typeface="Arial" panose="020B0604020202020204" pitchFamily="34" charset="-122"/>
                <a:cs typeface="Arial" panose="020B0604020202020204" pitchFamily="34" charset="-120"/>
              </a:rPr>
              <a:t>THREE – TIER ARCHITECTURE</a:t>
            </a:r>
            <a:endParaRPr lang="en-US" sz="1600" dirty="0"/>
          </a:p>
        </p:txBody>
      </p:sp>
      <p:sp>
        <p:nvSpPr>
          <p:cNvPr id="8" name="Text 5"/>
          <p:cNvSpPr/>
          <p:nvPr/>
        </p:nvSpPr>
        <p:spPr>
          <a:xfrm>
            <a:off x="1371600" y="1261872"/>
            <a:ext cx="6400800" cy="256032"/>
          </a:xfrm>
          <a:prstGeom prst="rect">
            <a:avLst/>
          </a:prstGeom>
          <a:noFill/>
        </p:spPr>
        <p:txBody>
          <a:bodyPr wrap="square" rtlCol="0" anchor="ctr"/>
          <a:lstStyle/>
          <a:p>
            <a:pPr marL="0" indent="0" algn="ctr">
              <a:buNone/>
            </a:pPr>
            <a:r>
              <a:rPr lang="en-US" sz="1200" dirty="0">
                <a:solidFill>
                  <a:srgbClr val="888888"/>
                </a:solidFill>
                <a:latin typeface="Arial" panose="020B0604020202020204" pitchFamily="34" charset="0"/>
                <a:ea typeface="Arial" panose="020B0604020202020204" pitchFamily="34" charset="-122"/>
                <a:cs typeface="Arial" panose="020B0604020202020204" pitchFamily="34" charset="-120"/>
              </a:rPr>
              <a:t>Smart Parking Management System</a:t>
            </a:r>
            <a:endParaRPr lang="en-US" sz="1200" dirty="0"/>
          </a:p>
        </p:txBody>
      </p:sp>
      <p:sp>
        <p:nvSpPr>
          <p:cNvPr id="9" name="Shape 6"/>
          <p:cNvSpPr/>
          <p:nvPr/>
        </p:nvSpPr>
        <p:spPr>
          <a:xfrm>
            <a:off x="365760" y="1572768"/>
            <a:ext cx="2377440" cy="475488"/>
          </a:xfrm>
          <a:prstGeom prst="rect">
            <a:avLst/>
          </a:prstGeom>
          <a:solidFill>
            <a:srgbClr val="4472C4"/>
          </a:solidFill>
          <a:ln w="12700">
            <a:solidFill>
              <a:srgbClr val="4472C4"/>
            </a:solidFill>
            <a:prstDash val="solid"/>
          </a:ln>
        </p:spPr>
      </p:sp>
      <p:sp>
        <p:nvSpPr>
          <p:cNvPr id="10" name="Text 7"/>
          <p:cNvSpPr/>
          <p:nvPr/>
        </p:nvSpPr>
        <p:spPr>
          <a:xfrm>
            <a:off x="365760" y="1572768"/>
            <a:ext cx="2377440" cy="475488"/>
          </a:xfrm>
          <a:prstGeom prst="rect">
            <a:avLst/>
          </a:prstGeom>
          <a:noFill/>
        </p:spPr>
        <p:txBody>
          <a:bodyPr wrap="square" lIns="25400" tIns="25400" rIns="25400" bIns="25400" rtlCol="0" anchor="ctr"/>
          <a:lstStyle/>
          <a:p>
            <a:pPr marL="0" indent="0" algn="ctr">
              <a:buNone/>
            </a:pPr>
            <a:r>
              <a:rPr lang="en-US" sz="950" b="1" dirty="0">
                <a:solidFill>
                  <a:srgbClr val="FFFFFF"/>
                </a:solidFill>
                <a:latin typeface="Arial" panose="020B0604020202020204" pitchFamily="34" charset="0"/>
                <a:ea typeface="Arial" panose="020B0604020202020204" pitchFamily="34" charset="-122"/>
                <a:cs typeface="Arial" panose="020B0604020202020204" pitchFamily="34" charset="-120"/>
              </a:rPr>
              <a:t>PRESENTATION LAYER</a:t>
            </a:r>
            <a:endParaRPr lang="en-US" sz="950" dirty="0"/>
          </a:p>
          <a:p>
            <a:pPr marL="0" indent="0" algn="ctr">
              <a:buNone/>
            </a:pPr>
            <a:r>
              <a:rPr lang="en-US" sz="950" b="1" dirty="0">
                <a:solidFill>
                  <a:srgbClr val="FFFFFF"/>
                </a:solidFill>
                <a:latin typeface="Arial" panose="020B0604020202020204" pitchFamily="34" charset="0"/>
                <a:ea typeface="Arial" panose="020B0604020202020204" pitchFamily="34" charset="-122"/>
                <a:cs typeface="Arial" panose="020B0604020202020204" pitchFamily="34" charset="-120"/>
              </a:rPr>
              <a:t>(Thymeleaf)</a:t>
            </a:r>
            <a:endParaRPr lang="en-US" sz="950" dirty="0"/>
          </a:p>
        </p:txBody>
      </p:sp>
      <p:sp>
        <p:nvSpPr>
          <p:cNvPr id="11" name="Shape 8"/>
          <p:cNvSpPr/>
          <p:nvPr/>
        </p:nvSpPr>
        <p:spPr>
          <a:xfrm>
            <a:off x="365760" y="2048256"/>
            <a:ext cx="2377440" cy="1901952"/>
          </a:xfrm>
          <a:prstGeom prst="rect">
            <a:avLst/>
          </a:prstGeom>
          <a:solidFill>
            <a:srgbClr val="F4F4F4"/>
          </a:solidFill>
          <a:ln w="12700">
            <a:solidFill>
              <a:srgbClr val="CCCCCC"/>
            </a:solidFill>
            <a:prstDash val="solid"/>
          </a:ln>
        </p:spPr>
      </p:sp>
      <p:sp>
        <p:nvSpPr>
          <p:cNvPr id="12" name="Text 9"/>
          <p:cNvSpPr/>
          <p:nvPr/>
        </p:nvSpPr>
        <p:spPr>
          <a:xfrm>
            <a:off x="438912" y="2121408"/>
            <a:ext cx="2231136" cy="1737360"/>
          </a:xfrm>
          <a:prstGeom prst="rect">
            <a:avLst/>
          </a:prstGeom>
          <a:noFill/>
        </p:spPr>
        <p:txBody>
          <a:bodyPr wrap="square" rtlCol="0" anchor="t"/>
          <a:lstStyle/>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User Interface</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Form Validation</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Server-side Rendering</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Dashboard Visualization</a:t>
            </a:r>
            <a:endParaRPr lang="en-US" sz="1000" dirty="0"/>
          </a:p>
        </p:txBody>
      </p:sp>
      <p:sp>
        <p:nvSpPr>
          <p:cNvPr id="13" name="Shape 10"/>
          <p:cNvSpPr/>
          <p:nvPr/>
        </p:nvSpPr>
        <p:spPr>
          <a:xfrm>
            <a:off x="3383280" y="1572768"/>
            <a:ext cx="2377440" cy="475488"/>
          </a:xfrm>
          <a:prstGeom prst="rect">
            <a:avLst/>
          </a:prstGeom>
          <a:solidFill>
            <a:srgbClr val="9370DB"/>
          </a:solidFill>
          <a:ln w="12700">
            <a:solidFill>
              <a:srgbClr val="9370DB"/>
            </a:solidFill>
            <a:prstDash val="solid"/>
          </a:ln>
        </p:spPr>
      </p:sp>
      <p:sp>
        <p:nvSpPr>
          <p:cNvPr id="14" name="Text 11"/>
          <p:cNvSpPr/>
          <p:nvPr/>
        </p:nvSpPr>
        <p:spPr>
          <a:xfrm>
            <a:off x="3383280" y="1572768"/>
            <a:ext cx="2377440" cy="475488"/>
          </a:xfrm>
          <a:prstGeom prst="rect">
            <a:avLst/>
          </a:prstGeom>
          <a:noFill/>
        </p:spPr>
        <p:txBody>
          <a:bodyPr wrap="square" lIns="25400" tIns="25400" rIns="25400" bIns="25400" rtlCol="0" anchor="ctr"/>
          <a:lstStyle/>
          <a:p>
            <a:pPr marL="0" indent="0" algn="ctr">
              <a:buNone/>
            </a:pPr>
            <a:r>
              <a:rPr lang="en-US" sz="950" b="1" dirty="0">
                <a:solidFill>
                  <a:srgbClr val="FFFFFF"/>
                </a:solidFill>
                <a:latin typeface="Arial" panose="020B0604020202020204" pitchFamily="34" charset="0"/>
                <a:ea typeface="Arial" panose="020B0604020202020204" pitchFamily="34" charset="-122"/>
                <a:cs typeface="Arial" panose="020B0604020202020204" pitchFamily="34" charset="-120"/>
              </a:rPr>
              <a:t>BUSINESS LAYER</a:t>
            </a:r>
            <a:endParaRPr lang="en-US" sz="950" dirty="0"/>
          </a:p>
          <a:p>
            <a:pPr marL="0" indent="0" algn="ctr">
              <a:buNone/>
            </a:pPr>
            <a:r>
              <a:rPr lang="en-US" sz="950" b="1" dirty="0">
                <a:solidFill>
                  <a:srgbClr val="FFFFFF"/>
                </a:solidFill>
                <a:latin typeface="Arial" panose="020B0604020202020204" pitchFamily="34" charset="0"/>
                <a:ea typeface="Arial" panose="020B0604020202020204" pitchFamily="34" charset="-122"/>
                <a:cs typeface="Arial" panose="020B0604020202020204" pitchFamily="34" charset="-120"/>
              </a:rPr>
              <a:t>(Spring Boot)</a:t>
            </a:r>
            <a:endParaRPr lang="en-US" sz="950" dirty="0"/>
          </a:p>
        </p:txBody>
      </p:sp>
      <p:sp>
        <p:nvSpPr>
          <p:cNvPr id="15" name="Shape 12"/>
          <p:cNvSpPr/>
          <p:nvPr/>
        </p:nvSpPr>
        <p:spPr>
          <a:xfrm>
            <a:off x="3383280" y="2048256"/>
            <a:ext cx="2377440" cy="1901952"/>
          </a:xfrm>
          <a:prstGeom prst="rect">
            <a:avLst/>
          </a:prstGeom>
          <a:solidFill>
            <a:srgbClr val="F4F4F4"/>
          </a:solidFill>
          <a:ln w="12700">
            <a:solidFill>
              <a:srgbClr val="CCCCCC"/>
            </a:solidFill>
            <a:prstDash val="solid"/>
          </a:ln>
        </p:spPr>
      </p:sp>
      <p:sp>
        <p:nvSpPr>
          <p:cNvPr id="16" name="Text 13"/>
          <p:cNvSpPr/>
          <p:nvPr/>
        </p:nvSpPr>
        <p:spPr>
          <a:xfrm>
            <a:off x="3456432" y="2121408"/>
            <a:ext cx="2231136" cy="1737360"/>
          </a:xfrm>
          <a:prstGeom prst="rect">
            <a:avLst/>
          </a:prstGeom>
          <a:noFill/>
        </p:spPr>
        <p:txBody>
          <a:bodyPr wrap="square" rtlCol="0" anchor="t"/>
          <a:lstStyle/>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Business Logic</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Authentication</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Authorization</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Reservation Processing</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Billing Calculation</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Parking Allocation</a:t>
            </a:r>
            <a:endParaRPr lang="en-US" sz="1000" dirty="0"/>
          </a:p>
        </p:txBody>
      </p:sp>
      <p:sp>
        <p:nvSpPr>
          <p:cNvPr id="17" name="Shape 14"/>
          <p:cNvSpPr/>
          <p:nvPr/>
        </p:nvSpPr>
        <p:spPr>
          <a:xfrm>
            <a:off x="6400800" y="1572768"/>
            <a:ext cx="2377440" cy="475488"/>
          </a:xfrm>
          <a:prstGeom prst="rect">
            <a:avLst/>
          </a:prstGeom>
          <a:solidFill>
            <a:srgbClr val="17A589"/>
          </a:solidFill>
          <a:ln w="12700">
            <a:solidFill>
              <a:srgbClr val="17A589"/>
            </a:solidFill>
            <a:prstDash val="solid"/>
          </a:ln>
        </p:spPr>
      </p:sp>
      <p:sp>
        <p:nvSpPr>
          <p:cNvPr id="18" name="Text 15"/>
          <p:cNvSpPr/>
          <p:nvPr/>
        </p:nvSpPr>
        <p:spPr>
          <a:xfrm>
            <a:off x="6400800" y="1572768"/>
            <a:ext cx="2377440" cy="475488"/>
          </a:xfrm>
          <a:prstGeom prst="rect">
            <a:avLst/>
          </a:prstGeom>
          <a:noFill/>
        </p:spPr>
        <p:txBody>
          <a:bodyPr wrap="square" lIns="25400" tIns="25400" rIns="25400" bIns="25400" rtlCol="0" anchor="ctr"/>
          <a:lstStyle/>
          <a:p>
            <a:pPr marL="0" indent="0" algn="ctr">
              <a:buNone/>
            </a:pPr>
            <a:r>
              <a:rPr lang="en-US" sz="950" b="1" dirty="0">
                <a:solidFill>
                  <a:srgbClr val="FFFFFF"/>
                </a:solidFill>
                <a:latin typeface="Arial" panose="020B0604020202020204" pitchFamily="34" charset="0"/>
                <a:ea typeface="Arial" panose="020B0604020202020204" pitchFamily="34" charset="-122"/>
                <a:cs typeface="Arial" panose="020B0604020202020204" pitchFamily="34" charset="-120"/>
              </a:rPr>
              <a:t>DATA LAYER</a:t>
            </a:r>
            <a:endParaRPr lang="en-US" sz="950" dirty="0"/>
          </a:p>
          <a:p>
            <a:pPr marL="0" indent="0" algn="ctr">
              <a:buNone/>
            </a:pPr>
            <a:r>
              <a:rPr lang="en-US" sz="950" b="1" dirty="0">
                <a:solidFill>
                  <a:srgbClr val="FFFFFF"/>
                </a:solidFill>
                <a:latin typeface="Arial" panose="020B0604020202020204" pitchFamily="34" charset="0"/>
                <a:ea typeface="Arial" panose="020B0604020202020204" pitchFamily="34" charset="-122"/>
                <a:cs typeface="Arial" panose="020B0604020202020204" pitchFamily="34" charset="-120"/>
              </a:rPr>
              <a:t>(MySQL)</a:t>
            </a:r>
            <a:endParaRPr lang="en-US" sz="950" dirty="0"/>
          </a:p>
        </p:txBody>
      </p:sp>
      <p:sp>
        <p:nvSpPr>
          <p:cNvPr id="19" name="Shape 16"/>
          <p:cNvSpPr/>
          <p:nvPr/>
        </p:nvSpPr>
        <p:spPr>
          <a:xfrm>
            <a:off x="6400800" y="2048256"/>
            <a:ext cx="2377440" cy="1901952"/>
          </a:xfrm>
          <a:prstGeom prst="rect">
            <a:avLst/>
          </a:prstGeom>
          <a:solidFill>
            <a:srgbClr val="F4F4F4"/>
          </a:solidFill>
          <a:ln w="12700">
            <a:solidFill>
              <a:srgbClr val="CCCCCC"/>
            </a:solidFill>
            <a:prstDash val="solid"/>
          </a:ln>
        </p:spPr>
      </p:sp>
      <p:sp>
        <p:nvSpPr>
          <p:cNvPr id="20" name="Text 17"/>
          <p:cNvSpPr/>
          <p:nvPr/>
        </p:nvSpPr>
        <p:spPr>
          <a:xfrm>
            <a:off x="6473952" y="2121408"/>
            <a:ext cx="2231136" cy="1737360"/>
          </a:xfrm>
          <a:prstGeom prst="rect">
            <a:avLst/>
          </a:prstGeom>
          <a:noFill/>
        </p:spPr>
        <p:txBody>
          <a:bodyPr wrap="square" rtlCol="0" anchor="t"/>
          <a:lstStyle/>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Store User Information</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Store Vehicle Details</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Store Parking Information</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Store Reservations</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Store Parking Records</a:t>
            </a:r>
            <a:endParaRPr lang="en-US" sz="1000" dirty="0"/>
          </a:p>
          <a:p>
            <a:pPr marL="0" indent="0">
              <a:buNone/>
            </a:pPr>
            <a:r>
              <a:rPr lang="en-US" sz="1000" dirty="0">
                <a:solidFill>
                  <a:srgbClr val="333333"/>
                </a:solidFill>
                <a:latin typeface="Arial" panose="020B0604020202020204" pitchFamily="34" charset="0"/>
                <a:ea typeface="Arial" panose="020B0604020202020204" pitchFamily="34" charset="-122"/>
                <a:cs typeface="Arial" panose="020B0604020202020204" pitchFamily="34" charset="-120"/>
              </a:rPr>
              <a:t>• Store Billing Records</a:t>
            </a:r>
            <a:endParaRPr lang="en-US" sz="1000" dirty="0"/>
          </a:p>
        </p:txBody>
      </p:sp>
      <p:sp>
        <p:nvSpPr>
          <p:cNvPr id="21" name="Shape 18"/>
          <p:cNvSpPr/>
          <p:nvPr/>
        </p:nvSpPr>
        <p:spPr>
          <a:xfrm>
            <a:off x="1370965" y="4041775"/>
            <a:ext cx="6626860" cy="731520"/>
          </a:xfrm>
          <a:prstGeom prst="rect">
            <a:avLst/>
          </a:prstGeom>
          <a:solidFill>
            <a:srgbClr val="FAFAFA"/>
          </a:solidFill>
          <a:ln w="12700">
            <a:solidFill>
              <a:srgbClr val="DDDDDD"/>
            </a:solidFill>
            <a:prstDash val="solid"/>
          </a:ln>
        </p:spPr>
      </p:sp>
      <p:sp>
        <p:nvSpPr>
          <p:cNvPr id="22" name="Text 19"/>
          <p:cNvSpPr/>
          <p:nvPr/>
        </p:nvSpPr>
        <p:spPr>
          <a:xfrm>
            <a:off x="1370965" y="4133088"/>
            <a:ext cx="1371600" cy="548640"/>
          </a:xfrm>
          <a:prstGeom prst="rect">
            <a:avLst/>
          </a:prstGeom>
          <a:noFill/>
        </p:spPr>
        <p:txBody>
          <a:bodyPr wrap="square" rtlCol="0" anchor="ctr"/>
          <a:lstStyle/>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User</a:t>
            </a:r>
            <a:endParaRPr lang="en-US" sz="900" dirty="0"/>
          </a:p>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(Browser)</a:t>
            </a:r>
            <a:endParaRPr lang="en-US" sz="900" dirty="0"/>
          </a:p>
        </p:txBody>
      </p:sp>
      <p:sp>
        <p:nvSpPr>
          <p:cNvPr id="23" name="Text 20"/>
          <p:cNvSpPr/>
          <p:nvPr/>
        </p:nvSpPr>
        <p:spPr>
          <a:xfrm>
            <a:off x="2513965" y="4133088"/>
            <a:ext cx="365760" cy="548640"/>
          </a:xfrm>
          <a:prstGeom prst="rect">
            <a:avLst/>
          </a:prstGeom>
          <a:noFill/>
        </p:spPr>
        <p:txBody>
          <a:bodyPr wrap="square" rtlCol="0" anchor="ctr"/>
          <a:lstStyle/>
          <a:p>
            <a:pPr marL="0" indent="0" algn="ctr">
              <a:buNone/>
            </a:pPr>
            <a:r>
              <a:rPr lang="en-US" sz="1800" b="1" dirty="0">
                <a:solidFill>
                  <a:srgbClr val="555555"/>
                </a:solidFill>
                <a:latin typeface="Arial" panose="020B0604020202020204" pitchFamily="34" charset="0"/>
                <a:ea typeface="Arial" panose="020B0604020202020204" pitchFamily="34" charset="-122"/>
                <a:cs typeface="Arial" panose="020B0604020202020204" pitchFamily="34" charset="-120"/>
              </a:rPr>
              <a:t>→</a:t>
            </a:r>
            <a:endParaRPr lang="en-US" sz="1800" dirty="0"/>
          </a:p>
        </p:txBody>
      </p:sp>
      <p:sp>
        <p:nvSpPr>
          <p:cNvPr id="24" name="Text 21"/>
          <p:cNvSpPr/>
          <p:nvPr/>
        </p:nvSpPr>
        <p:spPr>
          <a:xfrm>
            <a:off x="2926080" y="4155948"/>
            <a:ext cx="1371600" cy="548640"/>
          </a:xfrm>
          <a:prstGeom prst="rect">
            <a:avLst/>
          </a:prstGeom>
          <a:noFill/>
        </p:spPr>
        <p:txBody>
          <a:bodyPr wrap="square" rtlCol="0" anchor="ctr"/>
          <a:lstStyle/>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Web</a:t>
            </a:r>
            <a:endParaRPr lang="en-US" sz="900" dirty="0"/>
          </a:p>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Application</a:t>
            </a:r>
            <a:endParaRPr lang="en-US" sz="900" dirty="0"/>
          </a:p>
        </p:txBody>
      </p:sp>
      <p:sp>
        <p:nvSpPr>
          <p:cNvPr id="25" name="Text 22"/>
          <p:cNvSpPr/>
          <p:nvPr/>
        </p:nvSpPr>
        <p:spPr>
          <a:xfrm>
            <a:off x="4480560" y="4133088"/>
            <a:ext cx="365760" cy="548640"/>
          </a:xfrm>
          <a:prstGeom prst="rect">
            <a:avLst/>
          </a:prstGeom>
          <a:noFill/>
        </p:spPr>
        <p:txBody>
          <a:bodyPr wrap="square" rtlCol="0" anchor="ctr"/>
          <a:lstStyle/>
          <a:p>
            <a:pPr marL="0" indent="0" algn="ctr">
              <a:buNone/>
            </a:pPr>
            <a:r>
              <a:rPr lang="en-US" sz="1800" b="1" dirty="0">
                <a:solidFill>
                  <a:srgbClr val="555555"/>
                </a:solidFill>
                <a:latin typeface="Arial" panose="020B0604020202020204" pitchFamily="34" charset="0"/>
                <a:ea typeface="Arial" panose="020B0604020202020204" pitchFamily="34" charset="-122"/>
                <a:cs typeface="Arial" panose="020B0604020202020204" pitchFamily="34" charset="-120"/>
              </a:rPr>
              <a:t>→</a:t>
            </a:r>
            <a:endParaRPr lang="en-US" sz="1800" dirty="0"/>
          </a:p>
        </p:txBody>
      </p:sp>
      <p:sp>
        <p:nvSpPr>
          <p:cNvPr id="26" name="Text 23"/>
          <p:cNvSpPr/>
          <p:nvPr/>
        </p:nvSpPr>
        <p:spPr>
          <a:xfrm>
            <a:off x="4937760" y="4133088"/>
            <a:ext cx="1371600" cy="548640"/>
          </a:xfrm>
          <a:prstGeom prst="rect">
            <a:avLst/>
          </a:prstGeom>
          <a:noFill/>
        </p:spPr>
        <p:txBody>
          <a:bodyPr wrap="square" rtlCol="0" anchor="ctr"/>
          <a:lstStyle/>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Application</a:t>
            </a:r>
            <a:endParaRPr lang="en-US" sz="900" dirty="0"/>
          </a:p>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Server</a:t>
            </a:r>
            <a:endParaRPr lang="en-US" sz="900" dirty="0"/>
          </a:p>
        </p:txBody>
      </p:sp>
      <p:sp>
        <p:nvSpPr>
          <p:cNvPr id="27" name="Text 24"/>
          <p:cNvSpPr/>
          <p:nvPr/>
        </p:nvSpPr>
        <p:spPr>
          <a:xfrm>
            <a:off x="6198870" y="4155948"/>
            <a:ext cx="365760" cy="548640"/>
          </a:xfrm>
          <a:prstGeom prst="rect">
            <a:avLst/>
          </a:prstGeom>
          <a:noFill/>
        </p:spPr>
        <p:txBody>
          <a:bodyPr wrap="square" rtlCol="0" anchor="ctr"/>
          <a:lstStyle/>
          <a:p>
            <a:pPr marL="0" indent="0" algn="ctr">
              <a:buNone/>
            </a:pPr>
            <a:r>
              <a:rPr lang="en-US" sz="1800" b="1" dirty="0">
                <a:solidFill>
                  <a:srgbClr val="555555"/>
                </a:solidFill>
                <a:latin typeface="Arial" panose="020B0604020202020204" pitchFamily="34" charset="0"/>
                <a:ea typeface="Arial" panose="020B0604020202020204" pitchFamily="34" charset="-122"/>
                <a:cs typeface="Arial" panose="020B0604020202020204" pitchFamily="34" charset="-120"/>
              </a:rPr>
              <a:t>→</a:t>
            </a:r>
            <a:endParaRPr lang="en-US" sz="1800" dirty="0"/>
          </a:p>
        </p:txBody>
      </p:sp>
      <p:sp>
        <p:nvSpPr>
          <p:cNvPr id="28" name="Text 25"/>
          <p:cNvSpPr/>
          <p:nvPr/>
        </p:nvSpPr>
        <p:spPr>
          <a:xfrm>
            <a:off x="6628130" y="4155948"/>
            <a:ext cx="1371600" cy="548640"/>
          </a:xfrm>
          <a:prstGeom prst="rect">
            <a:avLst/>
          </a:prstGeom>
          <a:noFill/>
        </p:spPr>
        <p:txBody>
          <a:bodyPr wrap="square" rtlCol="0" anchor="ctr"/>
          <a:lstStyle/>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Database</a:t>
            </a:r>
            <a:endParaRPr lang="en-US" sz="900" dirty="0"/>
          </a:p>
          <a:p>
            <a:pPr marL="0" indent="0" algn="ctr">
              <a:buNone/>
            </a:pPr>
            <a:r>
              <a:rPr lang="en-US" sz="900" dirty="0">
                <a:solidFill>
                  <a:srgbClr val="333333"/>
                </a:solidFill>
                <a:latin typeface="Arial" panose="020B0604020202020204" pitchFamily="34" charset="0"/>
                <a:ea typeface="Arial" panose="020B0604020202020204" pitchFamily="34" charset="-122"/>
                <a:cs typeface="Arial" panose="020B0604020202020204" pitchFamily="34" charset="-120"/>
              </a:rPr>
              <a:t>Server</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Presentation Layer</a:t>
            </a:r>
            <a:endParaRPr lang="en-US" sz="2600" dirty="0"/>
          </a:p>
        </p:txBody>
      </p:sp>
      <p:sp>
        <p:nvSpPr>
          <p:cNvPr id="6" name="Text 3"/>
          <p:cNvSpPr/>
          <p:nvPr/>
        </p:nvSpPr>
        <p:spPr>
          <a:xfrm>
            <a:off x="372110" y="767842"/>
            <a:ext cx="8229600" cy="320040"/>
          </a:xfrm>
          <a:prstGeom prst="rect">
            <a:avLst/>
          </a:prstGeom>
          <a:noFill/>
        </p:spPr>
        <p:txBody>
          <a:bodyPr wrap="square" rtlCol="0" anchor="ctr"/>
          <a:lstStyle/>
          <a:p>
            <a:pPr marL="0" indent="0">
              <a:buNone/>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project follows a three-tier architecture.</a:t>
            </a:r>
            <a:endParaRPr lang="en-US" sz="1400" dirty="0"/>
          </a:p>
        </p:txBody>
      </p:sp>
      <p:sp>
        <p:nvSpPr>
          <p:cNvPr id="7" name="Text 4"/>
          <p:cNvSpPr/>
          <p:nvPr/>
        </p:nvSpPr>
        <p:spPr>
          <a:xfrm>
            <a:off x="457200" y="1188720"/>
            <a:ext cx="8229600" cy="320040"/>
          </a:xfrm>
          <a:prstGeom prst="rect">
            <a:avLst/>
          </a:prstGeom>
          <a:noFill/>
        </p:spPr>
        <p:txBody>
          <a:bodyPr wrap="square" lIns="0" tIns="0" rIns="0" bIns="0" rtlCol="0" anchor="ctr"/>
          <a:lstStyle/>
          <a:p>
            <a:pPr marL="0" indent="0">
              <a:buNone/>
            </a:pPr>
            <a:r>
              <a:rPr lang="en-US" sz="1600" b="1" dirty="0">
                <a:solidFill>
                  <a:srgbClr val="0096CC"/>
                </a:solidFill>
                <a:latin typeface="Arial" panose="020B0604020202020204" pitchFamily="34" charset="0"/>
                <a:ea typeface="Arial" panose="020B0604020202020204" pitchFamily="34" charset="-122"/>
                <a:cs typeface="Arial" panose="020B0604020202020204" pitchFamily="34" charset="-120"/>
              </a:rPr>
              <a:t>Responsibilities:</a:t>
            </a:r>
            <a:endParaRPr lang="en-US" sz="1600" dirty="0"/>
          </a:p>
        </p:txBody>
      </p:sp>
      <p:sp>
        <p:nvSpPr>
          <p:cNvPr id="8" name="Text 5"/>
          <p:cNvSpPr/>
          <p:nvPr/>
        </p:nvSpPr>
        <p:spPr>
          <a:xfrm>
            <a:off x="372110" y="1572895"/>
            <a:ext cx="8229600" cy="2749550"/>
          </a:xfrm>
          <a:prstGeom prst="rect">
            <a:avLst/>
          </a:prstGeom>
          <a:noFill/>
        </p:spPr>
        <p:txBody>
          <a:bodyPr wrap="square" rtlCol="0" anchor="ctr"/>
          <a:lstStyle/>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Developed using Thymeleaf — a server-side Java template engine integrated with Spring Boot.</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Responsible for rendering the User Interface dynamically on the server before delivery to the browser.</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Handles form validation and user input processing on the server side.</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Manages server-side page rendering and dashboard visualization for both customer and admin views.</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Interacts with the Spring Boot backend directly through model attributes, eliminating the need for separate API calls from the frontend.</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Users interact with the application through standard web pages served by the backend.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Business Layer</a:t>
            </a:r>
            <a:endParaRPr lang="en-US" sz="2600" dirty="0"/>
          </a:p>
        </p:txBody>
      </p:sp>
      <p:sp>
        <p:nvSpPr>
          <p:cNvPr id="6" name="Text 3"/>
          <p:cNvSpPr/>
          <p:nvPr/>
        </p:nvSpPr>
        <p:spPr>
          <a:xfrm>
            <a:off x="457200" y="804672"/>
            <a:ext cx="8229600" cy="320040"/>
          </a:xfrm>
          <a:prstGeom prst="rect">
            <a:avLst/>
          </a:prstGeom>
          <a:noFill/>
        </p:spPr>
        <p:txBody>
          <a:bodyPr wrap="square" rtlCol="0" anchor="ctr"/>
          <a:lstStyle/>
          <a:p>
            <a:pPr marL="0" indent="0">
              <a:buNone/>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Developed using Spring Boot.</a:t>
            </a:r>
            <a:endParaRPr lang="en-US" sz="1400" dirty="0"/>
          </a:p>
        </p:txBody>
      </p:sp>
      <p:sp>
        <p:nvSpPr>
          <p:cNvPr id="7" name="Text 4"/>
          <p:cNvSpPr/>
          <p:nvPr/>
        </p:nvSpPr>
        <p:spPr>
          <a:xfrm>
            <a:off x="457200" y="1188720"/>
            <a:ext cx="8229600" cy="320040"/>
          </a:xfrm>
          <a:prstGeom prst="rect">
            <a:avLst/>
          </a:prstGeom>
          <a:noFill/>
        </p:spPr>
        <p:txBody>
          <a:bodyPr wrap="square" lIns="0" tIns="0" rIns="0" bIns="0" rtlCol="0" anchor="ctr"/>
          <a:lstStyle/>
          <a:p>
            <a:pPr marL="0" indent="0">
              <a:buNone/>
            </a:pPr>
            <a:r>
              <a:rPr lang="en-US" sz="1600" b="1" dirty="0">
                <a:solidFill>
                  <a:srgbClr val="0096CC"/>
                </a:solidFill>
                <a:latin typeface="Arial" panose="020B0604020202020204" pitchFamily="34" charset="0"/>
                <a:ea typeface="Arial" panose="020B0604020202020204" pitchFamily="34" charset="-122"/>
                <a:cs typeface="Arial" panose="020B0604020202020204" pitchFamily="34" charset="-120"/>
              </a:rPr>
              <a:t>Responsibilities:</a:t>
            </a:r>
            <a:endParaRPr lang="en-US" sz="1600" dirty="0"/>
          </a:p>
        </p:txBody>
      </p:sp>
      <p:sp>
        <p:nvSpPr>
          <p:cNvPr id="8" name="Text 5"/>
          <p:cNvSpPr/>
          <p:nvPr/>
        </p:nvSpPr>
        <p:spPr>
          <a:xfrm>
            <a:off x="343535" y="1572895"/>
            <a:ext cx="8229600" cy="2592070"/>
          </a:xfrm>
          <a:prstGeom prst="rect">
            <a:avLst/>
          </a:prstGeom>
          <a:noFill/>
        </p:spPr>
        <p:txBody>
          <a:bodyPr wrap="square" rtlCol="0" anchor="ctr"/>
          <a:lstStyle/>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Encapsulates all core Business Logic governing parking operations.</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Handles user Authentication and role-based Authorization using Spring Security and JWT.</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Processes Reservation requests — slot selection, availability checks, and confirmation.</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Performs Billing Calculation based on vehicle entry time, exit time, and applicable rates.</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Manages Parking Slot Allocation, status updates, and conflict resolution.</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Exposes REST APIs (consumed internally by Thymeleaf controllers) for structured data flow.</a:t>
            </a:r>
            <a:endParaRPr lang="en-US" sz="1400" dirty="0"/>
          </a:p>
          <a:p>
            <a:pPr marL="342900" indent="-342900">
              <a:spcAft>
                <a:spcPts val="7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Integrates with MySQL via Spring Data JPA for all persistence operations.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Data Layer</a:t>
            </a:r>
            <a:endParaRPr lang="en-US" sz="2600" dirty="0"/>
          </a:p>
        </p:txBody>
      </p:sp>
      <p:sp>
        <p:nvSpPr>
          <p:cNvPr id="6" name="Text 3"/>
          <p:cNvSpPr/>
          <p:nvPr/>
        </p:nvSpPr>
        <p:spPr>
          <a:xfrm>
            <a:off x="457200" y="804672"/>
            <a:ext cx="8229600" cy="320040"/>
          </a:xfrm>
          <a:prstGeom prst="rect">
            <a:avLst/>
          </a:prstGeom>
          <a:noFill/>
        </p:spPr>
        <p:txBody>
          <a:bodyPr wrap="square" rtlCol="0" anchor="ctr"/>
          <a:lstStyle/>
          <a:p>
            <a:pPr marL="0" indent="0">
              <a:buNone/>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Developed using MySQL.</a:t>
            </a:r>
            <a:endParaRPr lang="en-US" sz="1400" dirty="0"/>
          </a:p>
        </p:txBody>
      </p:sp>
      <p:sp>
        <p:nvSpPr>
          <p:cNvPr id="7" name="Text 4"/>
          <p:cNvSpPr/>
          <p:nvPr/>
        </p:nvSpPr>
        <p:spPr>
          <a:xfrm>
            <a:off x="457200" y="1188720"/>
            <a:ext cx="8229600" cy="320040"/>
          </a:xfrm>
          <a:prstGeom prst="rect">
            <a:avLst/>
          </a:prstGeom>
          <a:noFill/>
        </p:spPr>
        <p:txBody>
          <a:bodyPr wrap="square" lIns="0" tIns="0" rIns="0" bIns="0" rtlCol="0" anchor="ctr"/>
          <a:lstStyle/>
          <a:p>
            <a:pPr marL="0" indent="0">
              <a:buNone/>
            </a:pPr>
            <a:r>
              <a:rPr lang="en-US" sz="1600" b="1" dirty="0">
                <a:solidFill>
                  <a:srgbClr val="0096CC"/>
                </a:solidFill>
                <a:latin typeface="Arial" panose="020B0604020202020204" pitchFamily="34" charset="0"/>
                <a:ea typeface="Arial" panose="020B0604020202020204" pitchFamily="34" charset="-122"/>
                <a:cs typeface="Arial" panose="020B0604020202020204" pitchFamily="34" charset="-120"/>
              </a:rPr>
              <a:t>Responsibilities:</a:t>
            </a:r>
            <a:endParaRPr lang="en-US" sz="1600" dirty="0"/>
          </a:p>
        </p:txBody>
      </p:sp>
      <p:sp>
        <p:nvSpPr>
          <p:cNvPr id="8" name="Text 5"/>
          <p:cNvSpPr/>
          <p:nvPr/>
        </p:nvSpPr>
        <p:spPr>
          <a:xfrm>
            <a:off x="457200" y="1188593"/>
            <a:ext cx="8229600" cy="3017520"/>
          </a:xfrm>
          <a:prstGeom prst="rect">
            <a:avLst/>
          </a:prstGeom>
          <a:noFill/>
        </p:spPr>
        <p:txBody>
          <a:bodyPr wrap="square" rtlCol="0" anchor="ctr"/>
          <a:lstStyle/>
          <a:p>
            <a:pPr marL="342900" indent="-342900">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Stores and manages User Information including credentials and role assignments.</a:t>
            </a:r>
            <a:endParaRPr lang="en-US" sz="1400" dirty="0"/>
          </a:p>
          <a:p>
            <a:pPr marL="342900" indent="-342900">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Maintains Vehicle Details linked to each registered customer.</a:t>
            </a:r>
            <a:endParaRPr lang="en-US" sz="1400" dirty="0"/>
          </a:p>
          <a:p>
            <a:pPr marL="342900" indent="-342900">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Persists Parking Information covering lot configurations and slot metadata.</a:t>
            </a:r>
            <a:endParaRPr lang="en-US" sz="1400" dirty="0"/>
          </a:p>
          <a:p>
            <a:pPr marL="342900" indent="-342900">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Retains Reservation records capturing booking details and timestamps.</a:t>
            </a:r>
            <a:endParaRPr lang="en-US" sz="1400" dirty="0"/>
          </a:p>
          <a:p>
            <a:pPr marL="342900" indent="-342900">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Stores Parking Records that log vehicle entry, exit, and duration for every session.</a:t>
            </a:r>
            <a:endParaRPr lang="en-US" sz="1400" dirty="0"/>
          </a:p>
          <a:p>
            <a:pPr marL="342900" indent="-342900">
              <a:spcAft>
                <a:spcPts val="8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Preserves Billing Records containing charge calculations and payment status.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System Modules &amp; Features</a:t>
            </a:r>
            <a:endParaRPr lang="en-US" sz="2600" dirty="0"/>
          </a:p>
        </p:txBody>
      </p:sp>
      <p:sp>
        <p:nvSpPr>
          <p:cNvPr id="6" name="Text 3"/>
          <p:cNvSpPr/>
          <p:nvPr/>
        </p:nvSpPr>
        <p:spPr>
          <a:xfrm>
            <a:off x="457200" y="824865"/>
            <a:ext cx="8229600" cy="3160395"/>
          </a:xfrm>
          <a:prstGeom prst="rect">
            <a:avLst/>
          </a:prstGeom>
          <a:noFill/>
        </p:spPr>
        <p:txBody>
          <a:bodyPr wrap="square" rtlCol="0" anchor="ctr"/>
          <a:lstStyle/>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Smart Parking Management System is structured around two primary user roles — Administrator and Customer — each with distinct capabilities and access levels.</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Administrator oversees users, parking lots, parking slots, parking records, and revenue monitoring, ensuring full control and efficient maintenance of the infrastructure.</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Customer interacts with the system by creating an account, logging in, registering vehicles, reserving parking slots, making payments, and downloading billing receipts.</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JWT-based authentication is embedded throughout the system to protect resources, enforce role-based access, and secure all sensitive user data.</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application centralizes all parking operations — vehicle management, lot and slot handling, reservations, billing, and payments — into one cohesive platform, cutting manual effort and improving efficiency.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28600"/>
            <a:ext cx="8229600" cy="438912"/>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System Workflow</a:t>
            </a:r>
            <a:endParaRPr lang="en-US" sz="2600" dirty="0"/>
          </a:p>
        </p:txBody>
      </p:sp>
      <p:sp>
        <p:nvSpPr>
          <p:cNvPr id="6" name="Text 3"/>
          <p:cNvSpPr/>
          <p:nvPr/>
        </p:nvSpPr>
        <p:spPr>
          <a:xfrm>
            <a:off x="379095" y="822960"/>
            <a:ext cx="8229600" cy="3479165"/>
          </a:xfrm>
          <a:prstGeom prst="rect">
            <a:avLst/>
          </a:prstGeom>
          <a:noFill/>
        </p:spPr>
        <p:txBody>
          <a:bodyPr wrap="square" rtlCol="0" anchor="ctr"/>
          <a:lstStyle/>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workflow begins with user authentication — upon successful login, a JWT token is issued and used to authorize all subsequent requests, ensuring secure communication across the application.</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Customers register their vehicles and choose a parking lot based on current availability. The system instantly reflects available slots filtered by lot and vehicle type, and a reservation is created once the user confirms a slot.</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At vehicle entry, the system captures the entry timestamp and marks the selected slot as occupied. When the vehicle exits, the exit time is recorded, parking duration is computed, and the slot is released back to available status.</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The billing module automatically calculates charges based on the session duration and triggers payment processing. A receipt is made available for download upon successful payment.</a:t>
            </a:r>
            <a:endParaRPr lang="en-US" sz="1400" dirty="0"/>
          </a:p>
          <a:p>
            <a:pPr marL="342900" indent="-342900" algn="just">
              <a:spcAft>
                <a:spcPts val="1000"/>
              </a:spcAft>
              <a:buSzPct val="100000"/>
              <a:buChar char="•"/>
            </a:pPr>
            <a:r>
              <a:rPr lang="en-US" sz="1400" dirty="0">
                <a:solidFill>
                  <a:srgbClr val="333333"/>
                </a:solidFill>
                <a:latin typeface="Arial" panose="020B0604020202020204" pitchFamily="34" charset="0"/>
                <a:ea typeface="Arial" panose="020B0604020202020204" pitchFamily="34" charset="-122"/>
                <a:cs typeface="Arial" panose="020B0604020202020204" pitchFamily="34" charset="-120"/>
              </a:rPr>
              <a:t>All data flows through the following entities: User, Vehicle, Parking Lot, Parking Slot, Reservation, Parking Record, and Billing — ensuring complete traceability of every parking session.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01168"/>
            <a:ext cx="8229600" cy="411480"/>
          </a:xfrm>
          <a:prstGeom prst="rect">
            <a:avLst/>
          </a:prstGeom>
          <a:noFill/>
        </p:spPr>
        <p:txBody>
          <a:bodyPr wrap="square" lIns="0" tIns="0" rIns="0" bIns="0" rtlCol="0" anchor="ctr"/>
          <a:lstStyle/>
          <a:p>
            <a:pPr marL="0" indent="0">
              <a:buNone/>
            </a:pPr>
            <a:r>
              <a:rPr lang="en-US" sz="2600" b="1" dirty="0">
                <a:solidFill>
                  <a:srgbClr val="0096CC"/>
                </a:solidFill>
                <a:latin typeface="Arial" panose="020B0604020202020204" pitchFamily="34" charset="0"/>
                <a:ea typeface="Arial" panose="020B0604020202020204" pitchFamily="34" charset="-122"/>
                <a:cs typeface="Arial" panose="020B0604020202020204" pitchFamily="34" charset="-120"/>
              </a:rPr>
              <a:t>DevOps, Deployment &amp; Benefits</a:t>
            </a:r>
            <a:endParaRPr lang="en-US" sz="2600" dirty="0"/>
          </a:p>
        </p:txBody>
      </p:sp>
      <p:sp>
        <p:nvSpPr>
          <p:cNvPr id="6" name="Text 3"/>
          <p:cNvSpPr/>
          <p:nvPr/>
        </p:nvSpPr>
        <p:spPr>
          <a:xfrm>
            <a:off x="457200" y="1022350"/>
            <a:ext cx="8229600" cy="2011680"/>
          </a:xfrm>
          <a:prstGeom prst="rect">
            <a:avLst/>
          </a:prstGeom>
          <a:noFill/>
        </p:spPr>
        <p:txBody>
          <a:bodyPr wrap="square" rtlCol="0" anchor="ctr"/>
          <a:lstStyle/>
          <a:p>
            <a:pPr marL="342900" indent="-342900" algn="just">
              <a:spcAft>
                <a:spcPts val="8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The system is built with Thymeleaf for server-side rendering, Spring Boot for backend logic, and MySQL for persistent data storage. Spring Security with JWT handles access control; Swagger provides API documentation; and Spring Boot Actuator monitors application health and metrics.</a:t>
            </a:r>
            <a:endParaRPr lang="en-US" sz="1300" dirty="0"/>
          </a:p>
          <a:p>
            <a:pPr marL="342900" indent="-342900" algn="just">
              <a:spcAft>
                <a:spcPts val="8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For environment-agnostic deployment, the application is containerized using Docker. Kubernetes orchestrates the containers across nodes, delivering high availability and simplified rollout management.</a:t>
            </a:r>
            <a:endParaRPr lang="en-US" sz="1300" dirty="0"/>
          </a:p>
          <a:p>
            <a:pPr marL="342900" indent="-342900" algn="just">
              <a:spcAft>
                <a:spcPts val="8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A Jenkins CI/CD pipeline automates the entire delivery lifecycle — from source code checkout and application build to testing, Docker image creation, and Kubernetes deployment — ensuring fast and reliable releases.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endParaRPr sz="800">
              <a:solidFill>
                <a:srgbClr val="888888"/>
              </a:solidFill>
              <a:latin typeface="Arial" panose="020B0604020202020204"/>
            </a:endParaRP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endParaRPr sz="800">
              <a:solidFill>
                <a:srgbClr val="888888"/>
              </a:solidFill>
              <a:latin typeface="Arial" panose="020B0604020202020204"/>
            </a:endParaRP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endParaRPr sz="2600" b="1">
              <a:solidFill>
                <a:srgbClr val="0096CC"/>
              </a:solidFill>
              <a:latin typeface="Arial" panose="020B0604020202020204"/>
            </a:endParaRP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Swagger REST API Documentation</a:t>
            </a:r>
            <a:endParaRPr sz="1800" b="1">
              <a:solidFill>
                <a:srgbClr val="0096CC"/>
              </a:solidFill>
              <a:latin typeface="Arial" panose="020B0604020202020204"/>
            </a:endParaRPr>
          </a:p>
        </p:txBody>
      </p:sp>
      <p:pic>
        <p:nvPicPr>
          <p:cNvPr id="7" name="Picture 6" descr="Swagger.PNG"/>
          <p:cNvPicPr>
            <a:picLocks noChangeAspect="1"/>
          </p:cNvPicPr>
          <p:nvPr/>
        </p:nvPicPr>
        <p:blipFill>
          <a:blip r:embed="rId2"/>
          <a:stretch>
            <a:fillRect/>
          </a:stretch>
        </p:blipFill>
        <p:spPr>
          <a:xfrm>
            <a:off x="1724215" y="1403604"/>
            <a:ext cx="5695569" cy="30175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endParaRPr sz="800">
              <a:solidFill>
                <a:srgbClr val="888888"/>
              </a:solidFill>
              <a:latin typeface="Arial" panose="020B0604020202020204"/>
            </a:endParaRP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endParaRPr sz="800">
              <a:solidFill>
                <a:srgbClr val="888888"/>
              </a:solidFill>
              <a:latin typeface="Arial" panose="020B0604020202020204"/>
            </a:endParaRP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endParaRPr sz="2600" b="1">
              <a:solidFill>
                <a:srgbClr val="0096CC"/>
              </a:solidFill>
              <a:latin typeface="Arial" panose="020B0604020202020204"/>
            </a:endParaRP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Spring Boot Actuator Health Monitoring</a:t>
            </a:r>
            <a:endParaRPr sz="1800" b="1">
              <a:solidFill>
                <a:srgbClr val="0096CC"/>
              </a:solidFill>
              <a:latin typeface="Arial" panose="020B0604020202020204"/>
            </a:endParaRPr>
          </a:p>
        </p:txBody>
      </p:sp>
      <p:pic>
        <p:nvPicPr>
          <p:cNvPr id="7" name="Picture 6" descr="actuator.PNG"/>
          <p:cNvPicPr>
            <a:picLocks noChangeAspect="1"/>
          </p:cNvPicPr>
          <p:nvPr/>
        </p:nvPicPr>
        <p:blipFill>
          <a:blip r:embed="rId2"/>
          <a:stretch>
            <a:fillRect/>
          </a:stretch>
        </p:blipFill>
        <p:spPr>
          <a:xfrm>
            <a:off x="1905301" y="1403604"/>
            <a:ext cx="5333397" cy="301752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endParaRPr sz="800">
              <a:solidFill>
                <a:srgbClr val="888888"/>
              </a:solidFill>
              <a:latin typeface="Arial" panose="020B0604020202020204"/>
            </a:endParaRP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endParaRPr sz="800">
              <a:solidFill>
                <a:srgbClr val="888888"/>
              </a:solidFill>
              <a:latin typeface="Arial" panose="020B0604020202020204"/>
            </a:endParaRP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endParaRPr sz="2600" b="1">
              <a:solidFill>
                <a:srgbClr val="0096CC"/>
              </a:solidFill>
              <a:latin typeface="Arial" panose="020B0604020202020204"/>
            </a:endParaRP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Postman API Verification Testing</a:t>
            </a:r>
            <a:endParaRPr sz="1800" b="1">
              <a:solidFill>
                <a:srgbClr val="0096CC"/>
              </a:solidFill>
              <a:latin typeface="Arial" panose="020B0604020202020204"/>
            </a:endParaRPr>
          </a:p>
        </p:txBody>
      </p:sp>
      <p:pic>
        <p:nvPicPr>
          <p:cNvPr id="7" name="Picture 6" descr="postman.PNG"/>
          <p:cNvPicPr>
            <a:picLocks noChangeAspect="1"/>
          </p:cNvPicPr>
          <p:nvPr/>
        </p:nvPicPr>
        <p:blipFill>
          <a:blip r:embed="rId2"/>
          <a:stretch>
            <a:fillRect/>
          </a:stretch>
        </p:blipFill>
        <p:spPr>
          <a:xfrm>
            <a:off x="1569988" y="1403604"/>
            <a:ext cx="6004022" cy="301752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endParaRPr sz="800">
              <a:solidFill>
                <a:srgbClr val="888888"/>
              </a:solidFill>
              <a:latin typeface="Arial" panose="020B0604020202020204"/>
            </a:endParaRP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endParaRPr sz="800">
              <a:solidFill>
                <a:srgbClr val="888888"/>
              </a:solidFill>
              <a:latin typeface="Arial" panose="020B0604020202020204"/>
            </a:endParaRP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endParaRPr sz="2600" b="1">
              <a:solidFill>
                <a:srgbClr val="0096CC"/>
              </a:solidFill>
              <a:latin typeface="Arial" panose="020B0604020202020204"/>
            </a:endParaRP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Docker Containers Deployment</a:t>
            </a:r>
            <a:endParaRPr sz="1800" b="1">
              <a:solidFill>
                <a:srgbClr val="0096CC"/>
              </a:solidFill>
              <a:latin typeface="Arial" panose="020B0604020202020204"/>
            </a:endParaRPr>
          </a:p>
        </p:txBody>
      </p:sp>
      <p:pic>
        <p:nvPicPr>
          <p:cNvPr id="7" name="Picture 6" descr="docker.PNG"/>
          <p:cNvPicPr>
            <a:picLocks noChangeAspect="1"/>
          </p:cNvPicPr>
          <p:nvPr/>
        </p:nvPicPr>
        <p:blipFill>
          <a:blip r:embed="rId2"/>
          <a:stretch>
            <a:fillRect/>
          </a:stretch>
        </p:blipFill>
        <p:spPr>
          <a:xfrm>
            <a:off x="1828603" y="1403604"/>
            <a:ext cx="5486792" cy="301752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endParaRPr sz="800">
              <a:solidFill>
                <a:srgbClr val="888888"/>
              </a:solidFill>
              <a:latin typeface="Arial" panose="020B0604020202020204"/>
            </a:endParaRP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endParaRPr sz="800">
              <a:solidFill>
                <a:srgbClr val="888888"/>
              </a:solidFill>
              <a:latin typeface="Arial" panose="020B0604020202020204"/>
            </a:endParaRP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endParaRPr sz="2600" b="1">
              <a:solidFill>
                <a:srgbClr val="0096CC"/>
              </a:solidFill>
              <a:latin typeface="Arial" panose="020B0604020202020204"/>
            </a:endParaRP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Docker Container Images</a:t>
            </a:r>
            <a:endParaRPr sz="1800" b="1">
              <a:solidFill>
                <a:srgbClr val="0096CC"/>
              </a:solidFill>
              <a:latin typeface="Arial" panose="020B0604020202020204"/>
            </a:endParaRPr>
          </a:p>
        </p:txBody>
      </p:sp>
      <p:pic>
        <p:nvPicPr>
          <p:cNvPr id="7" name="Picture 6" descr="docker-images.PNG"/>
          <p:cNvPicPr>
            <a:picLocks noChangeAspect="1"/>
          </p:cNvPicPr>
          <p:nvPr/>
        </p:nvPicPr>
        <p:blipFill>
          <a:blip r:embed="rId2"/>
          <a:stretch>
            <a:fillRect/>
          </a:stretch>
        </p:blipFill>
        <p:spPr>
          <a:xfrm>
            <a:off x="1827851" y="1403604"/>
            <a:ext cx="5488297" cy="30175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endParaRPr sz="800">
              <a:solidFill>
                <a:srgbClr val="888888"/>
              </a:solidFill>
              <a:latin typeface="Arial" panose="020B0604020202020204"/>
            </a:endParaRP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endParaRPr sz="800">
              <a:solidFill>
                <a:srgbClr val="888888"/>
              </a:solidFill>
              <a:latin typeface="Arial" panose="020B0604020202020204"/>
            </a:endParaRP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endParaRPr sz="2600" b="1">
              <a:solidFill>
                <a:srgbClr val="0096CC"/>
              </a:solidFill>
              <a:latin typeface="Arial" panose="020B0604020202020204"/>
            </a:endParaRP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Kubernetes MySQL Database Service</a:t>
            </a:r>
            <a:endParaRPr sz="1800" b="1">
              <a:solidFill>
                <a:srgbClr val="0096CC"/>
              </a:solidFill>
              <a:latin typeface="Arial" panose="020B0604020202020204"/>
            </a:endParaRPr>
          </a:p>
        </p:txBody>
      </p:sp>
      <p:pic>
        <p:nvPicPr>
          <p:cNvPr id="7" name="Picture 6" descr="K8-sql.PNG"/>
          <p:cNvPicPr>
            <a:picLocks noChangeAspect="1"/>
          </p:cNvPicPr>
          <p:nvPr/>
        </p:nvPicPr>
        <p:blipFill>
          <a:blip r:embed="rId2"/>
          <a:stretch>
            <a:fillRect/>
          </a:stretch>
        </p:blipFill>
        <p:spPr>
          <a:xfrm>
            <a:off x="1798544" y="1403604"/>
            <a:ext cx="5546911" cy="30175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endParaRPr sz="800">
              <a:solidFill>
                <a:srgbClr val="888888"/>
              </a:solidFill>
              <a:latin typeface="Arial" panose="020B0604020202020204"/>
            </a:endParaRP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endParaRPr sz="800">
              <a:solidFill>
                <a:srgbClr val="888888"/>
              </a:solidFill>
              <a:latin typeface="Arial" panose="020B0604020202020204"/>
            </a:endParaRP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endParaRPr sz="2600" b="1">
              <a:solidFill>
                <a:srgbClr val="0096CC"/>
              </a:solidFill>
              <a:latin typeface="Arial" panose="020B0604020202020204"/>
            </a:endParaRP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Kubernetes Web UI Deployment</a:t>
            </a:r>
            <a:endParaRPr sz="1800" b="1">
              <a:solidFill>
                <a:srgbClr val="0096CC"/>
              </a:solidFill>
              <a:latin typeface="Arial" panose="020B0604020202020204"/>
            </a:endParaRPr>
          </a:p>
        </p:txBody>
      </p:sp>
      <p:pic>
        <p:nvPicPr>
          <p:cNvPr id="7" name="Picture 6" descr="k8-ui.PNG"/>
          <p:cNvPicPr>
            <a:picLocks noChangeAspect="1"/>
          </p:cNvPicPr>
          <p:nvPr/>
        </p:nvPicPr>
        <p:blipFill>
          <a:blip r:embed="rId2"/>
          <a:stretch>
            <a:fillRect/>
          </a:stretch>
        </p:blipFill>
        <p:spPr>
          <a:xfrm>
            <a:off x="2175856" y="1403604"/>
            <a:ext cx="4792287" cy="301752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panose="020B0604020202020204"/>
              </a:rPr>
              <a:t>General - RPS Data</a:t>
            </a:r>
            <a:endParaRPr sz="800">
              <a:solidFill>
                <a:srgbClr val="888888"/>
              </a:solidFill>
              <a:latin typeface="Arial" panose="020B0604020202020204"/>
            </a:endParaRP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panose="020B0604020202020204"/>
              </a:rPr>
              <a:t>2026 - RPS Consulting all rights reserved    2</a:t>
            </a:r>
            <a:endParaRPr sz="800">
              <a:solidFill>
                <a:srgbClr val="888888"/>
              </a:solidFill>
              <a:latin typeface="Arial" panose="020B0604020202020204"/>
            </a:endParaRPr>
          </a:p>
        </p:txBody>
      </p:sp>
      <p:sp>
        <p:nvSpPr>
          <p:cNvPr id="5" name="Text 2"/>
          <p:cNvSpPr txBox="1"/>
          <p:nvPr/>
        </p:nvSpPr>
        <p:spPr>
          <a:xfrm>
            <a:off x="457200" y="228600"/>
            <a:ext cx="8229600" cy="438912"/>
          </a:xfrm>
          <a:prstGeom prst="rect">
            <a:avLst/>
          </a:prstGeom>
          <a:noFill/>
        </p:spPr>
        <p:txBody>
          <a:bodyPr wrap="square" lIns="0" tIns="0" rIns="0" bIns="0">
            <a:spAutoFit/>
          </a:bodyPr>
          <a:lstStyle/>
          <a:p>
            <a:pPr>
              <a:defRPr/>
            </a:pPr>
            <a:r>
              <a:rPr sz="2600" b="1">
                <a:solidFill>
                  <a:srgbClr val="0096CC"/>
                </a:solidFill>
                <a:latin typeface="Arial" panose="020B0604020202020204"/>
              </a:rPr>
              <a:t>Smart Parking Management System</a:t>
            </a:r>
            <a:endParaRPr sz="2600" b="1">
              <a:solidFill>
                <a:srgbClr val="0096CC"/>
              </a:solidFill>
              <a:latin typeface="Arial" panose="020B0604020202020204"/>
            </a:endParaRPr>
          </a:p>
        </p:txBody>
      </p:sp>
      <p:sp>
        <p:nvSpPr>
          <p:cNvPr id="6" name="Text 3"/>
          <p:cNvSpPr txBox="1"/>
          <p:nvPr/>
        </p:nvSpPr>
        <p:spPr>
          <a:xfrm>
            <a:off x="400685" y="823087"/>
            <a:ext cx="8229600" cy="347472"/>
          </a:xfrm>
          <a:prstGeom prst="rect">
            <a:avLst/>
          </a:prstGeom>
          <a:noFill/>
        </p:spPr>
        <p:txBody>
          <a:bodyPr wrap="square" lIns="0" tIns="0" rIns="0" bIns="0">
            <a:spAutoFit/>
          </a:bodyPr>
          <a:lstStyle/>
          <a:p>
            <a:r>
              <a:rPr sz="1800" b="1">
                <a:solidFill>
                  <a:srgbClr val="0096CC"/>
                </a:solidFill>
                <a:latin typeface="Arial" panose="020B0604020202020204"/>
              </a:rPr>
              <a:t>Jenkins CI/CD Build Pipeline</a:t>
            </a:r>
            <a:endParaRPr sz="1800" b="1">
              <a:solidFill>
                <a:srgbClr val="0096CC"/>
              </a:solidFill>
              <a:latin typeface="Arial" panose="020B0604020202020204"/>
            </a:endParaRPr>
          </a:p>
        </p:txBody>
      </p:sp>
      <p:pic>
        <p:nvPicPr>
          <p:cNvPr id="7" name="Picture 6" descr="Jenkins.PNG"/>
          <p:cNvPicPr>
            <a:picLocks noChangeAspect="1"/>
          </p:cNvPicPr>
          <p:nvPr/>
        </p:nvPicPr>
        <p:blipFill>
          <a:blip r:embed="rId2"/>
          <a:stretch>
            <a:fillRect/>
          </a:stretch>
        </p:blipFill>
        <p:spPr>
          <a:xfrm>
            <a:off x="1699215" y="1403604"/>
            <a:ext cx="5745568" cy="301752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274320" y="4553712"/>
            <a:ext cx="1005840" cy="402336"/>
          </a:xfrm>
          <a:prstGeom prst="rect">
            <a:avLst/>
          </a:prstGeom>
        </p:spPr>
      </p:pic>
      <p:sp>
        <p:nvSpPr>
          <p:cNvPr id="3" name="Text 0"/>
          <p:cNvSpPr/>
          <p:nvPr/>
        </p:nvSpPr>
        <p:spPr>
          <a:xfrm>
            <a:off x="3200400" y="4910328"/>
            <a:ext cx="2743200" cy="201168"/>
          </a:xfrm>
          <a:prstGeom prst="rect">
            <a:avLst/>
          </a:prstGeom>
          <a:noFill/>
        </p:spPr>
        <p:txBody>
          <a:bodyPr wrap="square" rtlCol="0" anchor="ctr"/>
          <a:lstStyle/>
          <a:p>
            <a:pPr marL="0" indent="0" algn="ct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General - RPS Data</a:t>
            </a:r>
            <a:endParaRPr lang="en-US" sz="800" dirty="0"/>
          </a:p>
        </p:txBody>
      </p:sp>
      <p:sp>
        <p:nvSpPr>
          <p:cNvPr id="4" name="Text 1"/>
          <p:cNvSpPr/>
          <p:nvPr/>
        </p:nvSpPr>
        <p:spPr>
          <a:xfrm>
            <a:off x="5029200" y="4910328"/>
            <a:ext cx="3931920" cy="201168"/>
          </a:xfrm>
          <a:prstGeom prst="rect">
            <a:avLst/>
          </a:prstGeom>
          <a:noFill/>
        </p:spPr>
        <p:txBody>
          <a:bodyPr wrap="square" rtlCol="0" anchor="ctr"/>
          <a:lstStyle/>
          <a:p>
            <a:pPr marL="0" indent="0" algn="r">
              <a:buNone/>
            </a:pPr>
            <a:r>
              <a:rPr lang="en-US" sz="800" dirty="0">
                <a:solidFill>
                  <a:srgbClr val="888888"/>
                </a:solidFill>
                <a:latin typeface="Arial" panose="020B0604020202020204" pitchFamily="34" charset="0"/>
                <a:ea typeface="Arial" panose="020B0604020202020204" pitchFamily="34" charset="-122"/>
                <a:cs typeface="Arial" panose="020B0604020202020204" pitchFamily="34" charset="-120"/>
              </a:rPr>
              <a:t>2026 - RPS Consulting all rights reserved    2</a:t>
            </a:r>
            <a:endParaRPr lang="en-US" sz="800" dirty="0"/>
          </a:p>
        </p:txBody>
      </p:sp>
      <p:sp>
        <p:nvSpPr>
          <p:cNvPr id="5" name="Text 2"/>
          <p:cNvSpPr/>
          <p:nvPr/>
        </p:nvSpPr>
        <p:spPr>
          <a:xfrm>
            <a:off x="457200" y="201168"/>
            <a:ext cx="8229600" cy="384048"/>
          </a:xfrm>
          <a:prstGeom prst="rect">
            <a:avLst/>
          </a:prstGeom>
          <a:noFill/>
        </p:spPr>
        <p:txBody>
          <a:bodyPr wrap="square" lIns="0" tIns="0" rIns="0" bIns="0" rtlCol="0" anchor="ctr"/>
          <a:lstStyle/>
          <a:p>
            <a:pPr marL="0" indent="0">
              <a:buNone/>
            </a:pPr>
            <a:r>
              <a:rPr lang="en-US" sz="2200" b="1" dirty="0">
                <a:solidFill>
                  <a:srgbClr val="0096CC"/>
                </a:solidFill>
                <a:latin typeface="Arial" panose="020B0604020202020204" pitchFamily="34" charset="0"/>
                <a:ea typeface="Arial" panose="020B0604020202020204" pitchFamily="34" charset="-122"/>
                <a:cs typeface="Arial" panose="020B0604020202020204" pitchFamily="34" charset="-120"/>
              </a:rPr>
              <a:t>Benefits:</a:t>
            </a:r>
            <a:endParaRPr lang="en-US" sz="2200" dirty="0"/>
          </a:p>
        </p:txBody>
      </p:sp>
      <p:sp>
        <p:nvSpPr>
          <p:cNvPr id="6" name="Text 3"/>
          <p:cNvSpPr/>
          <p:nvPr/>
        </p:nvSpPr>
        <p:spPr>
          <a:xfrm>
            <a:off x="457200" y="682625"/>
            <a:ext cx="8229600" cy="2080260"/>
          </a:xfrm>
          <a:prstGeom prst="rect">
            <a:avLst/>
          </a:prstGeom>
          <a:noFill/>
        </p:spPr>
        <p:txBody>
          <a:bodyPr wrap="square" rtlCol="0" anchor="ctr"/>
          <a:lstStyle/>
          <a:p>
            <a:pPr marL="342900" indent="-342900">
              <a:spcAft>
                <a:spcPts val="5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Fully automated parking management eliminates manual intervention.</a:t>
            </a:r>
            <a:endParaRPr lang="en-US" sz="1300" dirty="0"/>
          </a:p>
          <a:p>
            <a:pPr marL="342900" indent="-342900">
              <a:spcAft>
                <a:spcPts val="5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Real-time slot tracking ensures accurate occupancy visibility.</a:t>
            </a:r>
            <a:endParaRPr lang="en-US" sz="1300" dirty="0"/>
          </a:p>
          <a:p>
            <a:pPr marL="342900" indent="-342900">
              <a:spcAft>
                <a:spcPts val="5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Secure JWT-based authentication protects user data and system resources.</a:t>
            </a:r>
            <a:endParaRPr lang="en-US" sz="1300" dirty="0"/>
          </a:p>
          <a:p>
            <a:pPr marL="342900" indent="-342900">
              <a:spcAft>
                <a:spcPts val="5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Automatic billing generation and integrated payment processing improve accuracy.</a:t>
            </a:r>
            <a:endParaRPr lang="en-US" sz="1300" dirty="0"/>
          </a:p>
          <a:p>
            <a:pPr marL="342900" indent="-342900">
              <a:spcAft>
                <a:spcPts val="5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Enhanced user experience through seamless online reservation and digital receipts.</a:t>
            </a:r>
            <a:endParaRPr lang="en-US" sz="1300" dirty="0"/>
          </a:p>
          <a:p>
            <a:pPr marL="342900" indent="-342900">
              <a:spcAft>
                <a:spcPts val="5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Containerized deployment with Docker and Kubernetes ensures portability and resilience.</a:t>
            </a:r>
            <a:endParaRPr lang="en-US" sz="1300" dirty="0"/>
          </a:p>
          <a:p>
            <a:pPr marL="342900" indent="-342900">
              <a:spcAft>
                <a:spcPts val="500"/>
              </a:spcAft>
              <a:buSzPct val="100000"/>
              <a:buChar char="•"/>
            </a:pPr>
            <a:r>
              <a:rPr lang="en-US" sz="1300" dirty="0">
                <a:solidFill>
                  <a:srgbClr val="333333"/>
                </a:solidFill>
                <a:latin typeface="Arial" panose="020B0604020202020204" pitchFamily="34" charset="0"/>
                <a:ea typeface="Arial" panose="020B0604020202020204" pitchFamily="34" charset="-122"/>
                <a:cs typeface="Arial" panose="020B0604020202020204" pitchFamily="34" charset="-120"/>
              </a:rPr>
              <a:t>Jenkins CI/CD automation accelerates software delivery and reduces deployment risk.</a:t>
            </a:r>
            <a:endParaRPr lang="en-US" sz="1300" dirty="0"/>
          </a:p>
        </p:txBody>
      </p:sp>
      <p:sp>
        <p:nvSpPr>
          <p:cNvPr id="7" name="Text 4"/>
          <p:cNvSpPr/>
          <p:nvPr/>
        </p:nvSpPr>
        <p:spPr>
          <a:xfrm>
            <a:off x="457200" y="2999232"/>
            <a:ext cx="8229600" cy="365760"/>
          </a:xfrm>
          <a:prstGeom prst="rect">
            <a:avLst/>
          </a:prstGeom>
          <a:noFill/>
        </p:spPr>
        <p:txBody>
          <a:bodyPr wrap="square" lIns="0" tIns="0" rIns="0" bIns="0" rtlCol="0" anchor="ctr"/>
          <a:lstStyle/>
          <a:p>
            <a:pPr marL="0" indent="0">
              <a:buNone/>
            </a:pPr>
            <a:r>
              <a:rPr lang="en-IN" altLang="en-US" sz="2200" b="1" dirty="0">
                <a:solidFill>
                  <a:srgbClr val="0096CC"/>
                </a:solidFill>
                <a:latin typeface="Arial" panose="020B0604020202020204" pitchFamily="34" charset="0"/>
                <a:ea typeface="Arial" panose="020B0604020202020204" pitchFamily="34" charset="-122"/>
                <a:cs typeface="Arial" panose="020B0604020202020204" pitchFamily="34" charset="-120"/>
              </a:rPr>
              <a:t>Future Enhancement</a:t>
            </a:r>
            <a:r>
              <a:rPr lang="en-US" sz="2200" b="1" dirty="0">
                <a:solidFill>
                  <a:srgbClr val="0096CC"/>
                </a:solidFill>
                <a:latin typeface="Arial" panose="020B0604020202020204" pitchFamily="34" charset="0"/>
                <a:ea typeface="Arial" panose="020B0604020202020204" pitchFamily="34" charset="-122"/>
                <a:cs typeface="Arial" panose="020B0604020202020204" pitchFamily="34" charset="-120"/>
              </a:rPr>
              <a:t>:</a:t>
            </a:r>
            <a:endParaRPr lang="en-US" sz="2200" dirty="0"/>
          </a:p>
        </p:txBody>
      </p:sp>
      <p:sp>
        <p:nvSpPr>
          <p:cNvPr id="8" name="Text 5"/>
          <p:cNvSpPr/>
          <p:nvPr/>
        </p:nvSpPr>
        <p:spPr>
          <a:xfrm>
            <a:off x="457200" y="3280918"/>
            <a:ext cx="8229600" cy="1371600"/>
          </a:xfrm>
          <a:prstGeom prst="rect">
            <a:avLst/>
          </a:prstGeom>
          <a:noFill/>
        </p:spPr>
        <p:txBody>
          <a:bodyPr wrap="square" rtlCol="0" anchor="ctr"/>
          <a:lstStyle/>
          <a:p>
            <a:pPr marL="342900" indent="-342900">
              <a:spcAft>
                <a:spcPts val="300"/>
              </a:spcAft>
              <a:buSzPct val="100000"/>
              <a:buChar char="•"/>
            </a:pPr>
            <a:r>
              <a:rPr lang="en-US" sz="1250" dirty="0">
                <a:solidFill>
                  <a:srgbClr val="333333"/>
                </a:solidFill>
                <a:latin typeface="Arial" panose="020B0604020202020204" pitchFamily="34" charset="0"/>
                <a:ea typeface="Arial" panose="020B0604020202020204" pitchFamily="34" charset="-122"/>
                <a:cs typeface="Arial" panose="020B0604020202020204" pitchFamily="34" charset="-120"/>
              </a:rPr>
              <a:t>Higher infrastructure resource consumption due to Docker and Kubernetes overhead.</a:t>
            </a:r>
            <a:endParaRPr lang="en-US" sz="1250" dirty="0"/>
          </a:p>
          <a:p>
            <a:pPr marL="342900" indent="-342900">
              <a:spcAft>
                <a:spcPts val="300"/>
              </a:spcAft>
              <a:buSzPct val="100000"/>
              <a:buChar char="•"/>
            </a:pPr>
            <a:r>
              <a:rPr lang="en-US" sz="1250" dirty="0">
                <a:solidFill>
                  <a:srgbClr val="333333"/>
                </a:solidFill>
                <a:latin typeface="Arial" panose="020B0604020202020204" pitchFamily="34" charset="0"/>
                <a:ea typeface="Arial" panose="020B0604020202020204" pitchFamily="34" charset="-122"/>
                <a:cs typeface="Arial" panose="020B0604020202020204" pitchFamily="34" charset="-120"/>
              </a:rPr>
              <a:t>Requires ongoing maintenance and periodic updates to remain secure and stable.</a:t>
            </a:r>
            <a:endParaRPr lang="en-US" sz="1250" dirty="0"/>
          </a:p>
          <a:p>
            <a:pPr marL="342900" indent="-342900">
              <a:spcAft>
                <a:spcPts val="300"/>
              </a:spcAft>
              <a:buSzPct val="100000"/>
              <a:buChar char="•"/>
            </a:pPr>
            <a:r>
              <a:rPr lang="en-US" sz="1250" dirty="0">
                <a:solidFill>
                  <a:srgbClr val="333333"/>
                </a:solidFill>
                <a:latin typeface="Arial" panose="020B0604020202020204" pitchFamily="34" charset="0"/>
                <a:ea typeface="Arial" panose="020B0604020202020204" pitchFamily="34" charset="-122"/>
                <a:cs typeface="Arial" panose="020B0604020202020204" pitchFamily="34" charset="-120"/>
              </a:rPr>
              <a:t>No IoT or RFID integration is available in the current version.</a:t>
            </a:r>
            <a:endParaRPr lang="en-US" sz="1250" dirty="0"/>
          </a:p>
          <a:p>
            <a:pPr marL="342900" indent="-342900">
              <a:spcAft>
                <a:spcPts val="300"/>
              </a:spcAft>
              <a:buSzPct val="100000"/>
              <a:buChar char="•"/>
            </a:pPr>
            <a:r>
              <a:rPr lang="en-US" sz="1250" dirty="0">
                <a:solidFill>
                  <a:srgbClr val="333333"/>
                </a:solidFill>
                <a:latin typeface="Arial" panose="020B0604020202020204" pitchFamily="34" charset="0"/>
                <a:ea typeface="Arial" panose="020B0604020202020204" pitchFamily="34" charset="-122"/>
                <a:cs typeface="Arial" panose="020B0604020202020204" pitchFamily="34" charset="-120"/>
              </a:rPr>
              <a:t>The database remains a single point of failure within the current project deployment configuration.</a:t>
            </a:r>
            <a:endParaRPr lang="en-US" sz="12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274320" y="4553712"/>
            <a:ext cx="1005840" cy="402336"/>
          </a:xfrm>
          <a:prstGeom prst="rect">
            <a:avLst/>
          </a:prstGeom>
        </p:spPr>
      </p:pic>
      <p:sp>
        <p:nvSpPr>
          <p:cNvPr id="3" name="Text 0"/>
          <p:cNvSpPr txBox="1"/>
          <p:nvPr/>
        </p:nvSpPr>
        <p:spPr>
          <a:xfrm>
            <a:off x="3200400" y="4910328"/>
            <a:ext cx="2743200" cy="201168"/>
          </a:xfrm>
          <a:prstGeom prst="rect">
            <a:avLst/>
          </a:prstGeom>
          <a:noFill/>
        </p:spPr>
        <p:txBody>
          <a:bodyPr wrap="square">
            <a:spAutoFit/>
          </a:bodyPr>
          <a:lstStyle/>
          <a:p>
            <a:pPr algn="ctr">
              <a:defRPr/>
            </a:pPr>
            <a:r>
              <a:rPr sz="800">
                <a:solidFill>
                  <a:srgbClr val="888888"/>
                </a:solidFill>
                <a:latin typeface="Arial"/>
              </a:rPr>
              <a:t>General - RPS Data</a:t>
            </a:r>
          </a:p>
        </p:txBody>
      </p:sp>
      <p:sp>
        <p:nvSpPr>
          <p:cNvPr id="4" name="Text 1"/>
          <p:cNvSpPr txBox="1"/>
          <p:nvPr/>
        </p:nvSpPr>
        <p:spPr>
          <a:xfrm>
            <a:off x="5029200" y="4910328"/>
            <a:ext cx="3931920" cy="201168"/>
          </a:xfrm>
          <a:prstGeom prst="rect">
            <a:avLst/>
          </a:prstGeom>
          <a:noFill/>
        </p:spPr>
        <p:txBody>
          <a:bodyPr wrap="square">
            <a:spAutoFit/>
          </a:bodyPr>
          <a:lstStyle/>
          <a:p>
            <a:pPr algn="r">
              <a:defRPr/>
            </a:pPr>
            <a:r>
              <a:rPr sz="800">
                <a:solidFill>
                  <a:srgbClr val="888888"/>
                </a:solidFill>
                <a:latin typeface="Arial"/>
              </a:rPr>
              <a:t>2026 - RPS Consulting all rights reserved    2</a:t>
            </a:r>
          </a:p>
        </p:txBody>
      </p:sp>
      <p:sp>
        <p:nvSpPr>
          <p:cNvPr id="5" name="Text 2"/>
          <p:cNvSpPr txBox="1"/>
          <p:nvPr/>
        </p:nvSpPr>
        <p:spPr>
          <a:xfrm>
            <a:off x="457200" y="228600"/>
            <a:ext cx="8229600" cy="438912"/>
          </a:xfrm>
          <a:prstGeom prst="rect">
            <a:avLst/>
          </a:prstGeom>
          <a:noFill/>
        </p:spPr>
        <p:txBody>
          <a:bodyPr wrap="square" lIns="0" rIns="0" tIns="0" bIns="0">
            <a:spAutoFit/>
          </a:bodyPr>
          <a:lstStyle/>
          <a:p>
            <a:pPr>
              <a:defRPr/>
            </a:pPr>
            <a:r>
              <a:rPr sz="2600" b="1">
                <a:solidFill>
                  <a:srgbClr val="0096CC"/>
                </a:solidFill>
                <a:latin typeface="Arial"/>
              </a:rPr>
              <a:t>Smart Parking Management System</a:t>
            </a:r>
          </a:p>
        </p:txBody>
      </p:sp>
      <p:sp>
        <p:nvSpPr>
          <p:cNvPr id="6" name="Text 3"/>
          <p:cNvSpPr txBox="1"/>
          <p:nvPr/>
        </p:nvSpPr>
        <p:spPr>
          <a:xfrm>
            <a:off x="400685" y="823087"/>
            <a:ext cx="8229600" cy="347472"/>
          </a:xfrm>
          <a:prstGeom prst="rect">
            <a:avLst/>
          </a:prstGeom>
          <a:noFill/>
        </p:spPr>
        <p:txBody>
          <a:bodyPr wrap="square" lIns="0" rIns="0" tIns="0" bIns="0">
            <a:spAutoFit/>
          </a:bodyPr>
          <a:lstStyle/>
          <a:p>
            <a:pPr/>
            <a:r>
              <a:rPr sz="1800" b="1">
                <a:solidFill>
                  <a:srgbClr val="0096CC"/>
                </a:solidFill>
                <a:latin typeface="Arial"/>
              </a:rPr>
              <a:t>Entity Relationship Diagram</a:t>
            </a:r>
          </a:p>
        </p:txBody>
      </p:sp>
      <p:pic>
        <p:nvPicPr>
          <p:cNvPr id="7" name="Picture 6" descr="ER_page_1.png"/>
          <p:cNvPicPr>
            <a:picLocks noChangeAspect="1"/>
          </p:cNvPicPr>
          <p:nvPr/>
        </p:nvPicPr>
        <p:blipFill>
          <a:blip r:embed="rId3"/>
          <a:stretch>
            <a:fillRect/>
          </a:stretch>
        </p:blipFill>
        <p:spPr>
          <a:xfrm>
            <a:off x="3504937" y="1403604"/>
            <a:ext cx="2134124" cy="30175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10303</Words>
  <Application>WPS Presentation</Application>
  <PresentationFormat>On-screen Show (16:9)</PresentationFormat>
  <Paragraphs>306</Paragraphs>
  <Slides>21</Slides>
  <Notes>13</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21</vt:i4>
      </vt:variant>
    </vt:vector>
  </HeadingPairs>
  <TitlesOfParts>
    <vt:vector size="31" baseType="lpstr">
      <vt:lpstr>Arial</vt:lpstr>
      <vt:lpstr>SimSun</vt:lpstr>
      <vt:lpstr>Wingdings</vt:lpstr>
      <vt:lpstr>Arial</vt:lpstr>
      <vt:lpstr>Arial</vt:lpstr>
      <vt:lpstr>Calibri</vt:lpstr>
      <vt:lpstr>Microsoft YaHei</vt:lpstr>
      <vt:lpstr>Arial Unicode MS</vt:lpstr>
      <vt:lpstr>Arial</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Parking Management System</dc:title>
  <dc:creator>PptxGenJS</dc:creator>
  <dc:subject>PptxGenJS Presentation</dc:subject>
  <cp:lastModifiedBy>muhammed sait</cp:lastModifiedBy>
  <cp:revision>4</cp:revision>
  <dcterms:created xsi:type="dcterms:W3CDTF">2026-06-22T19:48:00Z</dcterms:created>
  <dcterms:modified xsi:type="dcterms:W3CDTF">2026-06-23T09:05:44Z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21E80C54719B4F0DBD4617565DAA4A02_12</vt:lpwstr>
  </property>
  <property fmtid="{D5CDD505-2E9C-101B-9397-08002B2CF9AE}" pid="3" name="KSOProductBuildVer">
    <vt:lpwstr>1033-12.1.0.26880</vt:lpwstr>
  </property>
</Properties>
</file>
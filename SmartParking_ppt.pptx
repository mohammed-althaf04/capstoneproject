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9" r:id="rId16"/>
    <p:sldId id="270" r:id="rId17"/>
    <p:sldId id="271" r:id="rId18"/>
    <p:sldId id="272" r:id="rId19"/>
    <p:sldId id="273" r:id="rId20"/>
    <p:sldId id="274" r:id="rId21"/>
    <p:sldId id="275" r:id="rId22"/>
    <p:sldId id="276" r:id="rId23"/>
    <p:sldId id="268" r:id="rId24"/>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96C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365760" y="274320"/>
            <a:ext cx="1463040" cy="585216"/>
          </a:xfrm>
          <a:prstGeom prst="rect">
            <a:avLst/>
          </a:prstGeom>
        </p:spPr>
      </p:pic>
      <p:sp>
        <p:nvSpPr>
          <p:cNvPr id="3" name="Text 0"/>
          <p:cNvSpPr/>
          <p:nvPr/>
        </p:nvSpPr>
        <p:spPr>
          <a:xfrm>
            <a:off x="457200" y="1051560"/>
            <a:ext cx="8229600" cy="502920"/>
          </a:xfrm>
          <a:prstGeom prst="rect">
            <a:avLst/>
          </a:prstGeom>
          <a:noFill/>
        </p:spPr>
        <p:txBody>
          <a:bodyPr wrap="square" rtlCol="0" anchor="ctr"/>
          <a:lstStyle/>
          <a:p>
            <a:pPr marL="0" indent="0">
              <a:buNone/>
            </a:pPr>
            <a:r>
              <a:rPr lang="en-US" sz="2200" dirty="0">
                <a:solidFill>
                  <a:srgbClr val="FFFFFF"/>
                </a:solidFill>
                <a:latin typeface="Arial" panose="020B0604020202020204" pitchFamily="34" charset="0"/>
                <a:ea typeface="Arial" panose="020B0604020202020204" pitchFamily="34" charset="-122"/>
                <a:cs typeface="Arial" panose="020B0604020202020204" pitchFamily="34" charset="-120"/>
              </a:rPr>
              <a:t>WIPRO NGA Program _26SUB0726-JAVA J2EE INTEGRATION</a:t>
            </a:r>
            <a:endParaRPr lang="en-US" sz="2200" dirty="0"/>
          </a:p>
        </p:txBody>
      </p:sp>
      <p:sp>
        <p:nvSpPr>
          <p:cNvPr id="4" name="Text 1"/>
          <p:cNvSpPr/>
          <p:nvPr/>
        </p:nvSpPr>
        <p:spPr>
          <a:xfrm>
            <a:off x="457200" y="1737360"/>
            <a:ext cx="8229600" cy="457200"/>
          </a:xfrm>
          <a:prstGeom prst="rect">
            <a:avLst/>
          </a:prstGeom>
          <a:noFill/>
        </p:spPr>
        <p:txBody>
          <a:bodyPr wrap="square" rtlCol="0" anchor="ctr"/>
          <a:lstStyle/>
          <a:p>
            <a:pPr marL="0" indent="0">
              <a:buNone/>
            </a:pPr>
            <a:r>
              <a:rPr lang="en-US" sz="2000" dirty="0">
                <a:solidFill>
                  <a:srgbClr val="FFFFFF"/>
                </a:solidFill>
                <a:latin typeface="Arial" panose="020B0604020202020204" pitchFamily="34" charset="0"/>
                <a:ea typeface="Arial" panose="020B0604020202020204" pitchFamily="34" charset="-122"/>
                <a:cs typeface="Arial" panose="020B0604020202020204" pitchFamily="34" charset="-120"/>
              </a:rPr>
              <a:t>Capstone Project Presentation – 23rd June 2026</a:t>
            </a:r>
            <a:endParaRPr lang="en-US" sz="2000" dirty="0"/>
          </a:p>
        </p:txBody>
      </p:sp>
      <p:sp>
        <p:nvSpPr>
          <p:cNvPr id="5" name="Text 2"/>
          <p:cNvSpPr/>
          <p:nvPr/>
        </p:nvSpPr>
        <p:spPr>
          <a:xfrm>
            <a:off x="457200" y="2315210"/>
            <a:ext cx="8229600" cy="793750"/>
          </a:xfrm>
          <a:prstGeom prst="rect">
            <a:avLst/>
          </a:prstGeom>
          <a:noFill/>
        </p:spPr>
        <p:txBody>
          <a:bodyPr wrap="square" rtlCol="0" anchor="ctr"/>
          <a:lstStyle/>
          <a:p>
            <a:pPr marL="0" indent="0">
              <a:buNone/>
            </a:pPr>
            <a:r>
              <a:rPr lang="en-US" sz="2000" dirty="0">
                <a:solidFill>
                  <a:srgbClr val="FFFFFF"/>
                </a:solidFill>
                <a:latin typeface="Arial" panose="020B0604020202020204" pitchFamily="34" charset="0"/>
                <a:ea typeface="Arial" panose="020B0604020202020204" pitchFamily="34" charset="-122"/>
                <a:cs typeface="Arial" panose="020B0604020202020204" pitchFamily="34" charset="-120"/>
              </a:rPr>
              <a:t>Project Title Here - Smart Parking Management System</a:t>
            </a:r>
            <a:endParaRPr lang="en-US" sz="2000" dirty="0"/>
          </a:p>
        </p:txBody>
      </p:sp>
      <p:sp>
        <p:nvSpPr>
          <p:cNvPr id="6" name="Text 3"/>
          <p:cNvSpPr/>
          <p:nvPr/>
        </p:nvSpPr>
        <p:spPr>
          <a:xfrm>
            <a:off x="457200" y="3383280"/>
            <a:ext cx="8229600" cy="457200"/>
          </a:xfrm>
          <a:prstGeom prst="rect">
            <a:avLst/>
          </a:prstGeom>
          <a:noFill/>
        </p:spPr>
        <p:txBody>
          <a:bodyPr wrap="square" rtlCol="0" anchor="ctr"/>
          <a:lstStyle/>
          <a:p>
            <a:pPr marL="0" indent="0">
              <a:buNone/>
            </a:pPr>
            <a:r>
              <a:rPr lang="en-US" sz="2000" dirty="0">
                <a:solidFill>
                  <a:srgbClr val="FFFFFF"/>
                </a:solidFill>
                <a:latin typeface="Arial" panose="020B0604020202020204" pitchFamily="34" charset="0"/>
                <a:ea typeface="Arial" panose="020B0604020202020204" pitchFamily="34" charset="-122"/>
                <a:cs typeface="Arial" panose="020B0604020202020204" pitchFamily="34" charset="-120"/>
              </a:rPr>
              <a:t>Presented by – Mohammed Athaf, Naveen Muthu</a:t>
            </a:r>
            <a:endParaRPr lang="en-US" sz="2000" dirty="0"/>
          </a:p>
        </p:txBody>
      </p:sp>
      <p:sp>
        <p:nvSpPr>
          <p:cNvPr id="7" name="Text 4"/>
          <p:cNvSpPr/>
          <p:nvPr/>
        </p:nvSpPr>
        <p:spPr>
          <a:xfrm>
            <a:off x="457200" y="4663440"/>
            <a:ext cx="3657600" cy="274320"/>
          </a:xfrm>
          <a:prstGeom prst="rect">
            <a:avLst/>
          </a:prstGeom>
          <a:noFill/>
        </p:spPr>
        <p:txBody>
          <a:bodyPr wrap="square" rtlCol="0" anchor="ctr"/>
          <a:lstStyle/>
          <a:p>
            <a:pPr marL="0" indent="0">
              <a:buNone/>
            </a:pPr>
            <a:r>
              <a:rPr lang="en-US" sz="1000" b="1" dirty="0">
                <a:solidFill>
                  <a:srgbClr val="FFFFFF"/>
                </a:solidFill>
                <a:latin typeface="Arial" panose="020B0604020202020204" pitchFamily="34" charset="0"/>
                <a:ea typeface="Arial" panose="020B0604020202020204" pitchFamily="34" charset="-122"/>
                <a:cs typeface="Arial" panose="020B0604020202020204" pitchFamily="34" charset="-120"/>
              </a:rPr>
              <a:t>www.rpsconsulting.in</a:t>
            </a:r>
            <a:endParaRPr lang="en-US" sz="1000" dirty="0"/>
          </a:p>
        </p:txBody>
      </p:sp>
      <p:sp>
        <p:nvSpPr>
          <p:cNvPr id="8" name="Text 5"/>
          <p:cNvSpPr/>
          <p:nvPr/>
        </p:nvSpPr>
        <p:spPr>
          <a:xfrm>
            <a:off x="3200400" y="4910328"/>
            <a:ext cx="2743200" cy="201168"/>
          </a:xfrm>
          <a:prstGeom prst="rect">
            <a:avLst/>
          </a:prstGeom>
          <a:noFill/>
        </p:spPr>
        <p:txBody>
          <a:bodyPr wrap="square" rtlCol="0" anchor="ctr"/>
          <a:lstStyle/>
          <a:p>
            <a:pPr marL="0" indent="0" algn="ct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General - RPS Data</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274320" y="4553712"/>
            <a:ext cx="1005840" cy="402336"/>
          </a:xfrm>
          <a:prstGeom prst="rect">
            <a:avLst/>
          </a:prstGeom>
        </p:spPr>
      </p:pic>
      <p:sp>
        <p:nvSpPr>
          <p:cNvPr id="3" name="Text 0"/>
          <p:cNvSpPr/>
          <p:nvPr/>
        </p:nvSpPr>
        <p:spPr>
          <a:xfrm>
            <a:off x="3200400" y="4910328"/>
            <a:ext cx="2743200" cy="201168"/>
          </a:xfrm>
          <a:prstGeom prst="rect">
            <a:avLst/>
          </a:prstGeom>
          <a:noFill/>
        </p:spPr>
        <p:txBody>
          <a:bodyPr wrap="square" rtlCol="0" anchor="ctr"/>
          <a:lstStyle/>
          <a:p>
            <a:pPr marL="0" indent="0" algn="ctr">
              <a:buNone/>
              <a:defRPr>
                <a:solidFill/>
              </a:defRPr>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General - RPS Data</a:t>
            </a:r>
            <a:endParaRPr lang="en-US" sz="800" dirty="0"/>
          </a:p>
        </p:txBody>
      </p:sp>
      <p:sp>
        <p:nvSpPr>
          <p:cNvPr id="4" name="Text 1"/>
          <p:cNvSpPr/>
          <p:nvPr/>
        </p:nvSpPr>
        <p:spPr>
          <a:xfrm>
            <a:off x="5029200" y="4910328"/>
            <a:ext cx="3931920" cy="201168"/>
          </a:xfrm>
          <a:prstGeom prst="rect">
            <a:avLst/>
          </a:prstGeom>
          <a:noFill/>
        </p:spPr>
        <p:txBody>
          <a:bodyPr wrap="square" rtlCol="0" anchor="ctr"/>
          <a:lstStyle/>
          <a:p>
            <a:pPr marL="0" indent="0" algn="r">
              <a:buNone/>
              <a:defRPr>
                <a:solidFill/>
              </a:defRPr>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2026 - RPS Consulting all rights reserved    2</a:t>
            </a:r>
            <a:endParaRPr lang="en-US" sz="800" dirty="0"/>
          </a:p>
        </p:txBody>
      </p:sp>
      <p:sp>
        <p:nvSpPr>
          <p:cNvPr id="5" name="Text 2"/>
          <p:cNvSpPr/>
          <p:nvPr/>
        </p:nvSpPr>
        <p:spPr>
          <a:xfrm>
            <a:off x="457200" y="228600"/>
            <a:ext cx="8229600" cy="438912"/>
          </a:xfrm>
          <a:prstGeom prst="rect">
            <a:avLst/>
          </a:prstGeom>
          <a:noFill/>
        </p:spPr>
        <p:txBody>
          <a:bodyPr wrap="square" lIns="0" tIns="0" rIns="0" bIns="0" rtlCol="0" anchor="ctr"/>
          <a:lstStyle/>
          <a:p>
            <a:pPr marL="0" indent="0">
              <a:buNone/>
              <a:defRPr>
                <a:solidFill/>
              </a:defRPr>
            </a:pPr>
            <a:r>
              <a:rPr lang="en-US" sz="2600" b="1" dirty="0">
                <a:solidFill>
                  <a:srgbClr val="0096CC"/>
                </a:solidFill>
                <a:latin typeface="Arial" panose="020B0604020202020204" pitchFamily="34" charset="0"/>
                <a:ea typeface="Arial" panose="020B0604020202020204" pitchFamily="34" charset="-122"/>
                <a:cs typeface="Arial" panose="020B0604020202020204" pitchFamily="34" charset="-120"/>
              </a:rPr>
              <a:t>Smart Parking Management System</a:t>
            </a:r>
            <a:endParaRPr lang="en-US" sz="2600" dirty="0"/>
          </a:p>
        </p:txBody>
      </p:sp>
      <p:sp>
        <p:nvSpPr>
          <p:cNvPr id="6" name="Text 3"/>
          <p:cNvSpPr/>
          <p:nvPr/>
        </p:nvSpPr>
        <p:spPr>
          <a:xfrm>
            <a:off x="400685" y="823087"/>
            <a:ext cx="8229600" cy="347472"/>
          </a:xfrm>
          <a:prstGeom prst="rect">
            <a:avLst/>
          </a:prstGeom>
          <a:noFill/>
        </p:spPr>
        <p:txBody>
          <a:bodyPr wrap="square" lIns="0" tIns="0" rIns="0" bIns="0" rtlCol="0" anchor="ctr"/>
          <a:lstStyle/>
          <a:p>
            <a:pPr marL="0" indent="0">
              <a:buNone/>
            </a:pPr>
            <a:r>
              <a:rPr lang="en-US" sz="1800" b="1" dirty="0">
                <a:solidFill>
                  <a:srgbClr val="0096CC"/>
                </a:solidFill>
                <a:latin typeface="Arial" panose="020B0604020202020204" pitchFamily="34" charset="0"/>
                <a:ea typeface="Arial" panose="020B0604020202020204" pitchFamily="34" charset="-122"/>
                <a:cs typeface="Arial" panose="020B0604020202020204" pitchFamily="34" charset="-120"/>
              </a:rPr>
              <a:t>Introduction</a:t>
            </a:r>
            <a:endParaRPr lang="en-US" sz="1800" dirty="0"/>
          </a:p>
        </p:txBody>
      </p:sp>
      <p:sp>
        <p:nvSpPr>
          <p:cNvPr id="7" name="Text 4"/>
          <p:cNvSpPr/>
          <p:nvPr/>
        </p:nvSpPr>
        <p:spPr>
          <a:xfrm>
            <a:off x="400685" y="1245235"/>
            <a:ext cx="8229600" cy="2729865"/>
          </a:xfrm>
          <a:prstGeom prst="rect">
            <a:avLst/>
          </a:prstGeom>
          <a:noFill/>
        </p:spPr>
        <p:txBody>
          <a:bodyPr wrap="square" rtlCol="0" anchor="ctr"/>
          <a:lstStyle/>
          <a:p>
            <a:pPr marL="342900" indent="-342900" algn="just">
              <a:spcAft>
                <a:spcPts val="8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The Smart Parking Management System is a web-based application built to streamline the management of parking lots, parking slots, vehicle reservations, entry and exit tracking, billing, and digital payments.</a:t>
            </a:r>
            <a:endParaRPr lang="en-US" sz="1400" dirty="0"/>
          </a:p>
          <a:p>
            <a:pPr marL="342900" indent="-342900" algn="just">
              <a:spcAft>
                <a:spcPts val="8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The platform enables customers to locate available parking spaces, book slots in advance, and complete payments online — all from a single interface.</a:t>
            </a:r>
            <a:endParaRPr lang="en-US" sz="1400" dirty="0"/>
          </a:p>
          <a:p>
            <a:pPr marL="342900" indent="-342900" algn="just">
              <a:spcAft>
                <a:spcPts val="8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Administrators gain centralized control over the entire parking infrastructure through a unified dashboard, improving visibility and operational efficiency.</a:t>
            </a:r>
            <a:endParaRPr lang="en-US" sz="1400" dirty="0"/>
          </a:p>
          <a:p>
            <a:pPr marL="342900" indent="-342900" algn="just">
              <a:spcAft>
                <a:spcPts val="8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The system eliminates manual processes, reduces human error, and significantly enhances the overall parking experience for both users and operators.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274320" y="4553712"/>
            <a:ext cx="1005840" cy="402336"/>
          </a:xfrm>
          <a:prstGeom prst="rect">
            <a:avLst/>
          </a:prstGeom>
        </p:spPr>
      </p:pic>
      <p:sp>
        <p:nvSpPr>
          <p:cNvPr id="3" name="Text 0"/>
          <p:cNvSpPr/>
          <p:nvPr/>
        </p:nvSpPr>
        <p:spPr>
          <a:xfrm>
            <a:off x="3200400" y="4910328"/>
            <a:ext cx="2743200" cy="201168"/>
          </a:xfrm>
          <a:prstGeom prst="rect">
            <a:avLst/>
          </a:prstGeom>
          <a:noFill/>
        </p:spPr>
        <p:txBody>
          <a:bodyPr wrap="square" rtlCol="0" anchor="ctr"/>
          <a:lstStyle/>
          <a:p>
            <a:pPr marL="0" indent="0" algn="ct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General - RPS Data</a:t>
            </a:r>
            <a:endParaRPr lang="en-US" sz="800" dirty="0"/>
          </a:p>
        </p:txBody>
      </p:sp>
      <p:sp>
        <p:nvSpPr>
          <p:cNvPr id="4" name="Text 1"/>
          <p:cNvSpPr/>
          <p:nvPr/>
        </p:nvSpPr>
        <p:spPr>
          <a:xfrm>
            <a:off x="5029200" y="4910328"/>
            <a:ext cx="3931920" cy="201168"/>
          </a:xfrm>
          <a:prstGeom prst="rect">
            <a:avLst/>
          </a:prstGeom>
          <a:noFill/>
        </p:spPr>
        <p:txBody>
          <a:bodyPr wrap="square" rtlCol="0" anchor="ctr"/>
          <a:lstStyle/>
          <a:p>
            <a:pPr marL="0" indent="0" algn="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2026 - RPS Consulting all rights reserved    2</a:t>
            </a:r>
            <a:endParaRPr lang="en-US" sz="800" dirty="0"/>
          </a:p>
        </p:txBody>
      </p:sp>
      <p:sp>
        <p:nvSpPr>
          <p:cNvPr id="5" name="Text 2"/>
          <p:cNvSpPr/>
          <p:nvPr/>
        </p:nvSpPr>
        <p:spPr>
          <a:xfrm>
            <a:off x="457200" y="228600"/>
            <a:ext cx="8229600" cy="438912"/>
          </a:xfrm>
          <a:prstGeom prst="rect">
            <a:avLst/>
          </a:prstGeom>
          <a:noFill/>
        </p:spPr>
        <p:txBody>
          <a:bodyPr wrap="square" lIns="0" tIns="0" rIns="0" bIns="0" rtlCol="0" anchor="ctr"/>
          <a:lstStyle/>
          <a:p>
            <a:pPr marL="0" indent="0">
              <a:buNone/>
            </a:pPr>
            <a:r>
              <a:rPr lang="en-US" sz="2600" b="1" dirty="0">
                <a:solidFill>
                  <a:srgbClr val="0096CC"/>
                </a:solidFill>
                <a:latin typeface="Arial" panose="020B0604020202020204" pitchFamily="34" charset="0"/>
                <a:ea typeface="Arial" panose="020B0604020202020204" pitchFamily="34" charset="-122"/>
                <a:cs typeface="Arial" panose="020B0604020202020204" pitchFamily="34" charset="-120"/>
              </a:rPr>
              <a:t>Existing System</a:t>
            </a:r>
            <a:endParaRPr lang="en-US" sz="2600" dirty="0"/>
          </a:p>
        </p:txBody>
      </p:sp>
      <p:sp>
        <p:nvSpPr>
          <p:cNvPr id="6" name="Text 3"/>
          <p:cNvSpPr/>
          <p:nvPr/>
        </p:nvSpPr>
        <p:spPr>
          <a:xfrm>
            <a:off x="386080" y="804672"/>
            <a:ext cx="8229600" cy="320040"/>
          </a:xfrm>
          <a:prstGeom prst="rect">
            <a:avLst/>
          </a:prstGeom>
          <a:noFill/>
        </p:spPr>
        <p:txBody>
          <a:bodyPr wrap="square" rtlCol="0" anchor="ctr"/>
          <a:lstStyle/>
          <a:p>
            <a:pPr marL="0" indent="0">
              <a:buNone/>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In traditional parking systems:</a:t>
            </a:r>
            <a:endParaRPr lang="en-US" sz="1400" dirty="0"/>
          </a:p>
        </p:txBody>
      </p:sp>
      <p:sp>
        <p:nvSpPr>
          <p:cNvPr id="7" name="Text 4"/>
          <p:cNvSpPr/>
          <p:nvPr/>
        </p:nvSpPr>
        <p:spPr>
          <a:xfrm>
            <a:off x="386080" y="1217930"/>
            <a:ext cx="8229600" cy="2471420"/>
          </a:xfrm>
          <a:prstGeom prst="rect">
            <a:avLst/>
          </a:prstGeom>
          <a:noFill/>
        </p:spPr>
        <p:txBody>
          <a:bodyPr wrap="square" rtlCol="0" anchor="ctr"/>
          <a:lstStyle/>
          <a:p>
            <a:pPr marL="342900" indent="-342900">
              <a:spcAft>
                <a:spcPts val="6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Parking slots are assigned manually, causing delays and inefficient use of space.</a:t>
            </a:r>
            <a:endParaRPr lang="en-US" sz="1400" dirty="0"/>
          </a:p>
          <a:p>
            <a:pPr marL="342900" indent="-342900">
              <a:spcAft>
                <a:spcPts val="6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Drivers are forced to search for available spots without any real-time guidance.</a:t>
            </a:r>
            <a:endParaRPr lang="en-US" sz="1400" dirty="0"/>
          </a:p>
          <a:p>
            <a:pPr marL="342900" indent="-342900">
              <a:spcAft>
                <a:spcPts val="6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Parking records are maintained manually, making them error-prone and difficult to audit.</a:t>
            </a:r>
            <a:endParaRPr lang="en-US" sz="1400" dirty="0"/>
          </a:p>
          <a:p>
            <a:pPr marL="342900" indent="-342900">
              <a:spcAft>
                <a:spcPts val="6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Billing is computed by hand, leading to inconsistencies and revenue leakage.</a:t>
            </a:r>
            <a:endParaRPr lang="en-US" sz="1400" dirty="0"/>
          </a:p>
          <a:p>
            <a:pPr marL="342900" indent="-342900">
              <a:spcAft>
                <a:spcPts val="6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There is no real-time monitoring of parking slot availability for administrators.</a:t>
            </a:r>
            <a:endParaRPr lang="en-US" sz="1400" dirty="0"/>
          </a:p>
          <a:p>
            <a:pPr marL="342900" indent="-342900">
              <a:spcAft>
                <a:spcPts val="6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Overall parking management is inefficient and highly susceptible to human errors.</a:t>
            </a:r>
            <a:endParaRPr lang="en-US" sz="1400" dirty="0"/>
          </a:p>
          <a:p>
            <a:pPr marL="342900" indent="-342900">
              <a:spcAft>
                <a:spcPts val="6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These limitations lead to longer wait times, reduced throughput, and poor customer satisfaction.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274320" y="4553712"/>
            <a:ext cx="1005840" cy="402336"/>
          </a:xfrm>
          <a:prstGeom prst="rect">
            <a:avLst/>
          </a:prstGeom>
        </p:spPr>
      </p:pic>
      <p:sp>
        <p:nvSpPr>
          <p:cNvPr id="3" name="Text 0"/>
          <p:cNvSpPr/>
          <p:nvPr/>
        </p:nvSpPr>
        <p:spPr>
          <a:xfrm>
            <a:off x="3200400" y="4910328"/>
            <a:ext cx="2743200" cy="201168"/>
          </a:xfrm>
          <a:prstGeom prst="rect">
            <a:avLst/>
          </a:prstGeom>
          <a:noFill/>
        </p:spPr>
        <p:txBody>
          <a:bodyPr wrap="square" rtlCol="0" anchor="ctr"/>
          <a:lstStyle/>
          <a:p>
            <a:pPr marL="0" indent="0" algn="ct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General - RPS Data</a:t>
            </a:r>
            <a:endParaRPr lang="en-US" sz="800" dirty="0"/>
          </a:p>
        </p:txBody>
      </p:sp>
      <p:sp>
        <p:nvSpPr>
          <p:cNvPr id="4" name="Text 1"/>
          <p:cNvSpPr/>
          <p:nvPr/>
        </p:nvSpPr>
        <p:spPr>
          <a:xfrm>
            <a:off x="5029200" y="4910328"/>
            <a:ext cx="3931920" cy="201168"/>
          </a:xfrm>
          <a:prstGeom prst="rect">
            <a:avLst/>
          </a:prstGeom>
          <a:noFill/>
        </p:spPr>
        <p:txBody>
          <a:bodyPr wrap="square" rtlCol="0" anchor="ctr"/>
          <a:lstStyle/>
          <a:p>
            <a:pPr marL="0" indent="0" algn="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2026 - RPS Consulting all rights reserved    2</a:t>
            </a:r>
            <a:endParaRPr lang="en-US" sz="800" dirty="0"/>
          </a:p>
        </p:txBody>
      </p:sp>
      <p:sp>
        <p:nvSpPr>
          <p:cNvPr id="5" name="Text 2"/>
          <p:cNvSpPr/>
          <p:nvPr/>
        </p:nvSpPr>
        <p:spPr>
          <a:xfrm>
            <a:off x="457200" y="228600"/>
            <a:ext cx="8229600" cy="438912"/>
          </a:xfrm>
          <a:prstGeom prst="rect">
            <a:avLst/>
          </a:prstGeom>
          <a:noFill/>
        </p:spPr>
        <p:txBody>
          <a:bodyPr wrap="square" lIns="0" tIns="0" rIns="0" bIns="0" rtlCol="0" anchor="ctr"/>
          <a:lstStyle/>
          <a:p>
            <a:pPr marL="0" indent="0">
              <a:buNone/>
            </a:pPr>
            <a:r>
              <a:rPr lang="en-US" sz="2600" b="1" dirty="0">
                <a:solidFill>
                  <a:srgbClr val="0096CC"/>
                </a:solidFill>
                <a:latin typeface="Arial" panose="020B0604020202020204" pitchFamily="34" charset="0"/>
                <a:ea typeface="Arial" panose="020B0604020202020204" pitchFamily="34" charset="-122"/>
                <a:cs typeface="Arial" panose="020B0604020202020204" pitchFamily="34" charset="-120"/>
              </a:rPr>
              <a:t>Proposed System</a:t>
            </a:r>
            <a:endParaRPr lang="en-US" sz="2600" dirty="0"/>
          </a:p>
        </p:txBody>
      </p:sp>
      <p:sp>
        <p:nvSpPr>
          <p:cNvPr id="6" name="Text 3"/>
          <p:cNvSpPr/>
          <p:nvPr/>
        </p:nvSpPr>
        <p:spPr>
          <a:xfrm>
            <a:off x="365125" y="819785"/>
            <a:ext cx="8229600" cy="640080"/>
          </a:xfrm>
          <a:prstGeom prst="rect">
            <a:avLst/>
          </a:prstGeom>
          <a:noFill/>
        </p:spPr>
        <p:txBody>
          <a:bodyPr wrap="square" rtlCol="0" anchor="ctr"/>
          <a:lstStyle/>
          <a:p>
            <a:pPr marL="0" indent="0">
              <a:buNone/>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The proposed Smart Parking Management System fully automates the end-to-end parking workflow.</a:t>
            </a:r>
            <a:endParaRPr lang="en-US" sz="1400" dirty="0"/>
          </a:p>
          <a:p>
            <a:pPr marL="0" indent="0">
              <a:buNone/>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The system delivers:</a:t>
            </a:r>
            <a:endParaRPr lang="en-US" sz="1400" dirty="0"/>
          </a:p>
        </p:txBody>
      </p:sp>
      <p:sp>
        <p:nvSpPr>
          <p:cNvPr id="7" name="Text 4"/>
          <p:cNvSpPr/>
          <p:nvPr/>
        </p:nvSpPr>
        <p:spPr>
          <a:xfrm>
            <a:off x="365125" y="1508760"/>
            <a:ext cx="8229600" cy="2647315"/>
          </a:xfrm>
          <a:prstGeom prst="rect">
            <a:avLst/>
          </a:prstGeom>
          <a:noFill/>
        </p:spPr>
        <p:txBody>
          <a:bodyPr wrap="square" rtlCol="0" anchor="ctr"/>
          <a:lstStyle/>
          <a:p>
            <a:pPr marL="342900" indent="-342900">
              <a:spcAft>
                <a:spcPts val="4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Secure user registration and authentication.</a:t>
            </a:r>
            <a:endParaRPr lang="en-US" sz="1400" dirty="0"/>
          </a:p>
          <a:p>
            <a:pPr marL="342900" indent="-342900">
              <a:spcAft>
                <a:spcPts val="4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Vehicle details management and tracking.</a:t>
            </a:r>
            <a:endParaRPr lang="en-US" sz="1400" dirty="0"/>
          </a:p>
          <a:p>
            <a:pPr marL="342900" indent="-342900">
              <a:spcAft>
                <a:spcPts val="4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Parking lot and slot administration.</a:t>
            </a:r>
            <a:endParaRPr lang="en-US" sz="1400" dirty="0"/>
          </a:p>
          <a:p>
            <a:pPr marL="342900" indent="-342900">
              <a:spcAft>
                <a:spcPts val="4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Online slot reservation with real-time availability.</a:t>
            </a:r>
            <a:endParaRPr lang="en-US" sz="1400" dirty="0"/>
          </a:p>
          <a:p>
            <a:pPr marL="342900" indent="-342900">
              <a:spcAft>
                <a:spcPts val="4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Automated vehicle entry and exit logging.</a:t>
            </a:r>
            <a:endParaRPr lang="en-US" sz="1400" dirty="0"/>
          </a:p>
          <a:p>
            <a:pPr marL="342900" indent="-342900">
              <a:spcAft>
                <a:spcPts val="4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System-generated billing and integrated payment processing.</a:t>
            </a:r>
            <a:endParaRPr lang="en-US" sz="1400" dirty="0"/>
          </a:p>
          <a:p>
            <a:pPr marL="342900" indent="-342900">
              <a:spcAft>
                <a:spcPts val="4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Real-time monitoring of parking slot status.</a:t>
            </a:r>
            <a:endParaRPr lang="en-US" sz="1400" dirty="0"/>
          </a:p>
          <a:p>
            <a:pPr marL="342900" indent="-342900">
              <a:spcAft>
                <a:spcPts val="4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Comprehensive administrative dashboard for oversight and reporting.</a:t>
            </a:r>
            <a:endParaRPr lang="en-US" sz="1400" dirty="0"/>
          </a:p>
          <a:p>
            <a:pPr marL="342900" indent="-342900">
              <a:spcAft>
                <a:spcPts val="4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The solution is designed to be scalable, secure, and user-friendly.</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274320" y="4553712"/>
            <a:ext cx="1005840" cy="402336"/>
          </a:xfrm>
          <a:prstGeom prst="rect">
            <a:avLst/>
          </a:prstGeom>
        </p:spPr>
      </p:pic>
      <p:sp>
        <p:nvSpPr>
          <p:cNvPr id="3" name="Text 0"/>
          <p:cNvSpPr/>
          <p:nvPr/>
        </p:nvSpPr>
        <p:spPr>
          <a:xfrm>
            <a:off x="3200400" y="4910328"/>
            <a:ext cx="2743200" cy="201168"/>
          </a:xfrm>
          <a:prstGeom prst="rect">
            <a:avLst/>
          </a:prstGeom>
          <a:noFill/>
        </p:spPr>
        <p:txBody>
          <a:bodyPr wrap="square" rtlCol="0" anchor="ctr"/>
          <a:lstStyle/>
          <a:p>
            <a:pPr marL="0" indent="0" algn="ct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General - RPS Data</a:t>
            </a:r>
            <a:endParaRPr lang="en-US" sz="800" dirty="0"/>
          </a:p>
        </p:txBody>
      </p:sp>
      <p:sp>
        <p:nvSpPr>
          <p:cNvPr id="4" name="Text 1"/>
          <p:cNvSpPr/>
          <p:nvPr/>
        </p:nvSpPr>
        <p:spPr>
          <a:xfrm>
            <a:off x="5029200" y="4910328"/>
            <a:ext cx="3931920" cy="201168"/>
          </a:xfrm>
          <a:prstGeom prst="rect">
            <a:avLst/>
          </a:prstGeom>
          <a:noFill/>
        </p:spPr>
        <p:txBody>
          <a:bodyPr wrap="square" rtlCol="0" anchor="ctr"/>
          <a:lstStyle/>
          <a:p>
            <a:pPr marL="0" indent="0" algn="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2026 - RPS Consulting all rights reserved    2</a:t>
            </a:r>
            <a:endParaRPr lang="en-US" sz="800" dirty="0"/>
          </a:p>
        </p:txBody>
      </p:sp>
      <p:sp>
        <p:nvSpPr>
          <p:cNvPr id="5" name="Text 2"/>
          <p:cNvSpPr/>
          <p:nvPr/>
        </p:nvSpPr>
        <p:spPr>
          <a:xfrm>
            <a:off x="457200" y="228600"/>
            <a:ext cx="8229600" cy="438912"/>
          </a:xfrm>
          <a:prstGeom prst="rect">
            <a:avLst/>
          </a:prstGeom>
          <a:noFill/>
        </p:spPr>
        <p:txBody>
          <a:bodyPr wrap="square" lIns="0" tIns="0" rIns="0" bIns="0" rtlCol="0" anchor="ctr"/>
          <a:lstStyle/>
          <a:p>
            <a:pPr marL="0" indent="0">
              <a:buNone/>
            </a:pPr>
            <a:r>
              <a:rPr lang="en-US" sz="2600" b="1" dirty="0">
                <a:solidFill>
                  <a:srgbClr val="0096CC"/>
                </a:solidFill>
                <a:latin typeface="Arial" panose="020B0604020202020204" pitchFamily="34" charset="0"/>
                <a:ea typeface="Arial" panose="020B0604020202020204" pitchFamily="34" charset="-122"/>
                <a:cs typeface="Arial" panose="020B0604020202020204" pitchFamily="34" charset="-120"/>
              </a:rPr>
              <a:t>Project Objectives</a:t>
            </a:r>
            <a:endParaRPr lang="en-US" sz="2600" dirty="0"/>
          </a:p>
        </p:txBody>
      </p:sp>
      <p:sp>
        <p:nvSpPr>
          <p:cNvPr id="6" name="Text 3"/>
          <p:cNvSpPr/>
          <p:nvPr/>
        </p:nvSpPr>
        <p:spPr>
          <a:xfrm>
            <a:off x="457200" y="823087"/>
            <a:ext cx="8229600" cy="347472"/>
          </a:xfrm>
          <a:prstGeom prst="rect">
            <a:avLst/>
          </a:prstGeom>
          <a:noFill/>
        </p:spPr>
        <p:txBody>
          <a:bodyPr wrap="square" lIns="0" tIns="0" rIns="0" bIns="0" rtlCol="0" anchor="ctr"/>
          <a:lstStyle/>
          <a:p>
            <a:pPr marL="0" indent="0">
              <a:buNone/>
            </a:pPr>
            <a:r>
              <a:rPr lang="en-US" sz="1800" b="1" dirty="0">
                <a:solidFill>
                  <a:srgbClr val="0096CC"/>
                </a:solidFill>
                <a:latin typeface="Arial" panose="020B0604020202020204" pitchFamily="34" charset="0"/>
                <a:ea typeface="Arial" panose="020B0604020202020204" pitchFamily="34" charset="-122"/>
                <a:cs typeface="Arial" panose="020B0604020202020204" pitchFamily="34" charset="-120"/>
              </a:rPr>
              <a:t>Objectives</a:t>
            </a:r>
            <a:endParaRPr lang="en-US" sz="1800" dirty="0"/>
          </a:p>
        </p:txBody>
      </p:sp>
      <p:sp>
        <p:nvSpPr>
          <p:cNvPr id="7" name="Text 4"/>
          <p:cNvSpPr/>
          <p:nvPr/>
        </p:nvSpPr>
        <p:spPr>
          <a:xfrm>
            <a:off x="364490" y="1170305"/>
            <a:ext cx="8229600" cy="2797810"/>
          </a:xfrm>
          <a:prstGeom prst="rect">
            <a:avLst/>
          </a:prstGeom>
          <a:noFill/>
        </p:spPr>
        <p:txBody>
          <a:bodyPr wrap="square" rtlCol="0" anchor="ctr"/>
          <a:lstStyle/>
          <a:p>
            <a:pPr marL="342900" indent="-342900">
              <a:spcAft>
                <a:spcPts val="6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Automate parking slot allocation and optimize space utilization.</a:t>
            </a:r>
            <a:endParaRPr lang="en-US" sz="1400" dirty="0"/>
          </a:p>
          <a:p>
            <a:pPr marL="342900" indent="-342900">
              <a:spcAft>
                <a:spcPts val="6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Manage and log vehicle entry and exit with accuracy.</a:t>
            </a:r>
            <a:endParaRPr lang="en-US" sz="1400" dirty="0"/>
          </a:p>
          <a:p>
            <a:pPr marL="342900" indent="-342900">
              <a:spcAft>
                <a:spcPts val="6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Provide an online reservation facility for advance slot booking.</a:t>
            </a:r>
            <a:endParaRPr lang="en-US" sz="1400" dirty="0"/>
          </a:p>
          <a:p>
            <a:pPr marL="342900" indent="-342900">
              <a:spcAft>
                <a:spcPts val="6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Generate billing statements automatically based on parking duration.</a:t>
            </a:r>
            <a:endParaRPr lang="en-US" sz="1400" dirty="0"/>
          </a:p>
          <a:p>
            <a:pPr marL="342900" indent="-342900">
              <a:spcAft>
                <a:spcPts val="6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Maintain structured parking records for auditing and reporting.</a:t>
            </a:r>
            <a:endParaRPr lang="en-US" sz="1400" dirty="0"/>
          </a:p>
          <a:p>
            <a:pPr marL="342900" indent="-342900">
              <a:spcAft>
                <a:spcPts val="6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Enable secure user authentication and role-based authorization.</a:t>
            </a:r>
            <a:endParaRPr lang="en-US" sz="1400" dirty="0"/>
          </a:p>
          <a:p>
            <a:pPr marL="342900" indent="-342900">
              <a:spcAft>
                <a:spcPts val="6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Deploy the application using Docker containers and Kubernetes orchestration.</a:t>
            </a:r>
            <a:endParaRPr lang="en-US" sz="1400" dirty="0"/>
          </a:p>
          <a:p>
            <a:pPr marL="342900" indent="-342900">
              <a:spcAft>
                <a:spcPts val="6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Automate the build and deployment pipeline using Jenkins CI/CD.</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274320" y="4553712"/>
            <a:ext cx="1005840" cy="402336"/>
          </a:xfrm>
          <a:prstGeom prst="rect">
            <a:avLst/>
          </a:prstGeom>
        </p:spPr>
      </p:pic>
      <p:sp>
        <p:nvSpPr>
          <p:cNvPr id="3" name="Text 0"/>
          <p:cNvSpPr/>
          <p:nvPr/>
        </p:nvSpPr>
        <p:spPr>
          <a:xfrm>
            <a:off x="3200400" y="4910328"/>
            <a:ext cx="2743200" cy="201168"/>
          </a:xfrm>
          <a:prstGeom prst="rect">
            <a:avLst/>
          </a:prstGeom>
          <a:noFill/>
        </p:spPr>
        <p:txBody>
          <a:bodyPr wrap="square" rtlCol="0" anchor="ctr"/>
          <a:lstStyle/>
          <a:p>
            <a:pPr marL="0" indent="0" algn="ct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General - RPS Data</a:t>
            </a:r>
            <a:endParaRPr lang="en-US" sz="800" dirty="0"/>
          </a:p>
        </p:txBody>
      </p:sp>
      <p:sp>
        <p:nvSpPr>
          <p:cNvPr id="4" name="Text 1"/>
          <p:cNvSpPr/>
          <p:nvPr/>
        </p:nvSpPr>
        <p:spPr>
          <a:xfrm>
            <a:off x="5029200" y="4910328"/>
            <a:ext cx="3931920" cy="201168"/>
          </a:xfrm>
          <a:prstGeom prst="rect">
            <a:avLst/>
          </a:prstGeom>
          <a:noFill/>
        </p:spPr>
        <p:txBody>
          <a:bodyPr wrap="square" rtlCol="0" anchor="ctr"/>
          <a:lstStyle/>
          <a:p>
            <a:pPr marL="0" indent="0" algn="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2026 - RPS Consulting all rights reserved    2</a:t>
            </a:r>
            <a:endParaRPr lang="en-US" sz="800" dirty="0"/>
          </a:p>
        </p:txBody>
      </p:sp>
      <p:sp>
        <p:nvSpPr>
          <p:cNvPr id="5" name="Text 2"/>
          <p:cNvSpPr/>
          <p:nvPr/>
        </p:nvSpPr>
        <p:spPr>
          <a:xfrm>
            <a:off x="457200" y="164592"/>
            <a:ext cx="8229600" cy="411480"/>
          </a:xfrm>
          <a:prstGeom prst="rect">
            <a:avLst/>
          </a:prstGeom>
          <a:noFill/>
        </p:spPr>
        <p:txBody>
          <a:bodyPr wrap="square" lIns="0" tIns="0" rIns="0" bIns="0" rtlCol="0" anchor="ctr"/>
          <a:lstStyle/>
          <a:p>
            <a:pPr marL="0" indent="0">
              <a:buNone/>
            </a:pPr>
            <a:r>
              <a:rPr lang="en-US" sz="2600" b="1" dirty="0">
                <a:solidFill>
                  <a:srgbClr val="0096CC"/>
                </a:solidFill>
                <a:latin typeface="Arial" panose="020B0604020202020204" pitchFamily="34" charset="0"/>
                <a:ea typeface="Arial" panose="020B0604020202020204" pitchFamily="34" charset="-122"/>
                <a:cs typeface="Arial" panose="020B0604020202020204" pitchFamily="34" charset="-120"/>
              </a:rPr>
              <a:t>System Architecture</a:t>
            </a:r>
            <a:endParaRPr lang="en-US" sz="2600" dirty="0"/>
          </a:p>
        </p:txBody>
      </p:sp>
      <p:sp>
        <p:nvSpPr>
          <p:cNvPr id="6" name="Text 3"/>
          <p:cNvSpPr/>
          <p:nvPr/>
        </p:nvSpPr>
        <p:spPr>
          <a:xfrm>
            <a:off x="438785" y="721995"/>
            <a:ext cx="8229600" cy="292608"/>
          </a:xfrm>
          <a:prstGeom prst="rect">
            <a:avLst/>
          </a:prstGeom>
          <a:noFill/>
        </p:spPr>
        <p:txBody>
          <a:bodyPr wrap="square" lIns="0" tIns="0" rIns="0" bIns="0" rtlCol="0" anchor="ctr"/>
          <a:lstStyle/>
          <a:p>
            <a:pPr marL="0" indent="0">
              <a:buNone/>
            </a:pPr>
            <a:r>
              <a:rPr lang="en-US" sz="1600" b="1" dirty="0">
                <a:solidFill>
                  <a:srgbClr val="0096CC"/>
                </a:solidFill>
                <a:latin typeface="Arial" panose="020B0604020202020204" pitchFamily="34" charset="0"/>
                <a:ea typeface="Arial" panose="020B0604020202020204" pitchFamily="34" charset="-122"/>
                <a:cs typeface="Arial" panose="020B0604020202020204" pitchFamily="34" charset="-120"/>
              </a:rPr>
              <a:t>Objectives</a:t>
            </a:r>
            <a:endParaRPr lang="en-US" sz="1600" dirty="0"/>
          </a:p>
        </p:txBody>
      </p:sp>
      <p:sp>
        <p:nvSpPr>
          <p:cNvPr id="7" name="Text 4"/>
          <p:cNvSpPr/>
          <p:nvPr/>
        </p:nvSpPr>
        <p:spPr>
          <a:xfrm>
            <a:off x="1371600" y="960120"/>
            <a:ext cx="6400800" cy="320040"/>
          </a:xfrm>
          <a:prstGeom prst="rect">
            <a:avLst/>
          </a:prstGeom>
          <a:noFill/>
        </p:spPr>
        <p:txBody>
          <a:bodyPr wrap="square" rtlCol="0" anchor="ctr"/>
          <a:lstStyle/>
          <a:p>
            <a:pPr marL="0" indent="0" algn="ctr">
              <a:buNone/>
            </a:pPr>
            <a:r>
              <a:rPr lang="en-US" sz="1600" b="1" dirty="0">
                <a:solidFill>
                  <a:srgbClr val="333333"/>
                </a:solidFill>
                <a:latin typeface="Arial" panose="020B0604020202020204" pitchFamily="34" charset="0"/>
                <a:ea typeface="Arial" panose="020B0604020202020204" pitchFamily="34" charset="-122"/>
                <a:cs typeface="Arial" panose="020B0604020202020204" pitchFamily="34" charset="-120"/>
              </a:rPr>
              <a:t>THREE – TIER ARCHITECTURE</a:t>
            </a:r>
            <a:endParaRPr lang="en-US" sz="1600" dirty="0"/>
          </a:p>
        </p:txBody>
      </p:sp>
      <p:sp>
        <p:nvSpPr>
          <p:cNvPr id="8" name="Text 5"/>
          <p:cNvSpPr/>
          <p:nvPr/>
        </p:nvSpPr>
        <p:spPr>
          <a:xfrm>
            <a:off x="1371600" y="1261872"/>
            <a:ext cx="6400800" cy="256032"/>
          </a:xfrm>
          <a:prstGeom prst="rect">
            <a:avLst/>
          </a:prstGeom>
          <a:noFill/>
        </p:spPr>
        <p:txBody>
          <a:bodyPr wrap="square" rtlCol="0" anchor="ctr"/>
          <a:lstStyle/>
          <a:p>
            <a:pPr marL="0" indent="0" algn="ctr">
              <a:buNone/>
            </a:pPr>
            <a:r>
              <a:rPr lang="en-US" sz="1200" dirty="0">
                <a:solidFill>
                  <a:srgbClr val="888888"/>
                </a:solidFill>
                <a:latin typeface="Arial" panose="020B0604020202020204" pitchFamily="34" charset="0"/>
                <a:ea typeface="Arial" panose="020B0604020202020204" pitchFamily="34" charset="-122"/>
                <a:cs typeface="Arial" panose="020B0604020202020204" pitchFamily="34" charset="-120"/>
              </a:rPr>
              <a:t>Smart Parking Management System</a:t>
            </a:r>
            <a:endParaRPr lang="en-US" sz="1200" dirty="0"/>
          </a:p>
        </p:txBody>
      </p:sp>
      <p:sp>
        <p:nvSpPr>
          <p:cNvPr id="9" name="Shape 6"/>
          <p:cNvSpPr/>
          <p:nvPr/>
        </p:nvSpPr>
        <p:spPr>
          <a:xfrm>
            <a:off x="365760" y="1572768"/>
            <a:ext cx="2377440" cy="475488"/>
          </a:xfrm>
          <a:prstGeom prst="rect">
            <a:avLst/>
          </a:prstGeom>
          <a:solidFill>
            <a:srgbClr val="4472C4"/>
          </a:solidFill>
          <a:ln w="12700">
            <a:solidFill>
              <a:srgbClr val="4472C4"/>
            </a:solidFill>
            <a:prstDash val="solid"/>
          </a:ln>
        </p:spPr>
      </p:sp>
      <p:sp>
        <p:nvSpPr>
          <p:cNvPr id="10" name="Text 7"/>
          <p:cNvSpPr/>
          <p:nvPr/>
        </p:nvSpPr>
        <p:spPr>
          <a:xfrm>
            <a:off x="365760" y="1572768"/>
            <a:ext cx="2377440" cy="475488"/>
          </a:xfrm>
          <a:prstGeom prst="rect">
            <a:avLst/>
          </a:prstGeom>
          <a:noFill/>
        </p:spPr>
        <p:txBody>
          <a:bodyPr wrap="square" lIns="25400" tIns="25400" rIns="25400" bIns="25400" rtlCol="0" anchor="ctr"/>
          <a:lstStyle/>
          <a:p>
            <a:pPr marL="0" indent="0" algn="ctr">
              <a:buNone/>
            </a:pPr>
            <a:r>
              <a:rPr lang="en-US" sz="950" b="1" dirty="0">
                <a:solidFill>
                  <a:srgbClr val="FFFFFF"/>
                </a:solidFill>
                <a:latin typeface="Arial" panose="020B0604020202020204" pitchFamily="34" charset="0"/>
                <a:ea typeface="Arial" panose="020B0604020202020204" pitchFamily="34" charset="-122"/>
                <a:cs typeface="Arial" panose="020B0604020202020204" pitchFamily="34" charset="-120"/>
              </a:rPr>
              <a:t>PRESENTATION LAYER</a:t>
            </a:r>
            <a:endParaRPr lang="en-US" sz="950" dirty="0"/>
          </a:p>
          <a:p>
            <a:pPr marL="0" indent="0" algn="ctr">
              <a:buNone/>
            </a:pPr>
            <a:r>
              <a:rPr lang="en-US" sz="950" b="1" dirty="0">
                <a:solidFill>
                  <a:srgbClr val="FFFFFF"/>
                </a:solidFill>
                <a:latin typeface="Arial" panose="020B0604020202020204" pitchFamily="34" charset="0"/>
                <a:ea typeface="Arial" panose="020B0604020202020204" pitchFamily="34" charset="-122"/>
                <a:cs typeface="Arial" panose="020B0604020202020204" pitchFamily="34" charset="-120"/>
              </a:rPr>
              <a:t>(Thymeleaf)</a:t>
            </a:r>
            <a:endParaRPr lang="en-US" sz="950" dirty="0"/>
          </a:p>
        </p:txBody>
      </p:sp>
      <p:sp>
        <p:nvSpPr>
          <p:cNvPr id="11" name="Shape 8"/>
          <p:cNvSpPr/>
          <p:nvPr/>
        </p:nvSpPr>
        <p:spPr>
          <a:xfrm>
            <a:off x="365760" y="2048256"/>
            <a:ext cx="2377440" cy="1901952"/>
          </a:xfrm>
          <a:prstGeom prst="rect">
            <a:avLst/>
          </a:prstGeom>
          <a:solidFill>
            <a:srgbClr val="F4F4F4"/>
          </a:solidFill>
          <a:ln w="12700">
            <a:solidFill>
              <a:srgbClr val="CCCCCC"/>
            </a:solidFill>
            <a:prstDash val="solid"/>
          </a:ln>
        </p:spPr>
      </p:sp>
      <p:sp>
        <p:nvSpPr>
          <p:cNvPr id="12" name="Text 9"/>
          <p:cNvSpPr/>
          <p:nvPr/>
        </p:nvSpPr>
        <p:spPr>
          <a:xfrm>
            <a:off x="438912" y="2121408"/>
            <a:ext cx="2231136" cy="1737360"/>
          </a:xfrm>
          <a:prstGeom prst="rect">
            <a:avLst/>
          </a:prstGeom>
          <a:noFill/>
        </p:spPr>
        <p:txBody>
          <a:bodyPr wrap="square" rtlCol="0" anchor="t"/>
          <a:lstStyle/>
          <a:p>
            <a:pPr marL="0" indent="0">
              <a:buNone/>
            </a:pPr>
            <a:r>
              <a:rPr lang="en-US" sz="1000" dirty="0">
                <a:solidFill>
                  <a:srgbClr val="333333"/>
                </a:solidFill>
                <a:latin typeface="Arial" panose="020B0604020202020204" pitchFamily="34" charset="0"/>
                <a:ea typeface="Arial" panose="020B0604020202020204" pitchFamily="34" charset="-122"/>
                <a:cs typeface="Arial" panose="020B0604020202020204" pitchFamily="34" charset="-120"/>
              </a:rPr>
              <a:t>• User Interface</a:t>
            </a:r>
            <a:endParaRPr lang="en-US" sz="1000" dirty="0"/>
          </a:p>
          <a:p>
            <a:pPr marL="0" indent="0">
              <a:buNone/>
            </a:pPr>
            <a:r>
              <a:rPr lang="en-US" sz="1000" dirty="0">
                <a:solidFill>
                  <a:srgbClr val="333333"/>
                </a:solidFill>
                <a:latin typeface="Arial" panose="020B0604020202020204" pitchFamily="34" charset="0"/>
                <a:ea typeface="Arial" panose="020B0604020202020204" pitchFamily="34" charset="-122"/>
                <a:cs typeface="Arial" panose="020B0604020202020204" pitchFamily="34" charset="-120"/>
              </a:rPr>
              <a:t>• Form Validation</a:t>
            </a:r>
            <a:endParaRPr lang="en-US" sz="1000" dirty="0"/>
          </a:p>
          <a:p>
            <a:pPr marL="0" indent="0">
              <a:buNone/>
            </a:pPr>
            <a:r>
              <a:rPr lang="en-US" sz="1000" dirty="0">
                <a:solidFill>
                  <a:srgbClr val="333333"/>
                </a:solidFill>
                <a:latin typeface="Arial" panose="020B0604020202020204" pitchFamily="34" charset="0"/>
                <a:ea typeface="Arial" panose="020B0604020202020204" pitchFamily="34" charset="-122"/>
                <a:cs typeface="Arial" panose="020B0604020202020204" pitchFamily="34" charset="-120"/>
              </a:rPr>
              <a:t>• Server-side Rendering</a:t>
            </a:r>
            <a:endParaRPr lang="en-US" sz="1000" dirty="0"/>
          </a:p>
          <a:p>
            <a:pPr marL="0" indent="0">
              <a:buNone/>
            </a:pPr>
            <a:r>
              <a:rPr lang="en-US" sz="1000" dirty="0">
                <a:solidFill>
                  <a:srgbClr val="333333"/>
                </a:solidFill>
                <a:latin typeface="Arial" panose="020B0604020202020204" pitchFamily="34" charset="0"/>
                <a:ea typeface="Arial" panose="020B0604020202020204" pitchFamily="34" charset="-122"/>
                <a:cs typeface="Arial" panose="020B0604020202020204" pitchFamily="34" charset="-120"/>
              </a:rPr>
              <a:t>• Dashboard Visualization</a:t>
            </a:r>
            <a:endParaRPr lang="en-US" sz="1000" dirty="0"/>
          </a:p>
        </p:txBody>
      </p:sp>
      <p:sp>
        <p:nvSpPr>
          <p:cNvPr id="13" name="Shape 10"/>
          <p:cNvSpPr/>
          <p:nvPr/>
        </p:nvSpPr>
        <p:spPr>
          <a:xfrm>
            <a:off x="3383280" y="1572768"/>
            <a:ext cx="2377440" cy="475488"/>
          </a:xfrm>
          <a:prstGeom prst="rect">
            <a:avLst/>
          </a:prstGeom>
          <a:solidFill>
            <a:srgbClr val="9370DB"/>
          </a:solidFill>
          <a:ln w="12700">
            <a:solidFill>
              <a:srgbClr val="9370DB"/>
            </a:solidFill>
            <a:prstDash val="solid"/>
          </a:ln>
        </p:spPr>
      </p:sp>
      <p:sp>
        <p:nvSpPr>
          <p:cNvPr id="14" name="Text 11"/>
          <p:cNvSpPr/>
          <p:nvPr/>
        </p:nvSpPr>
        <p:spPr>
          <a:xfrm>
            <a:off x="3383280" y="1572768"/>
            <a:ext cx="2377440" cy="475488"/>
          </a:xfrm>
          <a:prstGeom prst="rect">
            <a:avLst/>
          </a:prstGeom>
          <a:noFill/>
        </p:spPr>
        <p:txBody>
          <a:bodyPr wrap="square" lIns="25400" tIns="25400" rIns="25400" bIns="25400" rtlCol="0" anchor="ctr"/>
          <a:lstStyle/>
          <a:p>
            <a:pPr marL="0" indent="0" algn="ctr">
              <a:buNone/>
            </a:pPr>
            <a:r>
              <a:rPr lang="en-US" sz="950" b="1" dirty="0">
                <a:solidFill>
                  <a:srgbClr val="FFFFFF"/>
                </a:solidFill>
                <a:latin typeface="Arial" panose="020B0604020202020204" pitchFamily="34" charset="0"/>
                <a:ea typeface="Arial" panose="020B0604020202020204" pitchFamily="34" charset="-122"/>
                <a:cs typeface="Arial" panose="020B0604020202020204" pitchFamily="34" charset="-120"/>
              </a:rPr>
              <a:t>BUSINESS LAYER</a:t>
            </a:r>
            <a:endParaRPr lang="en-US" sz="950" dirty="0"/>
          </a:p>
          <a:p>
            <a:pPr marL="0" indent="0" algn="ctr">
              <a:buNone/>
            </a:pPr>
            <a:r>
              <a:rPr lang="en-US" sz="950" b="1" dirty="0">
                <a:solidFill>
                  <a:srgbClr val="FFFFFF"/>
                </a:solidFill>
                <a:latin typeface="Arial" panose="020B0604020202020204" pitchFamily="34" charset="0"/>
                <a:ea typeface="Arial" panose="020B0604020202020204" pitchFamily="34" charset="-122"/>
                <a:cs typeface="Arial" panose="020B0604020202020204" pitchFamily="34" charset="-120"/>
              </a:rPr>
              <a:t>(Spring Boot)</a:t>
            </a:r>
            <a:endParaRPr lang="en-US" sz="950" dirty="0"/>
          </a:p>
        </p:txBody>
      </p:sp>
      <p:sp>
        <p:nvSpPr>
          <p:cNvPr id="15" name="Shape 12"/>
          <p:cNvSpPr/>
          <p:nvPr/>
        </p:nvSpPr>
        <p:spPr>
          <a:xfrm>
            <a:off x="3383280" y="2048256"/>
            <a:ext cx="2377440" cy="1901952"/>
          </a:xfrm>
          <a:prstGeom prst="rect">
            <a:avLst/>
          </a:prstGeom>
          <a:solidFill>
            <a:srgbClr val="F4F4F4"/>
          </a:solidFill>
          <a:ln w="12700">
            <a:solidFill>
              <a:srgbClr val="CCCCCC"/>
            </a:solidFill>
            <a:prstDash val="solid"/>
          </a:ln>
        </p:spPr>
      </p:sp>
      <p:sp>
        <p:nvSpPr>
          <p:cNvPr id="16" name="Text 13"/>
          <p:cNvSpPr/>
          <p:nvPr/>
        </p:nvSpPr>
        <p:spPr>
          <a:xfrm>
            <a:off x="3456432" y="2121408"/>
            <a:ext cx="2231136" cy="1737360"/>
          </a:xfrm>
          <a:prstGeom prst="rect">
            <a:avLst/>
          </a:prstGeom>
          <a:noFill/>
        </p:spPr>
        <p:txBody>
          <a:bodyPr wrap="square" rtlCol="0" anchor="t"/>
          <a:lstStyle/>
          <a:p>
            <a:pPr marL="0" indent="0">
              <a:buNone/>
            </a:pPr>
            <a:r>
              <a:rPr lang="en-US" sz="1000" dirty="0">
                <a:solidFill>
                  <a:srgbClr val="333333"/>
                </a:solidFill>
                <a:latin typeface="Arial" panose="020B0604020202020204" pitchFamily="34" charset="0"/>
                <a:ea typeface="Arial" panose="020B0604020202020204" pitchFamily="34" charset="-122"/>
                <a:cs typeface="Arial" panose="020B0604020202020204" pitchFamily="34" charset="-120"/>
              </a:rPr>
              <a:t>• Business Logic</a:t>
            </a:r>
            <a:endParaRPr lang="en-US" sz="1000" dirty="0"/>
          </a:p>
          <a:p>
            <a:pPr marL="0" indent="0">
              <a:buNone/>
            </a:pPr>
            <a:r>
              <a:rPr lang="en-US" sz="1000" dirty="0">
                <a:solidFill>
                  <a:srgbClr val="333333"/>
                </a:solidFill>
                <a:latin typeface="Arial" panose="020B0604020202020204" pitchFamily="34" charset="0"/>
                <a:ea typeface="Arial" panose="020B0604020202020204" pitchFamily="34" charset="-122"/>
                <a:cs typeface="Arial" panose="020B0604020202020204" pitchFamily="34" charset="-120"/>
              </a:rPr>
              <a:t>• Authentication</a:t>
            </a:r>
            <a:endParaRPr lang="en-US" sz="1000" dirty="0"/>
          </a:p>
          <a:p>
            <a:pPr marL="0" indent="0">
              <a:buNone/>
            </a:pPr>
            <a:r>
              <a:rPr lang="en-US" sz="1000" dirty="0">
                <a:solidFill>
                  <a:srgbClr val="333333"/>
                </a:solidFill>
                <a:latin typeface="Arial" panose="020B0604020202020204" pitchFamily="34" charset="0"/>
                <a:ea typeface="Arial" panose="020B0604020202020204" pitchFamily="34" charset="-122"/>
                <a:cs typeface="Arial" panose="020B0604020202020204" pitchFamily="34" charset="-120"/>
              </a:rPr>
              <a:t>• Authorization</a:t>
            </a:r>
            <a:endParaRPr lang="en-US" sz="1000" dirty="0"/>
          </a:p>
          <a:p>
            <a:pPr marL="0" indent="0">
              <a:buNone/>
            </a:pPr>
            <a:r>
              <a:rPr lang="en-US" sz="1000" dirty="0">
                <a:solidFill>
                  <a:srgbClr val="333333"/>
                </a:solidFill>
                <a:latin typeface="Arial" panose="020B0604020202020204" pitchFamily="34" charset="0"/>
                <a:ea typeface="Arial" panose="020B0604020202020204" pitchFamily="34" charset="-122"/>
                <a:cs typeface="Arial" panose="020B0604020202020204" pitchFamily="34" charset="-120"/>
              </a:rPr>
              <a:t>• Reservation Processing</a:t>
            </a:r>
            <a:endParaRPr lang="en-US" sz="1000" dirty="0"/>
          </a:p>
          <a:p>
            <a:pPr marL="0" indent="0">
              <a:buNone/>
            </a:pPr>
            <a:r>
              <a:rPr lang="en-US" sz="1000" dirty="0">
                <a:solidFill>
                  <a:srgbClr val="333333"/>
                </a:solidFill>
                <a:latin typeface="Arial" panose="020B0604020202020204" pitchFamily="34" charset="0"/>
                <a:ea typeface="Arial" panose="020B0604020202020204" pitchFamily="34" charset="-122"/>
                <a:cs typeface="Arial" panose="020B0604020202020204" pitchFamily="34" charset="-120"/>
              </a:rPr>
              <a:t>• Billing Calculation</a:t>
            </a:r>
            <a:endParaRPr lang="en-US" sz="1000" dirty="0"/>
          </a:p>
          <a:p>
            <a:pPr marL="0" indent="0">
              <a:buNone/>
            </a:pPr>
            <a:r>
              <a:rPr lang="en-US" sz="1000" dirty="0">
                <a:solidFill>
                  <a:srgbClr val="333333"/>
                </a:solidFill>
                <a:latin typeface="Arial" panose="020B0604020202020204" pitchFamily="34" charset="0"/>
                <a:ea typeface="Arial" panose="020B0604020202020204" pitchFamily="34" charset="-122"/>
                <a:cs typeface="Arial" panose="020B0604020202020204" pitchFamily="34" charset="-120"/>
              </a:rPr>
              <a:t>• Parking Allocation</a:t>
            </a:r>
            <a:endParaRPr lang="en-US" sz="1000" dirty="0"/>
          </a:p>
        </p:txBody>
      </p:sp>
      <p:sp>
        <p:nvSpPr>
          <p:cNvPr id="17" name="Shape 14"/>
          <p:cNvSpPr/>
          <p:nvPr/>
        </p:nvSpPr>
        <p:spPr>
          <a:xfrm>
            <a:off x="6400800" y="1572768"/>
            <a:ext cx="2377440" cy="475488"/>
          </a:xfrm>
          <a:prstGeom prst="rect">
            <a:avLst/>
          </a:prstGeom>
          <a:solidFill>
            <a:srgbClr val="17A589"/>
          </a:solidFill>
          <a:ln w="12700">
            <a:solidFill>
              <a:srgbClr val="17A589"/>
            </a:solidFill>
            <a:prstDash val="solid"/>
          </a:ln>
        </p:spPr>
      </p:sp>
      <p:sp>
        <p:nvSpPr>
          <p:cNvPr id="18" name="Text 15"/>
          <p:cNvSpPr/>
          <p:nvPr/>
        </p:nvSpPr>
        <p:spPr>
          <a:xfrm>
            <a:off x="6400800" y="1572768"/>
            <a:ext cx="2377440" cy="475488"/>
          </a:xfrm>
          <a:prstGeom prst="rect">
            <a:avLst/>
          </a:prstGeom>
          <a:noFill/>
        </p:spPr>
        <p:txBody>
          <a:bodyPr wrap="square" lIns="25400" tIns="25400" rIns="25400" bIns="25400" rtlCol="0" anchor="ctr"/>
          <a:lstStyle/>
          <a:p>
            <a:pPr marL="0" indent="0" algn="ctr">
              <a:buNone/>
            </a:pPr>
            <a:r>
              <a:rPr lang="en-US" sz="950" b="1" dirty="0">
                <a:solidFill>
                  <a:srgbClr val="FFFFFF"/>
                </a:solidFill>
                <a:latin typeface="Arial" panose="020B0604020202020204" pitchFamily="34" charset="0"/>
                <a:ea typeface="Arial" panose="020B0604020202020204" pitchFamily="34" charset="-122"/>
                <a:cs typeface="Arial" panose="020B0604020202020204" pitchFamily="34" charset="-120"/>
              </a:rPr>
              <a:t>DATA LAYER</a:t>
            </a:r>
            <a:endParaRPr lang="en-US" sz="950" dirty="0"/>
          </a:p>
          <a:p>
            <a:pPr marL="0" indent="0" algn="ctr">
              <a:buNone/>
            </a:pPr>
            <a:r>
              <a:rPr lang="en-US" sz="950" b="1" dirty="0">
                <a:solidFill>
                  <a:srgbClr val="FFFFFF"/>
                </a:solidFill>
                <a:latin typeface="Arial" panose="020B0604020202020204" pitchFamily="34" charset="0"/>
                <a:ea typeface="Arial" panose="020B0604020202020204" pitchFamily="34" charset="-122"/>
                <a:cs typeface="Arial" panose="020B0604020202020204" pitchFamily="34" charset="-120"/>
              </a:rPr>
              <a:t>(MySQL)</a:t>
            </a:r>
            <a:endParaRPr lang="en-US" sz="950" dirty="0"/>
          </a:p>
        </p:txBody>
      </p:sp>
      <p:sp>
        <p:nvSpPr>
          <p:cNvPr id="19" name="Shape 16"/>
          <p:cNvSpPr/>
          <p:nvPr/>
        </p:nvSpPr>
        <p:spPr>
          <a:xfrm>
            <a:off x="6400800" y="2048256"/>
            <a:ext cx="2377440" cy="1901952"/>
          </a:xfrm>
          <a:prstGeom prst="rect">
            <a:avLst/>
          </a:prstGeom>
          <a:solidFill>
            <a:srgbClr val="F4F4F4"/>
          </a:solidFill>
          <a:ln w="12700">
            <a:solidFill>
              <a:srgbClr val="CCCCCC"/>
            </a:solidFill>
            <a:prstDash val="solid"/>
          </a:ln>
        </p:spPr>
      </p:sp>
      <p:sp>
        <p:nvSpPr>
          <p:cNvPr id="20" name="Text 17"/>
          <p:cNvSpPr/>
          <p:nvPr/>
        </p:nvSpPr>
        <p:spPr>
          <a:xfrm>
            <a:off x="6473952" y="2121408"/>
            <a:ext cx="2231136" cy="1737360"/>
          </a:xfrm>
          <a:prstGeom prst="rect">
            <a:avLst/>
          </a:prstGeom>
          <a:noFill/>
        </p:spPr>
        <p:txBody>
          <a:bodyPr wrap="square" rtlCol="0" anchor="t"/>
          <a:lstStyle/>
          <a:p>
            <a:pPr marL="0" indent="0">
              <a:buNone/>
            </a:pPr>
            <a:r>
              <a:rPr lang="en-US" sz="1000" dirty="0">
                <a:solidFill>
                  <a:srgbClr val="333333"/>
                </a:solidFill>
                <a:latin typeface="Arial" panose="020B0604020202020204" pitchFamily="34" charset="0"/>
                <a:ea typeface="Arial" panose="020B0604020202020204" pitchFamily="34" charset="-122"/>
                <a:cs typeface="Arial" panose="020B0604020202020204" pitchFamily="34" charset="-120"/>
              </a:rPr>
              <a:t>• Store User Information</a:t>
            </a:r>
            <a:endParaRPr lang="en-US" sz="1000" dirty="0"/>
          </a:p>
          <a:p>
            <a:pPr marL="0" indent="0">
              <a:buNone/>
            </a:pPr>
            <a:r>
              <a:rPr lang="en-US" sz="1000" dirty="0">
                <a:solidFill>
                  <a:srgbClr val="333333"/>
                </a:solidFill>
                <a:latin typeface="Arial" panose="020B0604020202020204" pitchFamily="34" charset="0"/>
                <a:ea typeface="Arial" panose="020B0604020202020204" pitchFamily="34" charset="-122"/>
                <a:cs typeface="Arial" panose="020B0604020202020204" pitchFamily="34" charset="-120"/>
              </a:rPr>
              <a:t>• Store Vehicle Details</a:t>
            </a:r>
            <a:endParaRPr lang="en-US" sz="1000" dirty="0"/>
          </a:p>
          <a:p>
            <a:pPr marL="0" indent="0">
              <a:buNone/>
            </a:pPr>
            <a:r>
              <a:rPr lang="en-US" sz="1000" dirty="0">
                <a:solidFill>
                  <a:srgbClr val="333333"/>
                </a:solidFill>
                <a:latin typeface="Arial" panose="020B0604020202020204" pitchFamily="34" charset="0"/>
                <a:ea typeface="Arial" panose="020B0604020202020204" pitchFamily="34" charset="-122"/>
                <a:cs typeface="Arial" panose="020B0604020202020204" pitchFamily="34" charset="-120"/>
              </a:rPr>
              <a:t>• Store Parking Information</a:t>
            </a:r>
            <a:endParaRPr lang="en-US" sz="1000" dirty="0"/>
          </a:p>
          <a:p>
            <a:pPr marL="0" indent="0">
              <a:buNone/>
            </a:pPr>
            <a:r>
              <a:rPr lang="en-US" sz="1000" dirty="0">
                <a:solidFill>
                  <a:srgbClr val="333333"/>
                </a:solidFill>
                <a:latin typeface="Arial" panose="020B0604020202020204" pitchFamily="34" charset="0"/>
                <a:ea typeface="Arial" panose="020B0604020202020204" pitchFamily="34" charset="-122"/>
                <a:cs typeface="Arial" panose="020B0604020202020204" pitchFamily="34" charset="-120"/>
              </a:rPr>
              <a:t>• Store Reservations</a:t>
            </a:r>
            <a:endParaRPr lang="en-US" sz="1000" dirty="0"/>
          </a:p>
          <a:p>
            <a:pPr marL="0" indent="0">
              <a:buNone/>
            </a:pPr>
            <a:r>
              <a:rPr lang="en-US" sz="1000" dirty="0">
                <a:solidFill>
                  <a:srgbClr val="333333"/>
                </a:solidFill>
                <a:latin typeface="Arial" panose="020B0604020202020204" pitchFamily="34" charset="0"/>
                <a:ea typeface="Arial" panose="020B0604020202020204" pitchFamily="34" charset="-122"/>
                <a:cs typeface="Arial" panose="020B0604020202020204" pitchFamily="34" charset="-120"/>
              </a:rPr>
              <a:t>• Store Parking Records</a:t>
            </a:r>
            <a:endParaRPr lang="en-US" sz="1000" dirty="0"/>
          </a:p>
          <a:p>
            <a:pPr marL="0" indent="0">
              <a:buNone/>
            </a:pPr>
            <a:r>
              <a:rPr lang="en-US" sz="1000" dirty="0">
                <a:solidFill>
                  <a:srgbClr val="333333"/>
                </a:solidFill>
                <a:latin typeface="Arial" panose="020B0604020202020204" pitchFamily="34" charset="0"/>
                <a:ea typeface="Arial" panose="020B0604020202020204" pitchFamily="34" charset="-122"/>
                <a:cs typeface="Arial" panose="020B0604020202020204" pitchFamily="34" charset="-120"/>
              </a:rPr>
              <a:t>• Store Billing Records</a:t>
            </a:r>
            <a:endParaRPr lang="en-US" sz="1000" dirty="0"/>
          </a:p>
        </p:txBody>
      </p:sp>
      <p:sp>
        <p:nvSpPr>
          <p:cNvPr id="21" name="Shape 18"/>
          <p:cNvSpPr/>
          <p:nvPr/>
        </p:nvSpPr>
        <p:spPr>
          <a:xfrm>
            <a:off x="1370965" y="4041775"/>
            <a:ext cx="6626860" cy="731520"/>
          </a:xfrm>
          <a:prstGeom prst="rect">
            <a:avLst/>
          </a:prstGeom>
          <a:solidFill>
            <a:srgbClr val="FAFAFA"/>
          </a:solidFill>
          <a:ln w="12700">
            <a:solidFill>
              <a:srgbClr val="DDDDDD"/>
            </a:solidFill>
            <a:prstDash val="solid"/>
          </a:ln>
        </p:spPr>
      </p:sp>
      <p:sp>
        <p:nvSpPr>
          <p:cNvPr id="22" name="Text 19"/>
          <p:cNvSpPr/>
          <p:nvPr/>
        </p:nvSpPr>
        <p:spPr>
          <a:xfrm>
            <a:off x="1370965" y="4133088"/>
            <a:ext cx="1371600" cy="548640"/>
          </a:xfrm>
          <a:prstGeom prst="rect">
            <a:avLst/>
          </a:prstGeom>
          <a:noFill/>
        </p:spPr>
        <p:txBody>
          <a:bodyPr wrap="square" rtlCol="0" anchor="ctr"/>
          <a:lstStyle/>
          <a:p>
            <a:pPr marL="0" indent="0" algn="ctr">
              <a:buNone/>
            </a:pPr>
            <a:r>
              <a:rPr lang="en-US" sz="900" dirty="0">
                <a:solidFill>
                  <a:srgbClr val="333333"/>
                </a:solidFill>
                <a:latin typeface="Arial" panose="020B0604020202020204" pitchFamily="34" charset="0"/>
                <a:ea typeface="Arial" panose="020B0604020202020204" pitchFamily="34" charset="-122"/>
                <a:cs typeface="Arial" panose="020B0604020202020204" pitchFamily="34" charset="-120"/>
              </a:rPr>
              <a:t>User</a:t>
            </a:r>
            <a:endParaRPr lang="en-US" sz="900" dirty="0"/>
          </a:p>
          <a:p>
            <a:pPr marL="0" indent="0" algn="ctr">
              <a:buNone/>
            </a:pPr>
            <a:r>
              <a:rPr lang="en-US" sz="900" dirty="0">
                <a:solidFill>
                  <a:srgbClr val="333333"/>
                </a:solidFill>
                <a:latin typeface="Arial" panose="020B0604020202020204" pitchFamily="34" charset="0"/>
                <a:ea typeface="Arial" panose="020B0604020202020204" pitchFamily="34" charset="-122"/>
                <a:cs typeface="Arial" panose="020B0604020202020204" pitchFamily="34" charset="-120"/>
              </a:rPr>
              <a:t>(Browser)</a:t>
            </a:r>
            <a:endParaRPr lang="en-US" sz="900" dirty="0"/>
          </a:p>
        </p:txBody>
      </p:sp>
      <p:sp>
        <p:nvSpPr>
          <p:cNvPr id="23" name="Text 20"/>
          <p:cNvSpPr/>
          <p:nvPr/>
        </p:nvSpPr>
        <p:spPr>
          <a:xfrm>
            <a:off x="2513965" y="4133088"/>
            <a:ext cx="365760" cy="548640"/>
          </a:xfrm>
          <a:prstGeom prst="rect">
            <a:avLst/>
          </a:prstGeom>
          <a:noFill/>
        </p:spPr>
        <p:txBody>
          <a:bodyPr wrap="square" rtlCol="0" anchor="ctr"/>
          <a:lstStyle/>
          <a:p>
            <a:pPr marL="0" indent="0" algn="ctr">
              <a:buNone/>
            </a:pPr>
            <a:r>
              <a:rPr lang="en-US" sz="1800" b="1" dirty="0">
                <a:solidFill>
                  <a:srgbClr val="555555"/>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24" name="Text 21"/>
          <p:cNvSpPr/>
          <p:nvPr/>
        </p:nvSpPr>
        <p:spPr>
          <a:xfrm>
            <a:off x="2926080" y="4155948"/>
            <a:ext cx="1371600" cy="548640"/>
          </a:xfrm>
          <a:prstGeom prst="rect">
            <a:avLst/>
          </a:prstGeom>
          <a:noFill/>
        </p:spPr>
        <p:txBody>
          <a:bodyPr wrap="square" rtlCol="0" anchor="ctr"/>
          <a:lstStyle/>
          <a:p>
            <a:pPr marL="0" indent="0" algn="ctr">
              <a:buNone/>
            </a:pPr>
            <a:r>
              <a:rPr lang="en-US" sz="900" dirty="0">
                <a:solidFill>
                  <a:srgbClr val="333333"/>
                </a:solidFill>
                <a:latin typeface="Arial" panose="020B0604020202020204" pitchFamily="34" charset="0"/>
                <a:ea typeface="Arial" panose="020B0604020202020204" pitchFamily="34" charset="-122"/>
                <a:cs typeface="Arial" panose="020B0604020202020204" pitchFamily="34" charset="-120"/>
              </a:rPr>
              <a:t>Web</a:t>
            </a:r>
            <a:endParaRPr lang="en-US" sz="900" dirty="0"/>
          </a:p>
          <a:p>
            <a:pPr marL="0" indent="0" algn="ctr">
              <a:buNone/>
            </a:pPr>
            <a:r>
              <a:rPr lang="en-US" sz="900" dirty="0">
                <a:solidFill>
                  <a:srgbClr val="333333"/>
                </a:solidFill>
                <a:latin typeface="Arial" panose="020B0604020202020204" pitchFamily="34" charset="0"/>
                <a:ea typeface="Arial" panose="020B0604020202020204" pitchFamily="34" charset="-122"/>
                <a:cs typeface="Arial" panose="020B0604020202020204" pitchFamily="34" charset="-120"/>
              </a:rPr>
              <a:t>Application</a:t>
            </a:r>
            <a:endParaRPr lang="en-US" sz="900" dirty="0"/>
          </a:p>
        </p:txBody>
      </p:sp>
      <p:sp>
        <p:nvSpPr>
          <p:cNvPr id="25" name="Text 22"/>
          <p:cNvSpPr/>
          <p:nvPr/>
        </p:nvSpPr>
        <p:spPr>
          <a:xfrm>
            <a:off x="4480560" y="4133088"/>
            <a:ext cx="365760" cy="548640"/>
          </a:xfrm>
          <a:prstGeom prst="rect">
            <a:avLst/>
          </a:prstGeom>
          <a:noFill/>
        </p:spPr>
        <p:txBody>
          <a:bodyPr wrap="square" rtlCol="0" anchor="ctr"/>
          <a:lstStyle/>
          <a:p>
            <a:pPr marL="0" indent="0" algn="ctr">
              <a:buNone/>
            </a:pPr>
            <a:r>
              <a:rPr lang="en-US" sz="1800" b="1" dirty="0">
                <a:solidFill>
                  <a:srgbClr val="555555"/>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26" name="Text 23"/>
          <p:cNvSpPr/>
          <p:nvPr/>
        </p:nvSpPr>
        <p:spPr>
          <a:xfrm>
            <a:off x="4937760" y="4133088"/>
            <a:ext cx="1371600" cy="548640"/>
          </a:xfrm>
          <a:prstGeom prst="rect">
            <a:avLst/>
          </a:prstGeom>
          <a:noFill/>
        </p:spPr>
        <p:txBody>
          <a:bodyPr wrap="square" rtlCol="0" anchor="ctr"/>
          <a:lstStyle/>
          <a:p>
            <a:pPr marL="0" indent="0" algn="ctr">
              <a:buNone/>
            </a:pPr>
            <a:r>
              <a:rPr lang="en-US" sz="900" dirty="0">
                <a:solidFill>
                  <a:srgbClr val="333333"/>
                </a:solidFill>
                <a:latin typeface="Arial" panose="020B0604020202020204" pitchFamily="34" charset="0"/>
                <a:ea typeface="Arial" panose="020B0604020202020204" pitchFamily="34" charset="-122"/>
                <a:cs typeface="Arial" panose="020B0604020202020204" pitchFamily="34" charset="-120"/>
              </a:rPr>
              <a:t>Application</a:t>
            </a:r>
            <a:endParaRPr lang="en-US" sz="900" dirty="0"/>
          </a:p>
          <a:p>
            <a:pPr marL="0" indent="0" algn="ctr">
              <a:buNone/>
            </a:pPr>
            <a:r>
              <a:rPr lang="en-US" sz="900" dirty="0">
                <a:solidFill>
                  <a:srgbClr val="333333"/>
                </a:solidFill>
                <a:latin typeface="Arial" panose="020B0604020202020204" pitchFamily="34" charset="0"/>
                <a:ea typeface="Arial" panose="020B0604020202020204" pitchFamily="34" charset="-122"/>
                <a:cs typeface="Arial" panose="020B0604020202020204" pitchFamily="34" charset="-120"/>
              </a:rPr>
              <a:t>Server</a:t>
            </a:r>
            <a:endParaRPr lang="en-US" sz="900" dirty="0"/>
          </a:p>
        </p:txBody>
      </p:sp>
      <p:sp>
        <p:nvSpPr>
          <p:cNvPr id="27" name="Text 24"/>
          <p:cNvSpPr/>
          <p:nvPr/>
        </p:nvSpPr>
        <p:spPr>
          <a:xfrm>
            <a:off x="6198870" y="4155948"/>
            <a:ext cx="365760" cy="548640"/>
          </a:xfrm>
          <a:prstGeom prst="rect">
            <a:avLst/>
          </a:prstGeom>
          <a:noFill/>
        </p:spPr>
        <p:txBody>
          <a:bodyPr wrap="square" rtlCol="0" anchor="ctr"/>
          <a:lstStyle/>
          <a:p>
            <a:pPr marL="0" indent="0" algn="ctr">
              <a:buNone/>
            </a:pPr>
            <a:r>
              <a:rPr lang="en-US" sz="1800" b="1" dirty="0">
                <a:solidFill>
                  <a:srgbClr val="555555"/>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28" name="Text 25"/>
          <p:cNvSpPr/>
          <p:nvPr/>
        </p:nvSpPr>
        <p:spPr>
          <a:xfrm>
            <a:off x="6628130" y="4155948"/>
            <a:ext cx="1371600" cy="548640"/>
          </a:xfrm>
          <a:prstGeom prst="rect">
            <a:avLst/>
          </a:prstGeom>
          <a:noFill/>
        </p:spPr>
        <p:txBody>
          <a:bodyPr wrap="square" rtlCol="0" anchor="ctr"/>
          <a:lstStyle/>
          <a:p>
            <a:pPr marL="0" indent="0" algn="ctr">
              <a:buNone/>
            </a:pPr>
            <a:r>
              <a:rPr lang="en-US" sz="900" dirty="0">
                <a:solidFill>
                  <a:srgbClr val="333333"/>
                </a:solidFill>
                <a:latin typeface="Arial" panose="020B0604020202020204" pitchFamily="34" charset="0"/>
                <a:ea typeface="Arial" panose="020B0604020202020204" pitchFamily="34" charset="-122"/>
                <a:cs typeface="Arial" panose="020B0604020202020204" pitchFamily="34" charset="-120"/>
              </a:rPr>
              <a:t>Database</a:t>
            </a:r>
            <a:endParaRPr lang="en-US" sz="900" dirty="0"/>
          </a:p>
          <a:p>
            <a:pPr marL="0" indent="0" algn="ctr">
              <a:buNone/>
            </a:pPr>
            <a:r>
              <a:rPr lang="en-US" sz="900" dirty="0">
                <a:solidFill>
                  <a:srgbClr val="333333"/>
                </a:solidFill>
                <a:latin typeface="Arial" panose="020B0604020202020204" pitchFamily="34" charset="0"/>
                <a:ea typeface="Arial" panose="020B0604020202020204" pitchFamily="34" charset="-122"/>
                <a:cs typeface="Arial" panose="020B0604020202020204" pitchFamily="34" charset="-120"/>
              </a:rPr>
              <a:t>Server</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274320" y="4553712"/>
            <a:ext cx="1005840" cy="402336"/>
          </a:xfrm>
          <a:prstGeom prst="rect">
            <a:avLst/>
          </a:prstGeom>
        </p:spPr>
      </p:pic>
      <p:sp>
        <p:nvSpPr>
          <p:cNvPr id="3" name="Text 0"/>
          <p:cNvSpPr/>
          <p:nvPr/>
        </p:nvSpPr>
        <p:spPr>
          <a:xfrm>
            <a:off x="3200400" y="4910328"/>
            <a:ext cx="2743200" cy="201168"/>
          </a:xfrm>
          <a:prstGeom prst="rect">
            <a:avLst/>
          </a:prstGeom>
          <a:noFill/>
        </p:spPr>
        <p:txBody>
          <a:bodyPr wrap="square" rtlCol="0" anchor="ctr"/>
          <a:lstStyle/>
          <a:p>
            <a:pPr marL="0" indent="0" algn="ct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General - RPS Data</a:t>
            </a:r>
            <a:endParaRPr lang="en-US" sz="800" dirty="0"/>
          </a:p>
        </p:txBody>
      </p:sp>
      <p:sp>
        <p:nvSpPr>
          <p:cNvPr id="4" name="Text 1"/>
          <p:cNvSpPr/>
          <p:nvPr/>
        </p:nvSpPr>
        <p:spPr>
          <a:xfrm>
            <a:off x="5029200" y="4910328"/>
            <a:ext cx="3931920" cy="201168"/>
          </a:xfrm>
          <a:prstGeom prst="rect">
            <a:avLst/>
          </a:prstGeom>
          <a:noFill/>
        </p:spPr>
        <p:txBody>
          <a:bodyPr wrap="square" rtlCol="0" anchor="ctr"/>
          <a:lstStyle/>
          <a:p>
            <a:pPr marL="0" indent="0" algn="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2026 - RPS Consulting all rights reserved    2</a:t>
            </a:r>
            <a:endParaRPr lang="en-US" sz="800" dirty="0"/>
          </a:p>
        </p:txBody>
      </p:sp>
      <p:sp>
        <p:nvSpPr>
          <p:cNvPr id="5" name="Text 2"/>
          <p:cNvSpPr/>
          <p:nvPr/>
        </p:nvSpPr>
        <p:spPr>
          <a:xfrm>
            <a:off x="457200" y="228600"/>
            <a:ext cx="8229600" cy="438912"/>
          </a:xfrm>
          <a:prstGeom prst="rect">
            <a:avLst/>
          </a:prstGeom>
          <a:noFill/>
        </p:spPr>
        <p:txBody>
          <a:bodyPr wrap="square" lIns="0" tIns="0" rIns="0" bIns="0" rtlCol="0" anchor="ctr"/>
          <a:lstStyle/>
          <a:p>
            <a:pPr marL="0" indent="0">
              <a:buNone/>
            </a:pPr>
            <a:r>
              <a:rPr lang="en-US" sz="2600" b="1" dirty="0">
                <a:solidFill>
                  <a:srgbClr val="0096CC"/>
                </a:solidFill>
                <a:latin typeface="Arial" panose="020B0604020202020204" pitchFamily="34" charset="0"/>
                <a:ea typeface="Arial" panose="020B0604020202020204" pitchFamily="34" charset="-122"/>
                <a:cs typeface="Arial" panose="020B0604020202020204" pitchFamily="34" charset="-120"/>
              </a:rPr>
              <a:t>Presentation Layer</a:t>
            </a:r>
            <a:endParaRPr lang="en-US" sz="2600" dirty="0"/>
          </a:p>
        </p:txBody>
      </p:sp>
      <p:sp>
        <p:nvSpPr>
          <p:cNvPr id="6" name="Text 3"/>
          <p:cNvSpPr/>
          <p:nvPr/>
        </p:nvSpPr>
        <p:spPr>
          <a:xfrm>
            <a:off x="372110" y="767842"/>
            <a:ext cx="8229600" cy="320040"/>
          </a:xfrm>
          <a:prstGeom prst="rect">
            <a:avLst/>
          </a:prstGeom>
          <a:noFill/>
        </p:spPr>
        <p:txBody>
          <a:bodyPr wrap="square" rtlCol="0" anchor="ctr"/>
          <a:lstStyle/>
          <a:p>
            <a:pPr marL="0" indent="0">
              <a:buNone/>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The project follows a three-tier architecture.</a:t>
            </a:r>
            <a:endParaRPr lang="en-US" sz="1400" dirty="0"/>
          </a:p>
        </p:txBody>
      </p:sp>
      <p:sp>
        <p:nvSpPr>
          <p:cNvPr id="7" name="Text 4"/>
          <p:cNvSpPr/>
          <p:nvPr/>
        </p:nvSpPr>
        <p:spPr>
          <a:xfrm>
            <a:off x="457200" y="1188720"/>
            <a:ext cx="8229600" cy="320040"/>
          </a:xfrm>
          <a:prstGeom prst="rect">
            <a:avLst/>
          </a:prstGeom>
          <a:noFill/>
        </p:spPr>
        <p:txBody>
          <a:bodyPr wrap="square" lIns="0" tIns="0" rIns="0" bIns="0" rtlCol="0" anchor="ctr"/>
          <a:lstStyle/>
          <a:p>
            <a:pPr marL="0" indent="0">
              <a:buNone/>
            </a:pPr>
            <a:r>
              <a:rPr lang="en-US" sz="1600" b="1" dirty="0">
                <a:solidFill>
                  <a:srgbClr val="0096CC"/>
                </a:solidFill>
                <a:latin typeface="Arial" panose="020B0604020202020204" pitchFamily="34" charset="0"/>
                <a:ea typeface="Arial" panose="020B0604020202020204" pitchFamily="34" charset="-122"/>
                <a:cs typeface="Arial" panose="020B0604020202020204" pitchFamily="34" charset="-120"/>
              </a:rPr>
              <a:t>Responsibilities:</a:t>
            </a:r>
            <a:endParaRPr lang="en-US" sz="1600" dirty="0"/>
          </a:p>
        </p:txBody>
      </p:sp>
      <p:sp>
        <p:nvSpPr>
          <p:cNvPr id="8" name="Text 5"/>
          <p:cNvSpPr/>
          <p:nvPr/>
        </p:nvSpPr>
        <p:spPr>
          <a:xfrm>
            <a:off x="372110" y="1572895"/>
            <a:ext cx="8229600" cy="2749550"/>
          </a:xfrm>
          <a:prstGeom prst="rect">
            <a:avLst/>
          </a:prstGeom>
          <a:noFill/>
        </p:spPr>
        <p:txBody>
          <a:bodyPr wrap="square" rtlCol="0" anchor="ctr"/>
          <a:lstStyle/>
          <a:p>
            <a:pPr marL="342900" indent="-342900">
              <a:spcAft>
                <a:spcPts val="7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Developed using Thymeleaf — a server-side Java template engine integrated with Spring Boot.</a:t>
            </a:r>
            <a:endParaRPr lang="en-US" sz="1400" dirty="0"/>
          </a:p>
          <a:p>
            <a:pPr marL="342900" indent="-342900">
              <a:spcAft>
                <a:spcPts val="7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Responsible for rendering the User Interface dynamically on the server before delivery to the browser.</a:t>
            </a:r>
            <a:endParaRPr lang="en-US" sz="1400" dirty="0"/>
          </a:p>
          <a:p>
            <a:pPr marL="342900" indent="-342900">
              <a:spcAft>
                <a:spcPts val="7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Handles form validation and user input processing on the server side.</a:t>
            </a:r>
            <a:endParaRPr lang="en-US" sz="1400" dirty="0"/>
          </a:p>
          <a:p>
            <a:pPr marL="342900" indent="-342900">
              <a:spcAft>
                <a:spcPts val="7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Manages server-side page rendering and dashboard visualization for both customer and admin views.</a:t>
            </a:r>
            <a:endParaRPr lang="en-US" sz="1400" dirty="0"/>
          </a:p>
          <a:p>
            <a:pPr marL="342900" indent="-342900">
              <a:spcAft>
                <a:spcPts val="7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Interacts with the Spring Boot backend directly through model attributes, eliminating the need for separate API calls from the frontend.</a:t>
            </a:r>
            <a:endParaRPr lang="en-US" sz="1400" dirty="0"/>
          </a:p>
          <a:p>
            <a:pPr marL="342900" indent="-342900">
              <a:spcAft>
                <a:spcPts val="7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Users interact with the application through standard web pages served by the backend.</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274320" y="4553712"/>
            <a:ext cx="1005840" cy="402336"/>
          </a:xfrm>
          <a:prstGeom prst="rect">
            <a:avLst/>
          </a:prstGeom>
        </p:spPr>
      </p:pic>
      <p:sp>
        <p:nvSpPr>
          <p:cNvPr id="3" name="Text 0"/>
          <p:cNvSpPr/>
          <p:nvPr/>
        </p:nvSpPr>
        <p:spPr>
          <a:xfrm>
            <a:off x="3200400" y="4910328"/>
            <a:ext cx="2743200" cy="201168"/>
          </a:xfrm>
          <a:prstGeom prst="rect">
            <a:avLst/>
          </a:prstGeom>
          <a:noFill/>
        </p:spPr>
        <p:txBody>
          <a:bodyPr wrap="square" rtlCol="0" anchor="ctr"/>
          <a:lstStyle/>
          <a:p>
            <a:pPr marL="0" indent="0" algn="ct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General - RPS Data</a:t>
            </a:r>
            <a:endParaRPr lang="en-US" sz="800" dirty="0"/>
          </a:p>
        </p:txBody>
      </p:sp>
      <p:sp>
        <p:nvSpPr>
          <p:cNvPr id="4" name="Text 1"/>
          <p:cNvSpPr/>
          <p:nvPr/>
        </p:nvSpPr>
        <p:spPr>
          <a:xfrm>
            <a:off x="5029200" y="4910328"/>
            <a:ext cx="3931920" cy="201168"/>
          </a:xfrm>
          <a:prstGeom prst="rect">
            <a:avLst/>
          </a:prstGeom>
          <a:noFill/>
        </p:spPr>
        <p:txBody>
          <a:bodyPr wrap="square" rtlCol="0" anchor="ctr"/>
          <a:lstStyle/>
          <a:p>
            <a:pPr marL="0" indent="0" algn="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2026 - RPS Consulting all rights reserved    2</a:t>
            </a:r>
            <a:endParaRPr lang="en-US" sz="800" dirty="0"/>
          </a:p>
        </p:txBody>
      </p:sp>
      <p:sp>
        <p:nvSpPr>
          <p:cNvPr id="5" name="Text 2"/>
          <p:cNvSpPr/>
          <p:nvPr/>
        </p:nvSpPr>
        <p:spPr>
          <a:xfrm>
            <a:off x="457200" y="228600"/>
            <a:ext cx="8229600" cy="438912"/>
          </a:xfrm>
          <a:prstGeom prst="rect">
            <a:avLst/>
          </a:prstGeom>
          <a:noFill/>
        </p:spPr>
        <p:txBody>
          <a:bodyPr wrap="square" lIns="0" tIns="0" rIns="0" bIns="0" rtlCol="0" anchor="ctr"/>
          <a:lstStyle/>
          <a:p>
            <a:pPr marL="0" indent="0">
              <a:buNone/>
            </a:pPr>
            <a:r>
              <a:rPr lang="en-US" sz="2600" b="1" dirty="0">
                <a:solidFill>
                  <a:srgbClr val="0096CC"/>
                </a:solidFill>
                <a:latin typeface="Arial" panose="020B0604020202020204" pitchFamily="34" charset="0"/>
                <a:ea typeface="Arial" panose="020B0604020202020204" pitchFamily="34" charset="-122"/>
                <a:cs typeface="Arial" panose="020B0604020202020204" pitchFamily="34" charset="-120"/>
              </a:rPr>
              <a:t>Business Layer</a:t>
            </a:r>
            <a:endParaRPr lang="en-US" sz="2600" dirty="0"/>
          </a:p>
        </p:txBody>
      </p:sp>
      <p:sp>
        <p:nvSpPr>
          <p:cNvPr id="6" name="Text 3"/>
          <p:cNvSpPr/>
          <p:nvPr/>
        </p:nvSpPr>
        <p:spPr>
          <a:xfrm>
            <a:off x="457200" y="804672"/>
            <a:ext cx="8229600" cy="320040"/>
          </a:xfrm>
          <a:prstGeom prst="rect">
            <a:avLst/>
          </a:prstGeom>
          <a:noFill/>
        </p:spPr>
        <p:txBody>
          <a:bodyPr wrap="square" rtlCol="0" anchor="ctr"/>
          <a:lstStyle/>
          <a:p>
            <a:pPr marL="0" indent="0">
              <a:buNone/>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Developed using Spring Boot.</a:t>
            </a:r>
            <a:endParaRPr lang="en-US" sz="1400" dirty="0"/>
          </a:p>
        </p:txBody>
      </p:sp>
      <p:sp>
        <p:nvSpPr>
          <p:cNvPr id="7" name="Text 4"/>
          <p:cNvSpPr/>
          <p:nvPr/>
        </p:nvSpPr>
        <p:spPr>
          <a:xfrm>
            <a:off x="457200" y="1188720"/>
            <a:ext cx="8229600" cy="320040"/>
          </a:xfrm>
          <a:prstGeom prst="rect">
            <a:avLst/>
          </a:prstGeom>
          <a:noFill/>
        </p:spPr>
        <p:txBody>
          <a:bodyPr wrap="square" lIns="0" tIns="0" rIns="0" bIns="0" rtlCol="0" anchor="ctr"/>
          <a:lstStyle/>
          <a:p>
            <a:pPr marL="0" indent="0">
              <a:buNone/>
            </a:pPr>
            <a:r>
              <a:rPr lang="en-US" sz="1600" b="1" dirty="0">
                <a:solidFill>
                  <a:srgbClr val="0096CC"/>
                </a:solidFill>
                <a:latin typeface="Arial" panose="020B0604020202020204" pitchFamily="34" charset="0"/>
                <a:ea typeface="Arial" panose="020B0604020202020204" pitchFamily="34" charset="-122"/>
                <a:cs typeface="Arial" panose="020B0604020202020204" pitchFamily="34" charset="-120"/>
              </a:rPr>
              <a:t>Responsibilities:</a:t>
            </a:r>
            <a:endParaRPr lang="en-US" sz="1600" dirty="0"/>
          </a:p>
        </p:txBody>
      </p:sp>
      <p:sp>
        <p:nvSpPr>
          <p:cNvPr id="8" name="Text 5"/>
          <p:cNvSpPr/>
          <p:nvPr/>
        </p:nvSpPr>
        <p:spPr>
          <a:xfrm>
            <a:off x="343535" y="1572895"/>
            <a:ext cx="8229600" cy="2592070"/>
          </a:xfrm>
          <a:prstGeom prst="rect">
            <a:avLst/>
          </a:prstGeom>
          <a:noFill/>
        </p:spPr>
        <p:txBody>
          <a:bodyPr wrap="square" rtlCol="0" anchor="ctr"/>
          <a:lstStyle/>
          <a:p>
            <a:pPr marL="342900" indent="-342900">
              <a:spcAft>
                <a:spcPts val="7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Encapsulates all core Business Logic governing parking operations.</a:t>
            </a:r>
            <a:endParaRPr lang="en-US" sz="1400" dirty="0"/>
          </a:p>
          <a:p>
            <a:pPr marL="342900" indent="-342900">
              <a:spcAft>
                <a:spcPts val="7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Handles user Authentication and role-based Authorization using Spring Security and JWT.</a:t>
            </a:r>
            <a:endParaRPr lang="en-US" sz="1400" dirty="0"/>
          </a:p>
          <a:p>
            <a:pPr marL="342900" indent="-342900">
              <a:spcAft>
                <a:spcPts val="7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Processes Reservation requests — slot selection, availability checks, and confirmation.</a:t>
            </a:r>
            <a:endParaRPr lang="en-US" sz="1400" dirty="0"/>
          </a:p>
          <a:p>
            <a:pPr marL="342900" indent="-342900">
              <a:spcAft>
                <a:spcPts val="7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Performs Billing Calculation based on vehicle entry time, exit time, and applicable rates.</a:t>
            </a:r>
            <a:endParaRPr lang="en-US" sz="1400" dirty="0"/>
          </a:p>
          <a:p>
            <a:pPr marL="342900" indent="-342900">
              <a:spcAft>
                <a:spcPts val="7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Manages Parking Slot Allocation, status updates, and conflict resolution.</a:t>
            </a:r>
            <a:endParaRPr lang="en-US" sz="1400" dirty="0"/>
          </a:p>
          <a:p>
            <a:pPr marL="342900" indent="-342900">
              <a:spcAft>
                <a:spcPts val="7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Exposes REST APIs (consumed internally by Thymeleaf controllers) for structured data flow.</a:t>
            </a:r>
            <a:endParaRPr lang="en-US" sz="1400" dirty="0"/>
          </a:p>
          <a:p>
            <a:pPr marL="342900" indent="-342900">
              <a:spcAft>
                <a:spcPts val="7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Integrates with MySQL via Spring Data JPA for all persistence operations.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274320" y="4553712"/>
            <a:ext cx="1005840" cy="402336"/>
          </a:xfrm>
          <a:prstGeom prst="rect">
            <a:avLst/>
          </a:prstGeom>
        </p:spPr>
      </p:pic>
      <p:sp>
        <p:nvSpPr>
          <p:cNvPr id="3" name="Text 0"/>
          <p:cNvSpPr/>
          <p:nvPr/>
        </p:nvSpPr>
        <p:spPr>
          <a:xfrm>
            <a:off x="3200400" y="4910328"/>
            <a:ext cx="2743200" cy="201168"/>
          </a:xfrm>
          <a:prstGeom prst="rect">
            <a:avLst/>
          </a:prstGeom>
          <a:noFill/>
        </p:spPr>
        <p:txBody>
          <a:bodyPr wrap="square" rtlCol="0" anchor="ctr"/>
          <a:lstStyle/>
          <a:p>
            <a:pPr marL="0" indent="0" algn="ct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General - RPS Data</a:t>
            </a:r>
            <a:endParaRPr lang="en-US" sz="800" dirty="0"/>
          </a:p>
        </p:txBody>
      </p:sp>
      <p:sp>
        <p:nvSpPr>
          <p:cNvPr id="4" name="Text 1"/>
          <p:cNvSpPr/>
          <p:nvPr/>
        </p:nvSpPr>
        <p:spPr>
          <a:xfrm>
            <a:off x="5029200" y="4910328"/>
            <a:ext cx="3931920" cy="201168"/>
          </a:xfrm>
          <a:prstGeom prst="rect">
            <a:avLst/>
          </a:prstGeom>
          <a:noFill/>
        </p:spPr>
        <p:txBody>
          <a:bodyPr wrap="square" rtlCol="0" anchor="ctr"/>
          <a:lstStyle/>
          <a:p>
            <a:pPr marL="0" indent="0" algn="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2026 - RPS Consulting all rights reserved    2</a:t>
            </a:r>
            <a:endParaRPr lang="en-US" sz="800" dirty="0"/>
          </a:p>
        </p:txBody>
      </p:sp>
      <p:sp>
        <p:nvSpPr>
          <p:cNvPr id="5" name="Text 2"/>
          <p:cNvSpPr/>
          <p:nvPr/>
        </p:nvSpPr>
        <p:spPr>
          <a:xfrm>
            <a:off x="457200" y="228600"/>
            <a:ext cx="8229600" cy="438912"/>
          </a:xfrm>
          <a:prstGeom prst="rect">
            <a:avLst/>
          </a:prstGeom>
          <a:noFill/>
        </p:spPr>
        <p:txBody>
          <a:bodyPr wrap="square" lIns="0" tIns="0" rIns="0" bIns="0" rtlCol="0" anchor="ctr"/>
          <a:lstStyle/>
          <a:p>
            <a:pPr marL="0" indent="0">
              <a:buNone/>
            </a:pPr>
            <a:r>
              <a:rPr lang="en-US" sz="2600" b="1" dirty="0">
                <a:solidFill>
                  <a:srgbClr val="0096CC"/>
                </a:solidFill>
                <a:latin typeface="Arial" panose="020B0604020202020204" pitchFamily="34" charset="0"/>
                <a:ea typeface="Arial" panose="020B0604020202020204" pitchFamily="34" charset="-122"/>
                <a:cs typeface="Arial" panose="020B0604020202020204" pitchFamily="34" charset="-120"/>
              </a:rPr>
              <a:t>Data Layer</a:t>
            </a:r>
            <a:endParaRPr lang="en-US" sz="2600" dirty="0"/>
          </a:p>
        </p:txBody>
      </p:sp>
      <p:sp>
        <p:nvSpPr>
          <p:cNvPr id="6" name="Text 3"/>
          <p:cNvSpPr/>
          <p:nvPr/>
        </p:nvSpPr>
        <p:spPr>
          <a:xfrm>
            <a:off x="457200" y="804672"/>
            <a:ext cx="8229600" cy="320040"/>
          </a:xfrm>
          <a:prstGeom prst="rect">
            <a:avLst/>
          </a:prstGeom>
          <a:noFill/>
        </p:spPr>
        <p:txBody>
          <a:bodyPr wrap="square" rtlCol="0" anchor="ctr"/>
          <a:lstStyle/>
          <a:p>
            <a:pPr marL="0" indent="0">
              <a:buNone/>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Developed using MySQL.</a:t>
            </a:r>
            <a:endParaRPr lang="en-US" sz="1400" dirty="0"/>
          </a:p>
        </p:txBody>
      </p:sp>
      <p:sp>
        <p:nvSpPr>
          <p:cNvPr id="7" name="Text 4"/>
          <p:cNvSpPr/>
          <p:nvPr/>
        </p:nvSpPr>
        <p:spPr>
          <a:xfrm>
            <a:off x="457200" y="1188720"/>
            <a:ext cx="8229600" cy="320040"/>
          </a:xfrm>
          <a:prstGeom prst="rect">
            <a:avLst/>
          </a:prstGeom>
          <a:noFill/>
        </p:spPr>
        <p:txBody>
          <a:bodyPr wrap="square" lIns="0" tIns="0" rIns="0" bIns="0" rtlCol="0" anchor="ctr"/>
          <a:lstStyle/>
          <a:p>
            <a:pPr marL="0" indent="0">
              <a:buNone/>
            </a:pPr>
            <a:r>
              <a:rPr lang="en-US" sz="1600" b="1" dirty="0">
                <a:solidFill>
                  <a:srgbClr val="0096CC"/>
                </a:solidFill>
                <a:latin typeface="Arial" panose="020B0604020202020204" pitchFamily="34" charset="0"/>
                <a:ea typeface="Arial" panose="020B0604020202020204" pitchFamily="34" charset="-122"/>
                <a:cs typeface="Arial" panose="020B0604020202020204" pitchFamily="34" charset="-120"/>
              </a:rPr>
              <a:t>Responsibilities:</a:t>
            </a:r>
            <a:endParaRPr lang="en-US" sz="1600" dirty="0"/>
          </a:p>
        </p:txBody>
      </p:sp>
      <p:sp>
        <p:nvSpPr>
          <p:cNvPr id="8" name="Text 5"/>
          <p:cNvSpPr/>
          <p:nvPr/>
        </p:nvSpPr>
        <p:spPr>
          <a:xfrm>
            <a:off x="457200" y="1188593"/>
            <a:ext cx="8229600" cy="3017520"/>
          </a:xfrm>
          <a:prstGeom prst="rect">
            <a:avLst/>
          </a:prstGeom>
          <a:noFill/>
        </p:spPr>
        <p:txBody>
          <a:bodyPr wrap="square" rtlCol="0" anchor="ctr"/>
          <a:lstStyle/>
          <a:p>
            <a:pPr marL="342900" indent="-342900">
              <a:spcAft>
                <a:spcPts val="8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Stores and manages User Information including credentials and role assignments.</a:t>
            </a:r>
            <a:endParaRPr lang="en-US" sz="1400" dirty="0"/>
          </a:p>
          <a:p>
            <a:pPr marL="342900" indent="-342900">
              <a:spcAft>
                <a:spcPts val="8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Maintains Vehicle Details linked to each registered customer.</a:t>
            </a:r>
            <a:endParaRPr lang="en-US" sz="1400" dirty="0"/>
          </a:p>
          <a:p>
            <a:pPr marL="342900" indent="-342900">
              <a:spcAft>
                <a:spcPts val="8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Persists Parking Information covering lot configurations and slot metadata.</a:t>
            </a:r>
            <a:endParaRPr lang="en-US" sz="1400" dirty="0"/>
          </a:p>
          <a:p>
            <a:pPr marL="342900" indent="-342900">
              <a:spcAft>
                <a:spcPts val="8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Retains Reservation records capturing booking details and timestamps.</a:t>
            </a:r>
            <a:endParaRPr lang="en-US" sz="1400" dirty="0"/>
          </a:p>
          <a:p>
            <a:pPr marL="342900" indent="-342900">
              <a:spcAft>
                <a:spcPts val="8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Stores Parking Records that log vehicle entry, exit, and duration for every session.</a:t>
            </a:r>
            <a:endParaRPr lang="en-US" sz="1400" dirty="0"/>
          </a:p>
          <a:p>
            <a:pPr marL="342900" indent="-342900">
              <a:spcAft>
                <a:spcPts val="8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Preserves Billing Records containing charge calculations and payment status.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274320" y="4553712"/>
            <a:ext cx="1005840" cy="402336"/>
          </a:xfrm>
          <a:prstGeom prst="rect">
            <a:avLst/>
          </a:prstGeom>
        </p:spPr>
      </p:pic>
      <p:sp>
        <p:nvSpPr>
          <p:cNvPr id="3" name="Text 0"/>
          <p:cNvSpPr/>
          <p:nvPr/>
        </p:nvSpPr>
        <p:spPr>
          <a:xfrm>
            <a:off x="3200400" y="4910328"/>
            <a:ext cx="2743200" cy="201168"/>
          </a:xfrm>
          <a:prstGeom prst="rect">
            <a:avLst/>
          </a:prstGeom>
          <a:noFill/>
        </p:spPr>
        <p:txBody>
          <a:bodyPr wrap="square" rtlCol="0" anchor="ctr"/>
          <a:lstStyle/>
          <a:p>
            <a:pPr marL="0" indent="0" algn="ct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General - RPS Data</a:t>
            </a:r>
            <a:endParaRPr lang="en-US" sz="800" dirty="0"/>
          </a:p>
        </p:txBody>
      </p:sp>
      <p:sp>
        <p:nvSpPr>
          <p:cNvPr id="4" name="Text 1"/>
          <p:cNvSpPr/>
          <p:nvPr/>
        </p:nvSpPr>
        <p:spPr>
          <a:xfrm>
            <a:off x="5029200" y="4910328"/>
            <a:ext cx="3931920" cy="201168"/>
          </a:xfrm>
          <a:prstGeom prst="rect">
            <a:avLst/>
          </a:prstGeom>
          <a:noFill/>
        </p:spPr>
        <p:txBody>
          <a:bodyPr wrap="square" rtlCol="0" anchor="ctr"/>
          <a:lstStyle/>
          <a:p>
            <a:pPr marL="0" indent="0" algn="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2026 - RPS Consulting all rights reserved    2</a:t>
            </a:r>
            <a:endParaRPr lang="en-US" sz="800" dirty="0"/>
          </a:p>
        </p:txBody>
      </p:sp>
      <p:sp>
        <p:nvSpPr>
          <p:cNvPr id="5" name="Text 2"/>
          <p:cNvSpPr/>
          <p:nvPr/>
        </p:nvSpPr>
        <p:spPr>
          <a:xfrm>
            <a:off x="457200" y="228600"/>
            <a:ext cx="8229600" cy="438912"/>
          </a:xfrm>
          <a:prstGeom prst="rect">
            <a:avLst/>
          </a:prstGeom>
          <a:noFill/>
        </p:spPr>
        <p:txBody>
          <a:bodyPr wrap="square" lIns="0" tIns="0" rIns="0" bIns="0" rtlCol="0" anchor="ctr"/>
          <a:lstStyle/>
          <a:p>
            <a:pPr marL="0" indent="0">
              <a:buNone/>
            </a:pPr>
            <a:r>
              <a:rPr lang="en-US" sz="2600" b="1" dirty="0">
                <a:solidFill>
                  <a:srgbClr val="0096CC"/>
                </a:solidFill>
                <a:latin typeface="Arial" panose="020B0604020202020204" pitchFamily="34" charset="0"/>
                <a:ea typeface="Arial" panose="020B0604020202020204" pitchFamily="34" charset="-122"/>
                <a:cs typeface="Arial" panose="020B0604020202020204" pitchFamily="34" charset="-120"/>
              </a:rPr>
              <a:t>System Modules &amp; Features</a:t>
            </a:r>
            <a:endParaRPr lang="en-US" sz="2600" dirty="0"/>
          </a:p>
        </p:txBody>
      </p:sp>
      <p:sp>
        <p:nvSpPr>
          <p:cNvPr id="6" name="Text 3"/>
          <p:cNvSpPr/>
          <p:nvPr/>
        </p:nvSpPr>
        <p:spPr>
          <a:xfrm>
            <a:off x="457200" y="824865"/>
            <a:ext cx="8229600" cy="3160395"/>
          </a:xfrm>
          <a:prstGeom prst="rect">
            <a:avLst/>
          </a:prstGeom>
          <a:noFill/>
        </p:spPr>
        <p:txBody>
          <a:bodyPr wrap="square" rtlCol="0" anchor="ctr"/>
          <a:lstStyle/>
          <a:p>
            <a:pPr marL="342900" indent="-342900" algn="just">
              <a:spcAft>
                <a:spcPts val="10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The Smart Parking Management System is structured around two primary user roles — Administrator and Customer — each with distinct capabilities and access levels.</a:t>
            </a:r>
            <a:endParaRPr lang="en-US" sz="1400" dirty="0"/>
          </a:p>
          <a:p>
            <a:pPr marL="342900" indent="-342900" algn="just">
              <a:spcAft>
                <a:spcPts val="10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The Administrator oversees users, parking lots, parking slots, parking records, and revenue monitoring, ensuring full control and efficient maintenance of the infrastructure.</a:t>
            </a:r>
            <a:endParaRPr lang="en-US" sz="1400" dirty="0"/>
          </a:p>
          <a:p>
            <a:pPr marL="342900" indent="-342900" algn="just">
              <a:spcAft>
                <a:spcPts val="10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The Customer interacts with the system by creating an account, logging in, registering vehicles, reserving parking slots, making payments, and downloading billing receipts.</a:t>
            </a:r>
            <a:endParaRPr lang="en-US" sz="1400" dirty="0"/>
          </a:p>
          <a:p>
            <a:pPr marL="342900" indent="-342900" algn="just">
              <a:spcAft>
                <a:spcPts val="10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JWT-based authentication is embedded throughout the system to protect resources, enforce role-based access, and secure all sensitive user data.</a:t>
            </a:r>
            <a:endParaRPr lang="en-US" sz="1400" dirty="0"/>
          </a:p>
          <a:p>
            <a:pPr marL="342900" indent="-342900" algn="just">
              <a:spcAft>
                <a:spcPts val="10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The application centralizes all parking operations — vehicle management, lot and slot handling, reservations, billing, and payments — into one cohesive platform, cutting manual effort and improving efficiency.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274320" y="4553712"/>
            <a:ext cx="1005840" cy="402336"/>
          </a:xfrm>
          <a:prstGeom prst="rect">
            <a:avLst/>
          </a:prstGeom>
        </p:spPr>
      </p:pic>
      <p:sp>
        <p:nvSpPr>
          <p:cNvPr id="3" name="Text 0"/>
          <p:cNvSpPr/>
          <p:nvPr/>
        </p:nvSpPr>
        <p:spPr>
          <a:xfrm>
            <a:off x="3200400" y="4910328"/>
            <a:ext cx="2743200" cy="201168"/>
          </a:xfrm>
          <a:prstGeom prst="rect">
            <a:avLst/>
          </a:prstGeom>
          <a:noFill/>
        </p:spPr>
        <p:txBody>
          <a:bodyPr wrap="square" rtlCol="0" anchor="ctr"/>
          <a:lstStyle/>
          <a:p>
            <a:pPr marL="0" indent="0" algn="ct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General - RPS Data</a:t>
            </a:r>
            <a:endParaRPr lang="en-US" sz="800" dirty="0"/>
          </a:p>
        </p:txBody>
      </p:sp>
      <p:sp>
        <p:nvSpPr>
          <p:cNvPr id="4" name="Text 1"/>
          <p:cNvSpPr/>
          <p:nvPr/>
        </p:nvSpPr>
        <p:spPr>
          <a:xfrm>
            <a:off x="5029200" y="4910328"/>
            <a:ext cx="3931920" cy="201168"/>
          </a:xfrm>
          <a:prstGeom prst="rect">
            <a:avLst/>
          </a:prstGeom>
          <a:noFill/>
        </p:spPr>
        <p:txBody>
          <a:bodyPr wrap="square" rtlCol="0" anchor="ctr"/>
          <a:lstStyle/>
          <a:p>
            <a:pPr marL="0" indent="0" algn="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2026 - RPS Consulting all rights reserved    2</a:t>
            </a:r>
            <a:endParaRPr lang="en-US" sz="800" dirty="0"/>
          </a:p>
        </p:txBody>
      </p:sp>
      <p:sp>
        <p:nvSpPr>
          <p:cNvPr id="5" name="Text 2"/>
          <p:cNvSpPr/>
          <p:nvPr/>
        </p:nvSpPr>
        <p:spPr>
          <a:xfrm>
            <a:off x="457200" y="228600"/>
            <a:ext cx="8229600" cy="438912"/>
          </a:xfrm>
          <a:prstGeom prst="rect">
            <a:avLst/>
          </a:prstGeom>
          <a:noFill/>
        </p:spPr>
        <p:txBody>
          <a:bodyPr wrap="square" lIns="0" tIns="0" rIns="0" bIns="0" rtlCol="0" anchor="ctr"/>
          <a:lstStyle/>
          <a:p>
            <a:pPr marL="0" indent="0">
              <a:buNone/>
            </a:pPr>
            <a:r>
              <a:rPr lang="en-US" sz="2600" b="1" dirty="0">
                <a:solidFill>
                  <a:srgbClr val="0096CC"/>
                </a:solidFill>
                <a:latin typeface="Arial" panose="020B0604020202020204" pitchFamily="34" charset="0"/>
                <a:ea typeface="Arial" panose="020B0604020202020204" pitchFamily="34" charset="-122"/>
                <a:cs typeface="Arial" panose="020B0604020202020204" pitchFamily="34" charset="-120"/>
              </a:rPr>
              <a:t>System Workflow</a:t>
            </a:r>
            <a:endParaRPr lang="en-US" sz="2600" dirty="0"/>
          </a:p>
        </p:txBody>
      </p:sp>
      <p:sp>
        <p:nvSpPr>
          <p:cNvPr id="6" name="Text 3"/>
          <p:cNvSpPr/>
          <p:nvPr/>
        </p:nvSpPr>
        <p:spPr>
          <a:xfrm>
            <a:off x="379095" y="822960"/>
            <a:ext cx="8229600" cy="3479165"/>
          </a:xfrm>
          <a:prstGeom prst="rect">
            <a:avLst/>
          </a:prstGeom>
          <a:noFill/>
        </p:spPr>
        <p:txBody>
          <a:bodyPr wrap="square" rtlCol="0" anchor="ctr"/>
          <a:lstStyle/>
          <a:p>
            <a:pPr marL="342900" indent="-342900" algn="just">
              <a:spcAft>
                <a:spcPts val="10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The workflow begins with user authentication — upon successful login, a JWT token is issued and used to authorize all subsequent requests, ensuring secure communication across the application.</a:t>
            </a:r>
            <a:endParaRPr lang="en-US" sz="1400" dirty="0"/>
          </a:p>
          <a:p>
            <a:pPr marL="342900" indent="-342900" algn="just">
              <a:spcAft>
                <a:spcPts val="10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Customers register their vehicles and choose a parking lot based on current availability. The system instantly reflects available slots filtered by lot and vehicle type, and a reservation is created once the user confirms a slot.</a:t>
            </a:r>
            <a:endParaRPr lang="en-US" sz="1400" dirty="0"/>
          </a:p>
          <a:p>
            <a:pPr marL="342900" indent="-342900" algn="just">
              <a:spcAft>
                <a:spcPts val="10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At vehicle entry, the system captures the entry timestamp and marks the selected slot as occupied. When the vehicle exits, the exit time is recorded, parking duration is computed, and the slot is released back to available status.</a:t>
            </a:r>
            <a:endParaRPr lang="en-US" sz="1400" dirty="0"/>
          </a:p>
          <a:p>
            <a:pPr marL="342900" indent="-342900" algn="just">
              <a:spcAft>
                <a:spcPts val="10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The billing module automatically calculates charges based on the session duration and triggers payment processing. A receipt is made available for download upon successful payment.</a:t>
            </a:r>
            <a:endParaRPr lang="en-US" sz="1400" dirty="0"/>
          </a:p>
          <a:p>
            <a:pPr marL="342900" indent="-342900" algn="just">
              <a:spcAft>
                <a:spcPts val="10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All data flows through the following entities: User, Vehicle, Parking Lot, Parking Slot, Reservation, Parking Record, and Billing — ensuring complete traceability of every parking session.</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274320" y="4553712"/>
            <a:ext cx="1005840" cy="402336"/>
          </a:xfrm>
          <a:prstGeom prst="rect">
            <a:avLst/>
          </a:prstGeom>
        </p:spPr>
      </p:pic>
      <p:sp>
        <p:nvSpPr>
          <p:cNvPr id="3" name="Text 0"/>
          <p:cNvSpPr/>
          <p:nvPr/>
        </p:nvSpPr>
        <p:spPr>
          <a:xfrm>
            <a:off x="3200400" y="4910328"/>
            <a:ext cx="2743200" cy="201168"/>
          </a:xfrm>
          <a:prstGeom prst="rect">
            <a:avLst/>
          </a:prstGeom>
          <a:noFill/>
        </p:spPr>
        <p:txBody>
          <a:bodyPr wrap="square" rtlCol="0" anchor="ctr"/>
          <a:lstStyle/>
          <a:p>
            <a:pPr marL="0" indent="0" algn="ct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General - RPS Data</a:t>
            </a:r>
            <a:endParaRPr lang="en-US" sz="800" dirty="0"/>
          </a:p>
        </p:txBody>
      </p:sp>
      <p:sp>
        <p:nvSpPr>
          <p:cNvPr id="4" name="Text 1"/>
          <p:cNvSpPr/>
          <p:nvPr/>
        </p:nvSpPr>
        <p:spPr>
          <a:xfrm>
            <a:off x="5029200" y="4910328"/>
            <a:ext cx="3931920" cy="201168"/>
          </a:xfrm>
          <a:prstGeom prst="rect">
            <a:avLst/>
          </a:prstGeom>
          <a:noFill/>
        </p:spPr>
        <p:txBody>
          <a:bodyPr wrap="square" rtlCol="0" anchor="ctr"/>
          <a:lstStyle/>
          <a:p>
            <a:pPr marL="0" indent="0" algn="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2026 - RPS Consulting all rights reserved    2</a:t>
            </a:r>
            <a:endParaRPr lang="en-US" sz="800" dirty="0"/>
          </a:p>
        </p:txBody>
      </p:sp>
      <p:sp>
        <p:nvSpPr>
          <p:cNvPr id="5" name="Text 2"/>
          <p:cNvSpPr/>
          <p:nvPr/>
        </p:nvSpPr>
        <p:spPr>
          <a:xfrm>
            <a:off x="457200" y="201168"/>
            <a:ext cx="8229600" cy="411480"/>
          </a:xfrm>
          <a:prstGeom prst="rect">
            <a:avLst/>
          </a:prstGeom>
          <a:noFill/>
        </p:spPr>
        <p:txBody>
          <a:bodyPr wrap="square" lIns="0" tIns="0" rIns="0" bIns="0" rtlCol="0" anchor="ctr"/>
          <a:lstStyle/>
          <a:p>
            <a:pPr marL="0" indent="0">
              <a:buNone/>
            </a:pPr>
            <a:r>
              <a:rPr lang="en-US" sz="2600" b="1" dirty="0">
                <a:solidFill>
                  <a:srgbClr val="0096CC"/>
                </a:solidFill>
                <a:latin typeface="Arial" panose="020B0604020202020204" pitchFamily="34" charset="0"/>
                <a:ea typeface="Arial" panose="020B0604020202020204" pitchFamily="34" charset="-122"/>
                <a:cs typeface="Arial" panose="020B0604020202020204" pitchFamily="34" charset="-120"/>
              </a:rPr>
              <a:t>DevOps, Deployment &amp; Benefits</a:t>
            </a:r>
            <a:endParaRPr lang="en-US" sz="2600" dirty="0"/>
          </a:p>
        </p:txBody>
      </p:sp>
      <p:sp>
        <p:nvSpPr>
          <p:cNvPr id="6" name="Text 3"/>
          <p:cNvSpPr/>
          <p:nvPr/>
        </p:nvSpPr>
        <p:spPr>
          <a:xfrm>
            <a:off x="457200" y="1022350"/>
            <a:ext cx="8229600" cy="2011680"/>
          </a:xfrm>
          <a:prstGeom prst="rect">
            <a:avLst/>
          </a:prstGeom>
          <a:noFill/>
        </p:spPr>
        <p:txBody>
          <a:bodyPr wrap="square" rtlCol="0" anchor="ctr"/>
          <a:lstStyle/>
          <a:p>
            <a:pPr marL="342900" indent="-342900" algn="just">
              <a:spcAft>
                <a:spcPts val="800"/>
              </a:spcAft>
              <a:buSzPct val="100000"/>
              <a:buChar char="•"/>
            </a:pPr>
            <a:r>
              <a:rPr lang="en-US" sz="1300" dirty="0">
                <a:solidFill>
                  <a:srgbClr val="333333"/>
                </a:solidFill>
                <a:latin typeface="Arial" panose="020B0604020202020204" pitchFamily="34" charset="0"/>
                <a:ea typeface="Arial" panose="020B0604020202020204" pitchFamily="34" charset="-122"/>
                <a:cs typeface="Arial" panose="020B0604020202020204" pitchFamily="34" charset="-120"/>
              </a:rPr>
              <a:t>The system is built with Thymeleaf for server-side rendering, Spring Boot for backend logic, and MySQL for persistent data storage. Spring Security with JWT handles access control; Swagger provides API documentation; and Spring Boot Actuator monitors application health and metrics.</a:t>
            </a:r>
            <a:endParaRPr lang="en-US" sz="1300" dirty="0"/>
          </a:p>
          <a:p>
            <a:pPr marL="342900" indent="-342900" algn="just">
              <a:spcAft>
                <a:spcPts val="800"/>
              </a:spcAft>
              <a:buSzPct val="100000"/>
              <a:buChar char="•"/>
            </a:pPr>
            <a:r>
              <a:rPr lang="en-US" sz="1300" dirty="0">
                <a:solidFill>
                  <a:srgbClr val="333333"/>
                </a:solidFill>
                <a:latin typeface="Arial" panose="020B0604020202020204" pitchFamily="34" charset="0"/>
                <a:ea typeface="Arial" panose="020B0604020202020204" pitchFamily="34" charset="-122"/>
                <a:cs typeface="Arial" panose="020B0604020202020204" pitchFamily="34" charset="-120"/>
              </a:rPr>
              <a:t>For environment-agnostic deployment, the application is containerized using Docker. Kubernetes orchestrates the containers across nodes, delivering high availability and simplified rollout management.</a:t>
            </a:r>
            <a:endParaRPr lang="en-US" sz="1300" dirty="0"/>
          </a:p>
          <a:p>
            <a:pPr marL="342900" indent="-342900" algn="just">
              <a:spcAft>
                <a:spcPts val="800"/>
              </a:spcAft>
              <a:buSzPct val="100000"/>
              <a:buChar char="•"/>
            </a:pPr>
            <a:r>
              <a:rPr lang="en-US" sz="1300" dirty="0">
                <a:solidFill>
                  <a:srgbClr val="333333"/>
                </a:solidFill>
                <a:latin typeface="Arial" panose="020B0604020202020204" pitchFamily="34" charset="0"/>
                <a:ea typeface="Arial" panose="020B0604020202020204" pitchFamily="34" charset="-122"/>
                <a:cs typeface="Arial" panose="020B0604020202020204" pitchFamily="34" charset="-120"/>
              </a:rPr>
              <a:t>A Jenkins CI/CD pipeline automates the entire delivery lifecycle — from source code checkout and application build to testing, Docker image creation, and Kubernetes deployment — ensuring fast and reliable releases.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1"/>
          <a:stretch>
            <a:fillRect/>
          </a:stretch>
        </p:blipFill>
        <p:spPr>
          <a:xfrm>
            <a:off x="274320" y="4553712"/>
            <a:ext cx="1005840" cy="402336"/>
          </a:xfrm>
          <a:prstGeom prst="rect">
            <a:avLst/>
          </a:prstGeom>
        </p:spPr>
      </p:pic>
      <p:sp>
        <p:nvSpPr>
          <p:cNvPr id="3" name="Text 0"/>
          <p:cNvSpPr txBox="1"/>
          <p:nvPr/>
        </p:nvSpPr>
        <p:spPr>
          <a:xfrm>
            <a:off x="3200400" y="4910328"/>
            <a:ext cx="2743200" cy="201168"/>
          </a:xfrm>
          <a:prstGeom prst="rect">
            <a:avLst/>
          </a:prstGeom>
          <a:noFill/>
        </p:spPr>
        <p:txBody>
          <a:bodyPr wrap="square">
            <a:spAutoFit/>
          </a:bodyPr>
          <a:lstStyle/>
          <a:p>
            <a:pPr algn="ctr">
              <a:defRPr/>
            </a:pPr>
            <a:r>
              <a:rPr sz="800">
                <a:solidFill>
                  <a:srgbClr val="888888"/>
                </a:solidFill>
                <a:latin typeface="Arial" panose="020B0604020202020204"/>
              </a:rPr>
              <a:t>General - RPS Data</a:t>
            </a:r>
            <a:endParaRPr sz="800">
              <a:solidFill>
                <a:srgbClr val="888888"/>
              </a:solidFill>
              <a:latin typeface="Arial" panose="020B0604020202020204"/>
            </a:endParaRPr>
          </a:p>
        </p:txBody>
      </p:sp>
      <p:sp>
        <p:nvSpPr>
          <p:cNvPr id="4" name="Text 1"/>
          <p:cNvSpPr txBox="1"/>
          <p:nvPr/>
        </p:nvSpPr>
        <p:spPr>
          <a:xfrm>
            <a:off x="5029200" y="4910328"/>
            <a:ext cx="3931920" cy="201168"/>
          </a:xfrm>
          <a:prstGeom prst="rect">
            <a:avLst/>
          </a:prstGeom>
          <a:noFill/>
        </p:spPr>
        <p:txBody>
          <a:bodyPr wrap="square">
            <a:spAutoFit/>
          </a:bodyPr>
          <a:lstStyle/>
          <a:p>
            <a:pPr algn="r">
              <a:defRPr/>
            </a:pPr>
            <a:r>
              <a:rPr sz="800">
                <a:solidFill>
                  <a:srgbClr val="888888"/>
                </a:solidFill>
                <a:latin typeface="Arial" panose="020B0604020202020204"/>
              </a:rPr>
              <a:t>2026 - RPS Consulting all rights reserved    2</a:t>
            </a:r>
            <a:endParaRPr sz="800">
              <a:solidFill>
                <a:srgbClr val="888888"/>
              </a:solidFill>
              <a:latin typeface="Arial" panose="020B0604020202020204"/>
            </a:endParaRPr>
          </a:p>
        </p:txBody>
      </p:sp>
      <p:sp>
        <p:nvSpPr>
          <p:cNvPr id="5" name="Text 2"/>
          <p:cNvSpPr txBox="1"/>
          <p:nvPr/>
        </p:nvSpPr>
        <p:spPr>
          <a:xfrm>
            <a:off x="457200" y="228600"/>
            <a:ext cx="8229600" cy="438912"/>
          </a:xfrm>
          <a:prstGeom prst="rect">
            <a:avLst/>
          </a:prstGeom>
          <a:noFill/>
        </p:spPr>
        <p:txBody>
          <a:bodyPr wrap="square" lIns="0" tIns="0" rIns="0" bIns="0">
            <a:spAutoFit/>
          </a:bodyPr>
          <a:lstStyle/>
          <a:p>
            <a:pPr>
              <a:defRPr/>
            </a:pPr>
            <a:r>
              <a:rPr sz="2600" b="1">
                <a:solidFill>
                  <a:srgbClr val="0096CC"/>
                </a:solidFill>
                <a:latin typeface="Arial" panose="020B0604020202020204"/>
              </a:rPr>
              <a:t>Smart Parking Management System</a:t>
            </a:r>
            <a:endParaRPr sz="2600" b="1">
              <a:solidFill>
                <a:srgbClr val="0096CC"/>
              </a:solidFill>
              <a:latin typeface="Arial" panose="020B0604020202020204"/>
            </a:endParaRPr>
          </a:p>
        </p:txBody>
      </p:sp>
      <p:sp>
        <p:nvSpPr>
          <p:cNvPr id="6" name="Text 3"/>
          <p:cNvSpPr txBox="1"/>
          <p:nvPr/>
        </p:nvSpPr>
        <p:spPr>
          <a:xfrm>
            <a:off x="400685" y="823087"/>
            <a:ext cx="8229600" cy="347472"/>
          </a:xfrm>
          <a:prstGeom prst="rect">
            <a:avLst/>
          </a:prstGeom>
          <a:noFill/>
        </p:spPr>
        <p:txBody>
          <a:bodyPr wrap="square" lIns="0" tIns="0" rIns="0" bIns="0">
            <a:spAutoFit/>
          </a:bodyPr>
          <a:lstStyle/>
          <a:p>
            <a:r>
              <a:rPr sz="1800" b="1">
                <a:solidFill>
                  <a:srgbClr val="0096CC"/>
                </a:solidFill>
                <a:latin typeface="Arial" panose="020B0604020202020204"/>
              </a:rPr>
              <a:t>Swagger REST API Documentation</a:t>
            </a:r>
            <a:endParaRPr sz="1800" b="1">
              <a:solidFill>
                <a:srgbClr val="0096CC"/>
              </a:solidFill>
              <a:latin typeface="Arial" panose="020B0604020202020204"/>
            </a:endParaRPr>
          </a:p>
        </p:txBody>
      </p:sp>
      <p:pic>
        <p:nvPicPr>
          <p:cNvPr id="7" name="Picture 6" descr="Swagger.PNG"/>
          <p:cNvPicPr>
            <a:picLocks noChangeAspect="1"/>
          </p:cNvPicPr>
          <p:nvPr/>
        </p:nvPicPr>
        <p:blipFill>
          <a:blip r:embed="rId2"/>
          <a:stretch>
            <a:fillRect/>
          </a:stretch>
        </p:blipFill>
        <p:spPr>
          <a:xfrm>
            <a:off x="1724215" y="1403604"/>
            <a:ext cx="5695569" cy="30175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1"/>
          <a:stretch>
            <a:fillRect/>
          </a:stretch>
        </p:blipFill>
        <p:spPr>
          <a:xfrm>
            <a:off x="274320" y="4553712"/>
            <a:ext cx="1005840" cy="402336"/>
          </a:xfrm>
          <a:prstGeom prst="rect">
            <a:avLst/>
          </a:prstGeom>
        </p:spPr>
      </p:pic>
      <p:sp>
        <p:nvSpPr>
          <p:cNvPr id="3" name="Text 0"/>
          <p:cNvSpPr txBox="1"/>
          <p:nvPr/>
        </p:nvSpPr>
        <p:spPr>
          <a:xfrm>
            <a:off x="3200400" y="4910328"/>
            <a:ext cx="2743200" cy="201168"/>
          </a:xfrm>
          <a:prstGeom prst="rect">
            <a:avLst/>
          </a:prstGeom>
          <a:noFill/>
        </p:spPr>
        <p:txBody>
          <a:bodyPr wrap="square">
            <a:spAutoFit/>
          </a:bodyPr>
          <a:lstStyle/>
          <a:p>
            <a:pPr algn="ctr">
              <a:defRPr/>
            </a:pPr>
            <a:r>
              <a:rPr sz="800">
                <a:solidFill>
                  <a:srgbClr val="888888"/>
                </a:solidFill>
                <a:latin typeface="Arial" panose="020B0604020202020204"/>
              </a:rPr>
              <a:t>General - RPS Data</a:t>
            </a:r>
            <a:endParaRPr sz="800">
              <a:solidFill>
                <a:srgbClr val="888888"/>
              </a:solidFill>
              <a:latin typeface="Arial" panose="020B0604020202020204"/>
            </a:endParaRPr>
          </a:p>
        </p:txBody>
      </p:sp>
      <p:sp>
        <p:nvSpPr>
          <p:cNvPr id="4" name="Text 1"/>
          <p:cNvSpPr txBox="1"/>
          <p:nvPr/>
        </p:nvSpPr>
        <p:spPr>
          <a:xfrm>
            <a:off x="5029200" y="4910328"/>
            <a:ext cx="3931920" cy="201168"/>
          </a:xfrm>
          <a:prstGeom prst="rect">
            <a:avLst/>
          </a:prstGeom>
          <a:noFill/>
        </p:spPr>
        <p:txBody>
          <a:bodyPr wrap="square">
            <a:spAutoFit/>
          </a:bodyPr>
          <a:lstStyle/>
          <a:p>
            <a:pPr algn="r">
              <a:defRPr/>
            </a:pPr>
            <a:r>
              <a:rPr sz="800">
                <a:solidFill>
                  <a:srgbClr val="888888"/>
                </a:solidFill>
                <a:latin typeface="Arial" panose="020B0604020202020204"/>
              </a:rPr>
              <a:t>2026 - RPS Consulting all rights reserved    2</a:t>
            </a:r>
            <a:endParaRPr sz="800">
              <a:solidFill>
                <a:srgbClr val="888888"/>
              </a:solidFill>
              <a:latin typeface="Arial" panose="020B0604020202020204"/>
            </a:endParaRPr>
          </a:p>
        </p:txBody>
      </p:sp>
      <p:sp>
        <p:nvSpPr>
          <p:cNvPr id="5" name="Text 2"/>
          <p:cNvSpPr txBox="1"/>
          <p:nvPr/>
        </p:nvSpPr>
        <p:spPr>
          <a:xfrm>
            <a:off x="457200" y="228600"/>
            <a:ext cx="8229600" cy="438912"/>
          </a:xfrm>
          <a:prstGeom prst="rect">
            <a:avLst/>
          </a:prstGeom>
          <a:noFill/>
        </p:spPr>
        <p:txBody>
          <a:bodyPr wrap="square" lIns="0" tIns="0" rIns="0" bIns="0">
            <a:spAutoFit/>
          </a:bodyPr>
          <a:lstStyle/>
          <a:p>
            <a:pPr>
              <a:defRPr/>
            </a:pPr>
            <a:r>
              <a:rPr sz="2600" b="1">
                <a:solidFill>
                  <a:srgbClr val="0096CC"/>
                </a:solidFill>
                <a:latin typeface="Arial" panose="020B0604020202020204"/>
              </a:rPr>
              <a:t>Smart Parking Management System</a:t>
            </a:r>
            <a:endParaRPr sz="2600" b="1">
              <a:solidFill>
                <a:srgbClr val="0096CC"/>
              </a:solidFill>
              <a:latin typeface="Arial" panose="020B0604020202020204"/>
            </a:endParaRPr>
          </a:p>
        </p:txBody>
      </p:sp>
      <p:sp>
        <p:nvSpPr>
          <p:cNvPr id="6" name="Text 3"/>
          <p:cNvSpPr txBox="1"/>
          <p:nvPr/>
        </p:nvSpPr>
        <p:spPr>
          <a:xfrm>
            <a:off x="400685" y="823087"/>
            <a:ext cx="8229600" cy="347472"/>
          </a:xfrm>
          <a:prstGeom prst="rect">
            <a:avLst/>
          </a:prstGeom>
          <a:noFill/>
        </p:spPr>
        <p:txBody>
          <a:bodyPr wrap="square" lIns="0" tIns="0" rIns="0" bIns="0">
            <a:spAutoFit/>
          </a:bodyPr>
          <a:lstStyle/>
          <a:p>
            <a:r>
              <a:rPr sz="1800" b="1">
                <a:solidFill>
                  <a:srgbClr val="0096CC"/>
                </a:solidFill>
                <a:latin typeface="Arial" panose="020B0604020202020204"/>
              </a:rPr>
              <a:t>Spring Boot Actuator Health Monitoring</a:t>
            </a:r>
            <a:endParaRPr sz="1800" b="1">
              <a:solidFill>
                <a:srgbClr val="0096CC"/>
              </a:solidFill>
              <a:latin typeface="Arial" panose="020B0604020202020204"/>
            </a:endParaRPr>
          </a:p>
        </p:txBody>
      </p:sp>
      <p:pic>
        <p:nvPicPr>
          <p:cNvPr id="7" name="Picture 6" descr="actuator.PNG"/>
          <p:cNvPicPr>
            <a:picLocks noChangeAspect="1"/>
          </p:cNvPicPr>
          <p:nvPr/>
        </p:nvPicPr>
        <p:blipFill>
          <a:blip r:embed="rId2"/>
          <a:stretch>
            <a:fillRect/>
          </a:stretch>
        </p:blipFill>
        <p:spPr>
          <a:xfrm>
            <a:off x="1905301" y="1403604"/>
            <a:ext cx="5333397" cy="30175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1"/>
          <a:stretch>
            <a:fillRect/>
          </a:stretch>
        </p:blipFill>
        <p:spPr>
          <a:xfrm>
            <a:off x="274320" y="4553712"/>
            <a:ext cx="1005840" cy="402336"/>
          </a:xfrm>
          <a:prstGeom prst="rect">
            <a:avLst/>
          </a:prstGeom>
        </p:spPr>
      </p:pic>
      <p:sp>
        <p:nvSpPr>
          <p:cNvPr id="3" name="Text 0"/>
          <p:cNvSpPr txBox="1"/>
          <p:nvPr/>
        </p:nvSpPr>
        <p:spPr>
          <a:xfrm>
            <a:off x="3200400" y="4910328"/>
            <a:ext cx="2743200" cy="201168"/>
          </a:xfrm>
          <a:prstGeom prst="rect">
            <a:avLst/>
          </a:prstGeom>
          <a:noFill/>
        </p:spPr>
        <p:txBody>
          <a:bodyPr wrap="square">
            <a:spAutoFit/>
          </a:bodyPr>
          <a:lstStyle/>
          <a:p>
            <a:pPr algn="ctr">
              <a:defRPr/>
            </a:pPr>
            <a:r>
              <a:rPr sz="800">
                <a:solidFill>
                  <a:srgbClr val="888888"/>
                </a:solidFill>
                <a:latin typeface="Arial" panose="020B0604020202020204"/>
              </a:rPr>
              <a:t>General - RPS Data</a:t>
            </a:r>
            <a:endParaRPr sz="800">
              <a:solidFill>
                <a:srgbClr val="888888"/>
              </a:solidFill>
              <a:latin typeface="Arial" panose="020B0604020202020204"/>
            </a:endParaRPr>
          </a:p>
        </p:txBody>
      </p:sp>
      <p:sp>
        <p:nvSpPr>
          <p:cNvPr id="4" name="Text 1"/>
          <p:cNvSpPr txBox="1"/>
          <p:nvPr/>
        </p:nvSpPr>
        <p:spPr>
          <a:xfrm>
            <a:off x="5029200" y="4910328"/>
            <a:ext cx="3931920" cy="201168"/>
          </a:xfrm>
          <a:prstGeom prst="rect">
            <a:avLst/>
          </a:prstGeom>
          <a:noFill/>
        </p:spPr>
        <p:txBody>
          <a:bodyPr wrap="square">
            <a:spAutoFit/>
          </a:bodyPr>
          <a:lstStyle/>
          <a:p>
            <a:pPr algn="r">
              <a:defRPr/>
            </a:pPr>
            <a:r>
              <a:rPr sz="800">
                <a:solidFill>
                  <a:srgbClr val="888888"/>
                </a:solidFill>
                <a:latin typeface="Arial" panose="020B0604020202020204"/>
              </a:rPr>
              <a:t>2026 - RPS Consulting all rights reserved    2</a:t>
            </a:r>
            <a:endParaRPr sz="800">
              <a:solidFill>
                <a:srgbClr val="888888"/>
              </a:solidFill>
              <a:latin typeface="Arial" panose="020B0604020202020204"/>
            </a:endParaRPr>
          </a:p>
        </p:txBody>
      </p:sp>
      <p:sp>
        <p:nvSpPr>
          <p:cNvPr id="5" name="Text 2"/>
          <p:cNvSpPr txBox="1"/>
          <p:nvPr/>
        </p:nvSpPr>
        <p:spPr>
          <a:xfrm>
            <a:off x="457200" y="228600"/>
            <a:ext cx="8229600" cy="438912"/>
          </a:xfrm>
          <a:prstGeom prst="rect">
            <a:avLst/>
          </a:prstGeom>
          <a:noFill/>
        </p:spPr>
        <p:txBody>
          <a:bodyPr wrap="square" lIns="0" tIns="0" rIns="0" bIns="0">
            <a:spAutoFit/>
          </a:bodyPr>
          <a:lstStyle/>
          <a:p>
            <a:pPr>
              <a:defRPr/>
            </a:pPr>
            <a:r>
              <a:rPr sz="2600" b="1">
                <a:solidFill>
                  <a:srgbClr val="0096CC"/>
                </a:solidFill>
                <a:latin typeface="Arial" panose="020B0604020202020204"/>
              </a:rPr>
              <a:t>Smart Parking Management System</a:t>
            </a:r>
            <a:endParaRPr sz="2600" b="1">
              <a:solidFill>
                <a:srgbClr val="0096CC"/>
              </a:solidFill>
              <a:latin typeface="Arial" panose="020B0604020202020204"/>
            </a:endParaRPr>
          </a:p>
        </p:txBody>
      </p:sp>
      <p:sp>
        <p:nvSpPr>
          <p:cNvPr id="6" name="Text 3"/>
          <p:cNvSpPr txBox="1"/>
          <p:nvPr/>
        </p:nvSpPr>
        <p:spPr>
          <a:xfrm>
            <a:off x="400685" y="823087"/>
            <a:ext cx="8229600" cy="347472"/>
          </a:xfrm>
          <a:prstGeom prst="rect">
            <a:avLst/>
          </a:prstGeom>
          <a:noFill/>
        </p:spPr>
        <p:txBody>
          <a:bodyPr wrap="square" lIns="0" tIns="0" rIns="0" bIns="0">
            <a:spAutoFit/>
          </a:bodyPr>
          <a:lstStyle/>
          <a:p>
            <a:r>
              <a:rPr sz="1800" b="1">
                <a:solidFill>
                  <a:srgbClr val="0096CC"/>
                </a:solidFill>
                <a:latin typeface="Arial" panose="020B0604020202020204"/>
              </a:rPr>
              <a:t>Postman API Verification Testing</a:t>
            </a:r>
            <a:endParaRPr sz="1800" b="1">
              <a:solidFill>
                <a:srgbClr val="0096CC"/>
              </a:solidFill>
              <a:latin typeface="Arial" panose="020B0604020202020204"/>
            </a:endParaRPr>
          </a:p>
        </p:txBody>
      </p:sp>
      <p:pic>
        <p:nvPicPr>
          <p:cNvPr id="7" name="Picture 6" descr="postman.PNG"/>
          <p:cNvPicPr>
            <a:picLocks noChangeAspect="1"/>
          </p:cNvPicPr>
          <p:nvPr/>
        </p:nvPicPr>
        <p:blipFill>
          <a:blip r:embed="rId2"/>
          <a:stretch>
            <a:fillRect/>
          </a:stretch>
        </p:blipFill>
        <p:spPr>
          <a:xfrm>
            <a:off x="1569988" y="1403604"/>
            <a:ext cx="6004022" cy="301752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1"/>
          <a:stretch>
            <a:fillRect/>
          </a:stretch>
        </p:blipFill>
        <p:spPr>
          <a:xfrm>
            <a:off x="274320" y="4553712"/>
            <a:ext cx="1005840" cy="402336"/>
          </a:xfrm>
          <a:prstGeom prst="rect">
            <a:avLst/>
          </a:prstGeom>
        </p:spPr>
      </p:pic>
      <p:sp>
        <p:nvSpPr>
          <p:cNvPr id="3" name="Text 0"/>
          <p:cNvSpPr txBox="1"/>
          <p:nvPr/>
        </p:nvSpPr>
        <p:spPr>
          <a:xfrm>
            <a:off x="3200400" y="4910328"/>
            <a:ext cx="2743200" cy="201168"/>
          </a:xfrm>
          <a:prstGeom prst="rect">
            <a:avLst/>
          </a:prstGeom>
          <a:noFill/>
        </p:spPr>
        <p:txBody>
          <a:bodyPr wrap="square">
            <a:spAutoFit/>
          </a:bodyPr>
          <a:lstStyle/>
          <a:p>
            <a:pPr algn="ctr">
              <a:defRPr/>
            </a:pPr>
            <a:r>
              <a:rPr sz="800">
                <a:solidFill>
                  <a:srgbClr val="888888"/>
                </a:solidFill>
                <a:latin typeface="Arial" panose="020B0604020202020204"/>
              </a:rPr>
              <a:t>General - RPS Data</a:t>
            </a:r>
            <a:endParaRPr sz="800">
              <a:solidFill>
                <a:srgbClr val="888888"/>
              </a:solidFill>
              <a:latin typeface="Arial" panose="020B0604020202020204"/>
            </a:endParaRPr>
          </a:p>
        </p:txBody>
      </p:sp>
      <p:sp>
        <p:nvSpPr>
          <p:cNvPr id="4" name="Text 1"/>
          <p:cNvSpPr txBox="1"/>
          <p:nvPr/>
        </p:nvSpPr>
        <p:spPr>
          <a:xfrm>
            <a:off x="5029200" y="4910328"/>
            <a:ext cx="3931920" cy="201168"/>
          </a:xfrm>
          <a:prstGeom prst="rect">
            <a:avLst/>
          </a:prstGeom>
          <a:noFill/>
        </p:spPr>
        <p:txBody>
          <a:bodyPr wrap="square">
            <a:spAutoFit/>
          </a:bodyPr>
          <a:lstStyle/>
          <a:p>
            <a:pPr algn="r">
              <a:defRPr/>
            </a:pPr>
            <a:r>
              <a:rPr sz="800">
                <a:solidFill>
                  <a:srgbClr val="888888"/>
                </a:solidFill>
                <a:latin typeface="Arial" panose="020B0604020202020204"/>
              </a:rPr>
              <a:t>2026 - RPS Consulting all rights reserved    2</a:t>
            </a:r>
            <a:endParaRPr sz="800">
              <a:solidFill>
                <a:srgbClr val="888888"/>
              </a:solidFill>
              <a:latin typeface="Arial" panose="020B0604020202020204"/>
            </a:endParaRPr>
          </a:p>
        </p:txBody>
      </p:sp>
      <p:sp>
        <p:nvSpPr>
          <p:cNvPr id="5" name="Text 2"/>
          <p:cNvSpPr txBox="1"/>
          <p:nvPr/>
        </p:nvSpPr>
        <p:spPr>
          <a:xfrm>
            <a:off x="457200" y="228600"/>
            <a:ext cx="8229600" cy="438912"/>
          </a:xfrm>
          <a:prstGeom prst="rect">
            <a:avLst/>
          </a:prstGeom>
          <a:noFill/>
        </p:spPr>
        <p:txBody>
          <a:bodyPr wrap="square" lIns="0" tIns="0" rIns="0" bIns="0">
            <a:spAutoFit/>
          </a:bodyPr>
          <a:lstStyle/>
          <a:p>
            <a:pPr>
              <a:defRPr/>
            </a:pPr>
            <a:r>
              <a:rPr sz="2600" b="1">
                <a:solidFill>
                  <a:srgbClr val="0096CC"/>
                </a:solidFill>
                <a:latin typeface="Arial" panose="020B0604020202020204"/>
              </a:rPr>
              <a:t>Smart Parking Management System</a:t>
            </a:r>
            <a:endParaRPr sz="2600" b="1">
              <a:solidFill>
                <a:srgbClr val="0096CC"/>
              </a:solidFill>
              <a:latin typeface="Arial" panose="020B0604020202020204"/>
            </a:endParaRPr>
          </a:p>
        </p:txBody>
      </p:sp>
      <p:sp>
        <p:nvSpPr>
          <p:cNvPr id="6" name="Text 3"/>
          <p:cNvSpPr txBox="1"/>
          <p:nvPr/>
        </p:nvSpPr>
        <p:spPr>
          <a:xfrm>
            <a:off x="400685" y="823087"/>
            <a:ext cx="8229600" cy="347472"/>
          </a:xfrm>
          <a:prstGeom prst="rect">
            <a:avLst/>
          </a:prstGeom>
          <a:noFill/>
        </p:spPr>
        <p:txBody>
          <a:bodyPr wrap="square" lIns="0" tIns="0" rIns="0" bIns="0">
            <a:spAutoFit/>
          </a:bodyPr>
          <a:lstStyle/>
          <a:p>
            <a:r>
              <a:rPr sz="1800" b="1">
                <a:solidFill>
                  <a:srgbClr val="0096CC"/>
                </a:solidFill>
                <a:latin typeface="Arial" panose="020B0604020202020204"/>
              </a:rPr>
              <a:t>Docker Containers Deployment</a:t>
            </a:r>
            <a:endParaRPr sz="1800" b="1">
              <a:solidFill>
                <a:srgbClr val="0096CC"/>
              </a:solidFill>
              <a:latin typeface="Arial" panose="020B0604020202020204"/>
            </a:endParaRPr>
          </a:p>
        </p:txBody>
      </p:sp>
      <p:pic>
        <p:nvPicPr>
          <p:cNvPr id="7" name="Picture 6" descr="docker.PNG"/>
          <p:cNvPicPr>
            <a:picLocks noChangeAspect="1"/>
          </p:cNvPicPr>
          <p:nvPr/>
        </p:nvPicPr>
        <p:blipFill>
          <a:blip r:embed="rId2"/>
          <a:stretch>
            <a:fillRect/>
          </a:stretch>
        </p:blipFill>
        <p:spPr>
          <a:xfrm>
            <a:off x="1828603" y="1403604"/>
            <a:ext cx="5486792" cy="301752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1"/>
          <a:stretch>
            <a:fillRect/>
          </a:stretch>
        </p:blipFill>
        <p:spPr>
          <a:xfrm>
            <a:off x="274320" y="4553712"/>
            <a:ext cx="1005840" cy="402336"/>
          </a:xfrm>
          <a:prstGeom prst="rect">
            <a:avLst/>
          </a:prstGeom>
        </p:spPr>
      </p:pic>
      <p:sp>
        <p:nvSpPr>
          <p:cNvPr id="3" name="Text 0"/>
          <p:cNvSpPr txBox="1"/>
          <p:nvPr/>
        </p:nvSpPr>
        <p:spPr>
          <a:xfrm>
            <a:off x="3200400" y="4910328"/>
            <a:ext cx="2743200" cy="201168"/>
          </a:xfrm>
          <a:prstGeom prst="rect">
            <a:avLst/>
          </a:prstGeom>
          <a:noFill/>
        </p:spPr>
        <p:txBody>
          <a:bodyPr wrap="square">
            <a:spAutoFit/>
          </a:bodyPr>
          <a:lstStyle/>
          <a:p>
            <a:pPr algn="ctr">
              <a:defRPr/>
            </a:pPr>
            <a:r>
              <a:rPr sz="800">
                <a:solidFill>
                  <a:srgbClr val="888888"/>
                </a:solidFill>
                <a:latin typeface="Arial" panose="020B0604020202020204"/>
              </a:rPr>
              <a:t>General - RPS Data</a:t>
            </a:r>
            <a:endParaRPr sz="800">
              <a:solidFill>
                <a:srgbClr val="888888"/>
              </a:solidFill>
              <a:latin typeface="Arial" panose="020B0604020202020204"/>
            </a:endParaRPr>
          </a:p>
        </p:txBody>
      </p:sp>
      <p:sp>
        <p:nvSpPr>
          <p:cNvPr id="4" name="Text 1"/>
          <p:cNvSpPr txBox="1"/>
          <p:nvPr/>
        </p:nvSpPr>
        <p:spPr>
          <a:xfrm>
            <a:off x="5029200" y="4910328"/>
            <a:ext cx="3931920" cy="201168"/>
          </a:xfrm>
          <a:prstGeom prst="rect">
            <a:avLst/>
          </a:prstGeom>
          <a:noFill/>
        </p:spPr>
        <p:txBody>
          <a:bodyPr wrap="square">
            <a:spAutoFit/>
          </a:bodyPr>
          <a:lstStyle/>
          <a:p>
            <a:pPr algn="r">
              <a:defRPr/>
            </a:pPr>
            <a:r>
              <a:rPr sz="800">
                <a:solidFill>
                  <a:srgbClr val="888888"/>
                </a:solidFill>
                <a:latin typeface="Arial" panose="020B0604020202020204"/>
              </a:rPr>
              <a:t>2026 - RPS Consulting all rights reserved    2</a:t>
            </a:r>
            <a:endParaRPr sz="800">
              <a:solidFill>
                <a:srgbClr val="888888"/>
              </a:solidFill>
              <a:latin typeface="Arial" panose="020B0604020202020204"/>
            </a:endParaRPr>
          </a:p>
        </p:txBody>
      </p:sp>
      <p:sp>
        <p:nvSpPr>
          <p:cNvPr id="5" name="Text 2"/>
          <p:cNvSpPr txBox="1"/>
          <p:nvPr/>
        </p:nvSpPr>
        <p:spPr>
          <a:xfrm>
            <a:off x="457200" y="228600"/>
            <a:ext cx="8229600" cy="438912"/>
          </a:xfrm>
          <a:prstGeom prst="rect">
            <a:avLst/>
          </a:prstGeom>
          <a:noFill/>
        </p:spPr>
        <p:txBody>
          <a:bodyPr wrap="square" lIns="0" tIns="0" rIns="0" bIns="0">
            <a:spAutoFit/>
          </a:bodyPr>
          <a:lstStyle/>
          <a:p>
            <a:pPr>
              <a:defRPr/>
            </a:pPr>
            <a:r>
              <a:rPr sz="2600" b="1">
                <a:solidFill>
                  <a:srgbClr val="0096CC"/>
                </a:solidFill>
                <a:latin typeface="Arial" panose="020B0604020202020204"/>
              </a:rPr>
              <a:t>Smart Parking Management System</a:t>
            </a:r>
            <a:endParaRPr sz="2600" b="1">
              <a:solidFill>
                <a:srgbClr val="0096CC"/>
              </a:solidFill>
              <a:latin typeface="Arial" panose="020B0604020202020204"/>
            </a:endParaRPr>
          </a:p>
        </p:txBody>
      </p:sp>
      <p:sp>
        <p:nvSpPr>
          <p:cNvPr id="6" name="Text 3"/>
          <p:cNvSpPr txBox="1"/>
          <p:nvPr/>
        </p:nvSpPr>
        <p:spPr>
          <a:xfrm>
            <a:off x="400685" y="823087"/>
            <a:ext cx="8229600" cy="347472"/>
          </a:xfrm>
          <a:prstGeom prst="rect">
            <a:avLst/>
          </a:prstGeom>
          <a:noFill/>
        </p:spPr>
        <p:txBody>
          <a:bodyPr wrap="square" lIns="0" tIns="0" rIns="0" bIns="0">
            <a:spAutoFit/>
          </a:bodyPr>
          <a:lstStyle/>
          <a:p>
            <a:r>
              <a:rPr sz="1800" b="1">
                <a:solidFill>
                  <a:srgbClr val="0096CC"/>
                </a:solidFill>
                <a:latin typeface="Arial" panose="020B0604020202020204"/>
              </a:rPr>
              <a:t>Docker Container Images</a:t>
            </a:r>
            <a:endParaRPr sz="1800" b="1">
              <a:solidFill>
                <a:srgbClr val="0096CC"/>
              </a:solidFill>
              <a:latin typeface="Arial" panose="020B0604020202020204"/>
            </a:endParaRPr>
          </a:p>
        </p:txBody>
      </p:sp>
      <p:pic>
        <p:nvPicPr>
          <p:cNvPr id="7" name="Picture 6" descr="docker-images.PNG"/>
          <p:cNvPicPr>
            <a:picLocks noChangeAspect="1"/>
          </p:cNvPicPr>
          <p:nvPr/>
        </p:nvPicPr>
        <p:blipFill>
          <a:blip r:embed="rId2"/>
          <a:stretch>
            <a:fillRect/>
          </a:stretch>
        </p:blipFill>
        <p:spPr>
          <a:xfrm>
            <a:off x="1827851" y="1403604"/>
            <a:ext cx="5488297" cy="30175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1"/>
          <a:stretch>
            <a:fillRect/>
          </a:stretch>
        </p:blipFill>
        <p:spPr>
          <a:xfrm>
            <a:off x="274320" y="4553712"/>
            <a:ext cx="1005840" cy="402336"/>
          </a:xfrm>
          <a:prstGeom prst="rect">
            <a:avLst/>
          </a:prstGeom>
        </p:spPr>
      </p:pic>
      <p:sp>
        <p:nvSpPr>
          <p:cNvPr id="3" name="Text 0"/>
          <p:cNvSpPr txBox="1"/>
          <p:nvPr/>
        </p:nvSpPr>
        <p:spPr>
          <a:xfrm>
            <a:off x="3200400" y="4910328"/>
            <a:ext cx="2743200" cy="201168"/>
          </a:xfrm>
          <a:prstGeom prst="rect">
            <a:avLst/>
          </a:prstGeom>
          <a:noFill/>
        </p:spPr>
        <p:txBody>
          <a:bodyPr wrap="square">
            <a:spAutoFit/>
          </a:bodyPr>
          <a:lstStyle/>
          <a:p>
            <a:pPr algn="ctr">
              <a:defRPr/>
            </a:pPr>
            <a:r>
              <a:rPr sz="800">
                <a:solidFill>
                  <a:srgbClr val="888888"/>
                </a:solidFill>
                <a:latin typeface="Arial" panose="020B0604020202020204"/>
              </a:rPr>
              <a:t>General - RPS Data</a:t>
            </a:r>
            <a:endParaRPr sz="800">
              <a:solidFill>
                <a:srgbClr val="888888"/>
              </a:solidFill>
              <a:latin typeface="Arial" panose="020B0604020202020204"/>
            </a:endParaRPr>
          </a:p>
        </p:txBody>
      </p:sp>
      <p:sp>
        <p:nvSpPr>
          <p:cNvPr id="4" name="Text 1"/>
          <p:cNvSpPr txBox="1"/>
          <p:nvPr/>
        </p:nvSpPr>
        <p:spPr>
          <a:xfrm>
            <a:off x="5029200" y="4910328"/>
            <a:ext cx="3931920" cy="201168"/>
          </a:xfrm>
          <a:prstGeom prst="rect">
            <a:avLst/>
          </a:prstGeom>
          <a:noFill/>
        </p:spPr>
        <p:txBody>
          <a:bodyPr wrap="square">
            <a:spAutoFit/>
          </a:bodyPr>
          <a:lstStyle/>
          <a:p>
            <a:pPr algn="r">
              <a:defRPr/>
            </a:pPr>
            <a:r>
              <a:rPr sz="800">
                <a:solidFill>
                  <a:srgbClr val="888888"/>
                </a:solidFill>
                <a:latin typeface="Arial" panose="020B0604020202020204"/>
              </a:rPr>
              <a:t>2026 - RPS Consulting all rights reserved    2</a:t>
            </a:r>
            <a:endParaRPr sz="800">
              <a:solidFill>
                <a:srgbClr val="888888"/>
              </a:solidFill>
              <a:latin typeface="Arial" panose="020B0604020202020204"/>
            </a:endParaRPr>
          </a:p>
        </p:txBody>
      </p:sp>
      <p:sp>
        <p:nvSpPr>
          <p:cNvPr id="5" name="Text 2"/>
          <p:cNvSpPr txBox="1"/>
          <p:nvPr/>
        </p:nvSpPr>
        <p:spPr>
          <a:xfrm>
            <a:off x="457200" y="228600"/>
            <a:ext cx="8229600" cy="438912"/>
          </a:xfrm>
          <a:prstGeom prst="rect">
            <a:avLst/>
          </a:prstGeom>
          <a:noFill/>
        </p:spPr>
        <p:txBody>
          <a:bodyPr wrap="square" lIns="0" tIns="0" rIns="0" bIns="0">
            <a:spAutoFit/>
          </a:bodyPr>
          <a:lstStyle/>
          <a:p>
            <a:pPr>
              <a:defRPr/>
            </a:pPr>
            <a:r>
              <a:rPr sz="2600" b="1">
                <a:solidFill>
                  <a:srgbClr val="0096CC"/>
                </a:solidFill>
                <a:latin typeface="Arial" panose="020B0604020202020204"/>
              </a:rPr>
              <a:t>Smart Parking Management System</a:t>
            </a:r>
            <a:endParaRPr sz="2600" b="1">
              <a:solidFill>
                <a:srgbClr val="0096CC"/>
              </a:solidFill>
              <a:latin typeface="Arial" panose="020B0604020202020204"/>
            </a:endParaRPr>
          </a:p>
        </p:txBody>
      </p:sp>
      <p:sp>
        <p:nvSpPr>
          <p:cNvPr id="6" name="Text 3"/>
          <p:cNvSpPr txBox="1"/>
          <p:nvPr/>
        </p:nvSpPr>
        <p:spPr>
          <a:xfrm>
            <a:off x="400685" y="823087"/>
            <a:ext cx="8229600" cy="347472"/>
          </a:xfrm>
          <a:prstGeom prst="rect">
            <a:avLst/>
          </a:prstGeom>
          <a:noFill/>
        </p:spPr>
        <p:txBody>
          <a:bodyPr wrap="square" lIns="0" tIns="0" rIns="0" bIns="0">
            <a:spAutoFit/>
          </a:bodyPr>
          <a:lstStyle/>
          <a:p>
            <a:r>
              <a:rPr sz="1800" b="1">
                <a:solidFill>
                  <a:srgbClr val="0096CC"/>
                </a:solidFill>
                <a:latin typeface="Arial" panose="020B0604020202020204"/>
              </a:rPr>
              <a:t>Kubernetes MySQL Database Service</a:t>
            </a:r>
            <a:endParaRPr sz="1800" b="1">
              <a:solidFill>
                <a:srgbClr val="0096CC"/>
              </a:solidFill>
              <a:latin typeface="Arial" panose="020B0604020202020204"/>
            </a:endParaRPr>
          </a:p>
        </p:txBody>
      </p:sp>
      <p:pic>
        <p:nvPicPr>
          <p:cNvPr id="7" name="Picture 6" descr="K8-sql.PNG"/>
          <p:cNvPicPr>
            <a:picLocks noChangeAspect="1"/>
          </p:cNvPicPr>
          <p:nvPr/>
        </p:nvPicPr>
        <p:blipFill>
          <a:blip r:embed="rId2"/>
          <a:stretch>
            <a:fillRect/>
          </a:stretch>
        </p:blipFill>
        <p:spPr>
          <a:xfrm>
            <a:off x="1798544" y="1403604"/>
            <a:ext cx="5546911" cy="30175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1"/>
          <a:stretch>
            <a:fillRect/>
          </a:stretch>
        </p:blipFill>
        <p:spPr>
          <a:xfrm>
            <a:off x="274320" y="4553712"/>
            <a:ext cx="1005840" cy="402336"/>
          </a:xfrm>
          <a:prstGeom prst="rect">
            <a:avLst/>
          </a:prstGeom>
        </p:spPr>
      </p:pic>
      <p:sp>
        <p:nvSpPr>
          <p:cNvPr id="3" name="Text 0"/>
          <p:cNvSpPr txBox="1"/>
          <p:nvPr/>
        </p:nvSpPr>
        <p:spPr>
          <a:xfrm>
            <a:off x="3200400" y="4910328"/>
            <a:ext cx="2743200" cy="201168"/>
          </a:xfrm>
          <a:prstGeom prst="rect">
            <a:avLst/>
          </a:prstGeom>
          <a:noFill/>
        </p:spPr>
        <p:txBody>
          <a:bodyPr wrap="square">
            <a:spAutoFit/>
          </a:bodyPr>
          <a:lstStyle/>
          <a:p>
            <a:pPr algn="ctr">
              <a:defRPr/>
            </a:pPr>
            <a:r>
              <a:rPr sz="800">
                <a:solidFill>
                  <a:srgbClr val="888888"/>
                </a:solidFill>
                <a:latin typeface="Arial" panose="020B0604020202020204"/>
              </a:rPr>
              <a:t>General - RPS Data</a:t>
            </a:r>
            <a:endParaRPr sz="800">
              <a:solidFill>
                <a:srgbClr val="888888"/>
              </a:solidFill>
              <a:latin typeface="Arial" panose="020B0604020202020204"/>
            </a:endParaRPr>
          </a:p>
        </p:txBody>
      </p:sp>
      <p:sp>
        <p:nvSpPr>
          <p:cNvPr id="4" name="Text 1"/>
          <p:cNvSpPr txBox="1"/>
          <p:nvPr/>
        </p:nvSpPr>
        <p:spPr>
          <a:xfrm>
            <a:off x="5029200" y="4910328"/>
            <a:ext cx="3931920" cy="201168"/>
          </a:xfrm>
          <a:prstGeom prst="rect">
            <a:avLst/>
          </a:prstGeom>
          <a:noFill/>
        </p:spPr>
        <p:txBody>
          <a:bodyPr wrap="square">
            <a:spAutoFit/>
          </a:bodyPr>
          <a:lstStyle/>
          <a:p>
            <a:pPr algn="r">
              <a:defRPr/>
            </a:pPr>
            <a:r>
              <a:rPr sz="800">
                <a:solidFill>
                  <a:srgbClr val="888888"/>
                </a:solidFill>
                <a:latin typeface="Arial" panose="020B0604020202020204"/>
              </a:rPr>
              <a:t>2026 - RPS Consulting all rights reserved    2</a:t>
            </a:r>
            <a:endParaRPr sz="800">
              <a:solidFill>
                <a:srgbClr val="888888"/>
              </a:solidFill>
              <a:latin typeface="Arial" panose="020B0604020202020204"/>
            </a:endParaRPr>
          </a:p>
        </p:txBody>
      </p:sp>
      <p:sp>
        <p:nvSpPr>
          <p:cNvPr id="5" name="Text 2"/>
          <p:cNvSpPr txBox="1"/>
          <p:nvPr/>
        </p:nvSpPr>
        <p:spPr>
          <a:xfrm>
            <a:off x="457200" y="228600"/>
            <a:ext cx="8229600" cy="438912"/>
          </a:xfrm>
          <a:prstGeom prst="rect">
            <a:avLst/>
          </a:prstGeom>
          <a:noFill/>
        </p:spPr>
        <p:txBody>
          <a:bodyPr wrap="square" lIns="0" tIns="0" rIns="0" bIns="0">
            <a:spAutoFit/>
          </a:bodyPr>
          <a:lstStyle/>
          <a:p>
            <a:pPr>
              <a:defRPr/>
            </a:pPr>
            <a:r>
              <a:rPr sz="2600" b="1">
                <a:solidFill>
                  <a:srgbClr val="0096CC"/>
                </a:solidFill>
                <a:latin typeface="Arial" panose="020B0604020202020204"/>
              </a:rPr>
              <a:t>Smart Parking Management System</a:t>
            </a:r>
            <a:endParaRPr sz="2600" b="1">
              <a:solidFill>
                <a:srgbClr val="0096CC"/>
              </a:solidFill>
              <a:latin typeface="Arial" panose="020B0604020202020204"/>
            </a:endParaRPr>
          </a:p>
        </p:txBody>
      </p:sp>
      <p:sp>
        <p:nvSpPr>
          <p:cNvPr id="6" name="Text 3"/>
          <p:cNvSpPr txBox="1"/>
          <p:nvPr/>
        </p:nvSpPr>
        <p:spPr>
          <a:xfrm>
            <a:off x="400685" y="823087"/>
            <a:ext cx="8229600" cy="347472"/>
          </a:xfrm>
          <a:prstGeom prst="rect">
            <a:avLst/>
          </a:prstGeom>
          <a:noFill/>
        </p:spPr>
        <p:txBody>
          <a:bodyPr wrap="square" lIns="0" tIns="0" rIns="0" bIns="0">
            <a:spAutoFit/>
          </a:bodyPr>
          <a:lstStyle/>
          <a:p>
            <a:r>
              <a:rPr sz="1800" b="1">
                <a:solidFill>
                  <a:srgbClr val="0096CC"/>
                </a:solidFill>
                <a:latin typeface="Arial" panose="020B0604020202020204"/>
              </a:rPr>
              <a:t>Kubernetes Web UI Deployment</a:t>
            </a:r>
            <a:endParaRPr sz="1800" b="1">
              <a:solidFill>
                <a:srgbClr val="0096CC"/>
              </a:solidFill>
              <a:latin typeface="Arial" panose="020B0604020202020204"/>
            </a:endParaRPr>
          </a:p>
        </p:txBody>
      </p:sp>
      <p:pic>
        <p:nvPicPr>
          <p:cNvPr id="7" name="Picture 6" descr="k8-ui.PNG"/>
          <p:cNvPicPr>
            <a:picLocks noChangeAspect="1"/>
          </p:cNvPicPr>
          <p:nvPr/>
        </p:nvPicPr>
        <p:blipFill>
          <a:blip r:embed="rId2"/>
          <a:stretch>
            <a:fillRect/>
          </a:stretch>
        </p:blipFill>
        <p:spPr>
          <a:xfrm>
            <a:off x="2175856" y="1403604"/>
            <a:ext cx="4792287" cy="301752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1"/>
          <a:stretch>
            <a:fillRect/>
          </a:stretch>
        </p:blipFill>
        <p:spPr>
          <a:xfrm>
            <a:off x="274320" y="4553712"/>
            <a:ext cx="1005840" cy="402336"/>
          </a:xfrm>
          <a:prstGeom prst="rect">
            <a:avLst/>
          </a:prstGeom>
        </p:spPr>
      </p:pic>
      <p:sp>
        <p:nvSpPr>
          <p:cNvPr id="3" name="Text 0"/>
          <p:cNvSpPr txBox="1"/>
          <p:nvPr/>
        </p:nvSpPr>
        <p:spPr>
          <a:xfrm>
            <a:off x="3200400" y="4910328"/>
            <a:ext cx="2743200" cy="201168"/>
          </a:xfrm>
          <a:prstGeom prst="rect">
            <a:avLst/>
          </a:prstGeom>
          <a:noFill/>
        </p:spPr>
        <p:txBody>
          <a:bodyPr wrap="square">
            <a:spAutoFit/>
          </a:bodyPr>
          <a:lstStyle/>
          <a:p>
            <a:pPr algn="ctr">
              <a:defRPr/>
            </a:pPr>
            <a:r>
              <a:rPr sz="800">
                <a:solidFill>
                  <a:srgbClr val="888888"/>
                </a:solidFill>
                <a:latin typeface="Arial" panose="020B0604020202020204"/>
              </a:rPr>
              <a:t>General - RPS Data</a:t>
            </a:r>
            <a:endParaRPr sz="800">
              <a:solidFill>
                <a:srgbClr val="888888"/>
              </a:solidFill>
              <a:latin typeface="Arial" panose="020B0604020202020204"/>
            </a:endParaRPr>
          </a:p>
        </p:txBody>
      </p:sp>
      <p:sp>
        <p:nvSpPr>
          <p:cNvPr id="4" name="Text 1"/>
          <p:cNvSpPr txBox="1"/>
          <p:nvPr/>
        </p:nvSpPr>
        <p:spPr>
          <a:xfrm>
            <a:off x="5029200" y="4910328"/>
            <a:ext cx="3931920" cy="201168"/>
          </a:xfrm>
          <a:prstGeom prst="rect">
            <a:avLst/>
          </a:prstGeom>
          <a:noFill/>
        </p:spPr>
        <p:txBody>
          <a:bodyPr wrap="square">
            <a:spAutoFit/>
          </a:bodyPr>
          <a:lstStyle/>
          <a:p>
            <a:pPr algn="r">
              <a:defRPr/>
            </a:pPr>
            <a:r>
              <a:rPr sz="800">
                <a:solidFill>
                  <a:srgbClr val="888888"/>
                </a:solidFill>
                <a:latin typeface="Arial" panose="020B0604020202020204"/>
              </a:rPr>
              <a:t>2026 - RPS Consulting all rights reserved    2</a:t>
            </a:r>
            <a:endParaRPr sz="800">
              <a:solidFill>
                <a:srgbClr val="888888"/>
              </a:solidFill>
              <a:latin typeface="Arial" panose="020B0604020202020204"/>
            </a:endParaRPr>
          </a:p>
        </p:txBody>
      </p:sp>
      <p:sp>
        <p:nvSpPr>
          <p:cNvPr id="5" name="Text 2"/>
          <p:cNvSpPr txBox="1"/>
          <p:nvPr/>
        </p:nvSpPr>
        <p:spPr>
          <a:xfrm>
            <a:off x="457200" y="228600"/>
            <a:ext cx="8229600" cy="438912"/>
          </a:xfrm>
          <a:prstGeom prst="rect">
            <a:avLst/>
          </a:prstGeom>
          <a:noFill/>
        </p:spPr>
        <p:txBody>
          <a:bodyPr wrap="square" lIns="0" tIns="0" rIns="0" bIns="0">
            <a:spAutoFit/>
          </a:bodyPr>
          <a:lstStyle/>
          <a:p>
            <a:pPr>
              <a:defRPr/>
            </a:pPr>
            <a:r>
              <a:rPr sz="2600" b="1">
                <a:solidFill>
                  <a:srgbClr val="0096CC"/>
                </a:solidFill>
                <a:latin typeface="Arial" panose="020B0604020202020204"/>
              </a:rPr>
              <a:t>Smart Parking Management System</a:t>
            </a:r>
            <a:endParaRPr sz="2600" b="1">
              <a:solidFill>
                <a:srgbClr val="0096CC"/>
              </a:solidFill>
              <a:latin typeface="Arial" panose="020B0604020202020204"/>
            </a:endParaRPr>
          </a:p>
        </p:txBody>
      </p:sp>
      <p:sp>
        <p:nvSpPr>
          <p:cNvPr id="6" name="Text 3"/>
          <p:cNvSpPr txBox="1"/>
          <p:nvPr/>
        </p:nvSpPr>
        <p:spPr>
          <a:xfrm>
            <a:off x="400685" y="823087"/>
            <a:ext cx="8229600" cy="347472"/>
          </a:xfrm>
          <a:prstGeom prst="rect">
            <a:avLst/>
          </a:prstGeom>
          <a:noFill/>
        </p:spPr>
        <p:txBody>
          <a:bodyPr wrap="square" lIns="0" tIns="0" rIns="0" bIns="0">
            <a:spAutoFit/>
          </a:bodyPr>
          <a:lstStyle/>
          <a:p>
            <a:r>
              <a:rPr sz="1800" b="1">
                <a:solidFill>
                  <a:srgbClr val="0096CC"/>
                </a:solidFill>
                <a:latin typeface="Arial" panose="020B0604020202020204"/>
              </a:rPr>
              <a:t>Jenkins CI/CD Build Pipeline</a:t>
            </a:r>
            <a:endParaRPr sz="1800" b="1">
              <a:solidFill>
                <a:srgbClr val="0096CC"/>
              </a:solidFill>
              <a:latin typeface="Arial" panose="020B0604020202020204"/>
            </a:endParaRPr>
          </a:p>
        </p:txBody>
      </p:sp>
      <p:pic>
        <p:nvPicPr>
          <p:cNvPr id="7" name="Picture 6" descr="Jenkins.PNG"/>
          <p:cNvPicPr>
            <a:picLocks noChangeAspect="1"/>
          </p:cNvPicPr>
          <p:nvPr/>
        </p:nvPicPr>
        <p:blipFill>
          <a:blip r:embed="rId2"/>
          <a:stretch>
            <a:fillRect/>
          </a:stretch>
        </p:blipFill>
        <p:spPr>
          <a:xfrm>
            <a:off x="1699215" y="1403604"/>
            <a:ext cx="5745568" cy="301752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274320" y="4553712"/>
            <a:ext cx="1005840" cy="402336"/>
          </a:xfrm>
          <a:prstGeom prst="rect">
            <a:avLst/>
          </a:prstGeom>
        </p:spPr>
      </p:pic>
      <p:sp>
        <p:nvSpPr>
          <p:cNvPr id="3" name="Text 0"/>
          <p:cNvSpPr/>
          <p:nvPr/>
        </p:nvSpPr>
        <p:spPr>
          <a:xfrm>
            <a:off x="3200400" y="4910328"/>
            <a:ext cx="2743200" cy="201168"/>
          </a:xfrm>
          <a:prstGeom prst="rect">
            <a:avLst/>
          </a:prstGeom>
          <a:noFill/>
        </p:spPr>
        <p:txBody>
          <a:bodyPr wrap="square" rtlCol="0" anchor="ctr"/>
          <a:lstStyle/>
          <a:p>
            <a:pPr marL="0" indent="0" algn="ct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General - RPS Data</a:t>
            </a:r>
            <a:endParaRPr lang="en-US" sz="800" dirty="0"/>
          </a:p>
        </p:txBody>
      </p:sp>
      <p:sp>
        <p:nvSpPr>
          <p:cNvPr id="4" name="Text 1"/>
          <p:cNvSpPr/>
          <p:nvPr/>
        </p:nvSpPr>
        <p:spPr>
          <a:xfrm>
            <a:off x="5029200" y="4910328"/>
            <a:ext cx="3931920" cy="201168"/>
          </a:xfrm>
          <a:prstGeom prst="rect">
            <a:avLst/>
          </a:prstGeom>
          <a:noFill/>
        </p:spPr>
        <p:txBody>
          <a:bodyPr wrap="square" rtlCol="0" anchor="ctr"/>
          <a:lstStyle/>
          <a:p>
            <a:pPr marL="0" indent="0" algn="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2026 - RPS Consulting all rights reserved    2</a:t>
            </a:r>
            <a:endParaRPr lang="en-US" sz="800" dirty="0"/>
          </a:p>
        </p:txBody>
      </p:sp>
      <p:sp>
        <p:nvSpPr>
          <p:cNvPr id="5" name="Text 2"/>
          <p:cNvSpPr/>
          <p:nvPr/>
        </p:nvSpPr>
        <p:spPr>
          <a:xfrm>
            <a:off x="457200" y="201168"/>
            <a:ext cx="8229600" cy="384048"/>
          </a:xfrm>
          <a:prstGeom prst="rect">
            <a:avLst/>
          </a:prstGeom>
          <a:noFill/>
        </p:spPr>
        <p:txBody>
          <a:bodyPr wrap="square" lIns="0" tIns="0" rIns="0" bIns="0" rtlCol="0" anchor="ctr"/>
          <a:lstStyle/>
          <a:p>
            <a:pPr marL="0" indent="0">
              <a:buNone/>
            </a:pPr>
            <a:r>
              <a:rPr lang="en-US" sz="2200" b="1" dirty="0">
                <a:solidFill>
                  <a:srgbClr val="0096CC"/>
                </a:solidFill>
                <a:latin typeface="Arial" panose="020B0604020202020204" pitchFamily="34" charset="0"/>
                <a:ea typeface="Arial" panose="020B0604020202020204" pitchFamily="34" charset="-122"/>
                <a:cs typeface="Arial" panose="020B0604020202020204" pitchFamily="34" charset="-120"/>
              </a:rPr>
              <a:t>Benefits:</a:t>
            </a:r>
            <a:endParaRPr lang="en-US" sz="2200" dirty="0"/>
          </a:p>
        </p:txBody>
      </p:sp>
      <p:sp>
        <p:nvSpPr>
          <p:cNvPr id="6" name="Text 3"/>
          <p:cNvSpPr/>
          <p:nvPr/>
        </p:nvSpPr>
        <p:spPr>
          <a:xfrm>
            <a:off x="457200" y="682625"/>
            <a:ext cx="8229600" cy="2080260"/>
          </a:xfrm>
          <a:prstGeom prst="rect">
            <a:avLst/>
          </a:prstGeom>
          <a:noFill/>
        </p:spPr>
        <p:txBody>
          <a:bodyPr wrap="square" rtlCol="0" anchor="ctr"/>
          <a:lstStyle/>
          <a:p>
            <a:pPr marL="342900" indent="-342900">
              <a:spcAft>
                <a:spcPts val="500"/>
              </a:spcAft>
              <a:buSzPct val="100000"/>
              <a:buChar char="•"/>
            </a:pPr>
            <a:r>
              <a:rPr lang="en-US" sz="1300" dirty="0">
                <a:solidFill>
                  <a:srgbClr val="333333"/>
                </a:solidFill>
                <a:latin typeface="Arial" panose="020B0604020202020204" pitchFamily="34" charset="0"/>
                <a:ea typeface="Arial" panose="020B0604020202020204" pitchFamily="34" charset="-122"/>
                <a:cs typeface="Arial" panose="020B0604020202020204" pitchFamily="34" charset="-120"/>
              </a:rPr>
              <a:t>Fully automated parking management eliminates manual intervention.</a:t>
            </a:r>
            <a:endParaRPr lang="en-US" sz="1300" dirty="0"/>
          </a:p>
          <a:p>
            <a:pPr marL="342900" indent="-342900">
              <a:spcAft>
                <a:spcPts val="500"/>
              </a:spcAft>
              <a:buSzPct val="100000"/>
              <a:buChar char="•"/>
            </a:pPr>
            <a:r>
              <a:rPr lang="en-US" sz="1300" dirty="0">
                <a:solidFill>
                  <a:srgbClr val="333333"/>
                </a:solidFill>
                <a:latin typeface="Arial" panose="020B0604020202020204" pitchFamily="34" charset="0"/>
                <a:ea typeface="Arial" panose="020B0604020202020204" pitchFamily="34" charset="-122"/>
                <a:cs typeface="Arial" panose="020B0604020202020204" pitchFamily="34" charset="-120"/>
              </a:rPr>
              <a:t>Real-time slot tracking ensures accurate occupancy visibility.</a:t>
            </a:r>
            <a:endParaRPr lang="en-US" sz="1300" dirty="0"/>
          </a:p>
          <a:p>
            <a:pPr marL="342900" indent="-342900">
              <a:spcAft>
                <a:spcPts val="500"/>
              </a:spcAft>
              <a:buSzPct val="100000"/>
              <a:buChar char="•"/>
            </a:pPr>
            <a:r>
              <a:rPr lang="en-US" sz="1300" dirty="0">
                <a:solidFill>
                  <a:srgbClr val="333333"/>
                </a:solidFill>
                <a:latin typeface="Arial" panose="020B0604020202020204" pitchFamily="34" charset="0"/>
                <a:ea typeface="Arial" panose="020B0604020202020204" pitchFamily="34" charset="-122"/>
                <a:cs typeface="Arial" panose="020B0604020202020204" pitchFamily="34" charset="-120"/>
              </a:rPr>
              <a:t>Secure JWT-based authentication protects user data and system resources.</a:t>
            </a:r>
            <a:endParaRPr lang="en-US" sz="1300" dirty="0"/>
          </a:p>
          <a:p>
            <a:pPr marL="342900" indent="-342900">
              <a:spcAft>
                <a:spcPts val="500"/>
              </a:spcAft>
              <a:buSzPct val="100000"/>
              <a:buChar char="•"/>
            </a:pPr>
            <a:r>
              <a:rPr lang="en-US" sz="1300" dirty="0">
                <a:solidFill>
                  <a:srgbClr val="333333"/>
                </a:solidFill>
                <a:latin typeface="Arial" panose="020B0604020202020204" pitchFamily="34" charset="0"/>
                <a:ea typeface="Arial" panose="020B0604020202020204" pitchFamily="34" charset="-122"/>
                <a:cs typeface="Arial" panose="020B0604020202020204" pitchFamily="34" charset="-120"/>
              </a:rPr>
              <a:t>Automatic billing generation and integrated payment processing improve accuracy.</a:t>
            </a:r>
            <a:endParaRPr lang="en-US" sz="1300" dirty="0"/>
          </a:p>
          <a:p>
            <a:pPr marL="342900" indent="-342900">
              <a:spcAft>
                <a:spcPts val="500"/>
              </a:spcAft>
              <a:buSzPct val="100000"/>
              <a:buChar char="•"/>
            </a:pPr>
            <a:r>
              <a:rPr lang="en-US" sz="1300" dirty="0">
                <a:solidFill>
                  <a:srgbClr val="333333"/>
                </a:solidFill>
                <a:latin typeface="Arial" panose="020B0604020202020204" pitchFamily="34" charset="0"/>
                <a:ea typeface="Arial" panose="020B0604020202020204" pitchFamily="34" charset="-122"/>
                <a:cs typeface="Arial" panose="020B0604020202020204" pitchFamily="34" charset="-120"/>
              </a:rPr>
              <a:t>Enhanced user experience through seamless online reservation and digital receipts.</a:t>
            </a:r>
            <a:endParaRPr lang="en-US" sz="1300" dirty="0"/>
          </a:p>
          <a:p>
            <a:pPr marL="342900" indent="-342900">
              <a:spcAft>
                <a:spcPts val="500"/>
              </a:spcAft>
              <a:buSzPct val="100000"/>
              <a:buChar char="•"/>
            </a:pPr>
            <a:r>
              <a:rPr lang="en-US" sz="1300" dirty="0">
                <a:solidFill>
                  <a:srgbClr val="333333"/>
                </a:solidFill>
                <a:latin typeface="Arial" panose="020B0604020202020204" pitchFamily="34" charset="0"/>
                <a:ea typeface="Arial" panose="020B0604020202020204" pitchFamily="34" charset="-122"/>
                <a:cs typeface="Arial" panose="020B0604020202020204" pitchFamily="34" charset="-120"/>
              </a:rPr>
              <a:t>Containerized deployment with Docker and Kubernetes ensures portability and resilience.</a:t>
            </a:r>
            <a:endParaRPr lang="en-US" sz="1300" dirty="0"/>
          </a:p>
          <a:p>
            <a:pPr marL="342900" indent="-342900">
              <a:spcAft>
                <a:spcPts val="500"/>
              </a:spcAft>
              <a:buSzPct val="100000"/>
              <a:buChar char="•"/>
            </a:pPr>
            <a:r>
              <a:rPr lang="en-US" sz="1300" dirty="0">
                <a:solidFill>
                  <a:srgbClr val="333333"/>
                </a:solidFill>
                <a:latin typeface="Arial" panose="020B0604020202020204" pitchFamily="34" charset="0"/>
                <a:ea typeface="Arial" panose="020B0604020202020204" pitchFamily="34" charset="-122"/>
                <a:cs typeface="Arial" panose="020B0604020202020204" pitchFamily="34" charset="-120"/>
              </a:rPr>
              <a:t>Jenkins CI/CD automation accelerates software delivery and reduces deployment risk.</a:t>
            </a:r>
            <a:endParaRPr lang="en-US" sz="1300" dirty="0"/>
          </a:p>
        </p:txBody>
      </p:sp>
      <p:sp>
        <p:nvSpPr>
          <p:cNvPr id="7" name="Text 4"/>
          <p:cNvSpPr/>
          <p:nvPr/>
        </p:nvSpPr>
        <p:spPr>
          <a:xfrm>
            <a:off x="457200" y="2999232"/>
            <a:ext cx="8229600" cy="365760"/>
          </a:xfrm>
          <a:prstGeom prst="rect">
            <a:avLst/>
          </a:prstGeom>
          <a:noFill/>
        </p:spPr>
        <p:txBody>
          <a:bodyPr wrap="square" lIns="0" tIns="0" rIns="0" bIns="0" rtlCol="0" anchor="ctr"/>
          <a:lstStyle/>
          <a:p>
            <a:pPr marL="0" indent="0">
              <a:buNone/>
            </a:pPr>
            <a:r>
              <a:rPr lang="en-IN" altLang="en-US" sz="2200" b="1" dirty="0">
                <a:solidFill>
                  <a:srgbClr val="0096CC"/>
                </a:solidFill>
                <a:latin typeface="Arial" panose="020B0604020202020204" pitchFamily="34" charset="0"/>
                <a:ea typeface="Arial" panose="020B0604020202020204" pitchFamily="34" charset="-122"/>
                <a:cs typeface="Arial" panose="020B0604020202020204" pitchFamily="34" charset="-120"/>
              </a:rPr>
              <a:t>Future Enhancement</a:t>
            </a:r>
            <a:r>
              <a:rPr lang="en-US" sz="2200" b="1" dirty="0">
                <a:solidFill>
                  <a:srgbClr val="0096CC"/>
                </a:solidFill>
                <a:latin typeface="Arial" panose="020B0604020202020204" pitchFamily="34" charset="0"/>
                <a:ea typeface="Arial" panose="020B0604020202020204" pitchFamily="34" charset="-122"/>
                <a:cs typeface="Arial" panose="020B0604020202020204" pitchFamily="34" charset="-120"/>
              </a:rPr>
              <a:t>:</a:t>
            </a:r>
            <a:endParaRPr lang="en-US" sz="2200" dirty="0"/>
          </a:p>
        </p:txBody>
      </p:sp>
      <p:sp>
        <p:nvSpPr>
          <p:cNvPr id="8" name="Text 5"/>
          <p:cNvSpPr/>
          <p:nvPr/>
        </p:nvSpPr>
        <p:spPr>
          <a:xfrm>
            <a:off x="457200" y="3280918"/>
            <a:ext cx="8229600" cy="1371600"/>
          </a:xfrm>
          <a:prstGeom prst="rect">
            <a:avLst/>
          </a:prstGeom>
          <a:noFill/>
        </p:spPr>
        <p:txBody>
          <a:bodyPr wrap="square" rtlCol="0" anchor="ctr"/>
          <a:lstStyle/>
          <a:p>
            <a:pPr marL="342900" indent="-342900">
              <a:spcAft>
                <a:spcPts val="300"/>
              </a:spcAft>
              <a:buSzPct val="100000"/>
              <a:buChar char="•"/>
            </a:pPr>
            <a:r>
              <a:rPr lang="en-US" sz="1250" dirty="0">
                <a:solidFill>
                  <a:srgbClr val="333333"/>
                </a:solidFill>
                <a:latin typeface="Arial" panose="020B0604020202020204" pitchFamily="34" charset="0"/>
                <a:ea typeface="Arial" panose="020B0604020202020204" pitchFamily="34" charset="-122"/>
                <a:cs typeface="Arial" panose="020B0604020202020204" pitchFamily="34" charset="-120"/>
              </a:rPr>
              <a:t>Higher infrastructure resource consumption due to Docker and Kubernetes overhead.</a:t>
            </a:r>
            <a:endParaRPr lang="en-US" sz="1250" dirty="0"/>
          </a:p>
          <a:p>
            <a:pPr marL="342900" indent="-342900">
              <a:spcAft>
                <a:spcPts val="300"/>
              </a:spcAft>
              <a:buSzPct val="100000"/>
              <a:buChar char="•"/>
            </a:pPr>
            <a:r>
              <a:rPr lang="en-US" sz="1250" dirty="0">
                <a:solidFill>
                  <a:srgbClr val="333333"/>
                </a:solidFill>
                <a:latin typeface="Arial" panose="020B0604020202020204" pitchFamily="34" charset="0"/>
                <a:ea typeface="Arial" panose="020B0604020202020204" pitchFamily="34" charset="-122"/>
                <a:cs typeface="Arial" panose="020B0604020202020204" pitchFamily="34" charset="-120"/>
              </a:rPr>
              <a:t>Requires ongoing maintenance and periodic updates to remain secure and stable.</a:t>
            </a:r>
            <a:endParaRPr lang="en-US" sz="1250" dirty="0"/>
          </a:p>
          <a:p>
            <a:pPr marL="342900" indent="-342900">
              <a:spcAft>
                <a:spcPts val="300"/>
              </a:spcAft>
              <a:buSzPct val="100000"/>
              <a:buChar char="•"/>
            </a:pPr>
            <a:r>
              <a:rPr lang="en-US" sz="1250" dirty="0">
                <a:solidFill>
                  <a:srgbClr val="333333"/>
                </a:solidFill>
                <a:latin typeface="Arial" panose="020B0604020202020204" pitchFamily="34" charset="0"/>
                <a:ea typeface="Arial" panose="020B0604020202020204" pitchFamily="34" charset="-122"/>
                <a:cs typeface="Arial" panose="020B0604020202020204" pitchFamily="34" charset="-120"/>
              </a:rPr>
              <a:t>No IoT or RFID integration is available in the current version.</a:t>
            </a:r>
            <a:endParaRPr lang="en-US" sz="1250" dirty="0"/>
          </a:p>
          <a:p>
            <a:pPr marL="342900" indent="-342900">
              <a:spcAft>
                <a:spcPts val="300"/>
              </a:spcAft>
              <a:buSzPct val="100000"/>
              <a:buChar char="•"/>
            </a:pPr>
            <a:r>
              <a:rPr lang="en-US" sz="1250" dirty="0">
                <a:solidFill>
                  <a:srgbClr val="333333"/>
                </a:solidFill>
                <a:latin typeface="Arial" panose="020B0604020202020204" pitchFamily="34" charset="0"/>
                <a:ea typeface="Arial" panose="020B0604020202020204" pitchFamily="34" charset="-122"/>
                <a:cs typeface="Arial" panose="020B0604020202020204" pitchFamily="34" charset="-120"/>
              </a:rPr>
              <a:t>The database remains a single point of failure within the current project deployment configuration.</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10303</Words>
  <Application>WPS Presentation</Application>
  <PresentationFormat>On-screen Show (16:9)</PresentationFormat>
  <Paragraphs>306</Paragraphs>
  <Slides>21</Slides>
  <Notes>13</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21</vt:i4>
      </vt:variant>
    </vt:vector>
  </HeadingPairs>
  <TitlesOfParts>
    <vt:vector size="31" baseType="lpstr">
      <vt:lpstr>Arial</vt:lpstr>
      <vt:lpstr>SimSun</vt:lpstr>
      <vt:lpstr>Wingdings</vt:lpstr>
      <vt:lpstr>Arial</vt:lpstr>
      <vt:lpstr>Arial</vt:lpstr>
      <vt:lpstr>Calibri</vt:lpstr>
      <vt:lpstr>Microsoft YaHei</vt:lpstr>
      <vt:lpstr>Arial Unicode MS</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Parking Management System</dc:title>
  <dc:creator>PptxGenJS</dc:creator>
  <dc:subject>PptxGenJS Presentation</dc:subject>
  <cp:lastModifiedBy>muhammed sait</cp:lastModifiedBy>
  <cp:revision>4</cp:revision>
  <dcterms:created xsi:type="dcterms:W3CDTF">2026-06-22T19:48:00Z</dcterms:created>
  <dcterms:modified xsi:type="dcterms:W3CDTF">2026-06-23T09:05:44Z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21E80C54719B4F0DBD4617565DAA4A02_12</vt:lpwstr>
  </property>
  <property fmtid="{D5CDD505-2E9C-101B-9397-08002B2CF9AE}" pid="3" name="KSOProductBuildVer">
    <vt:lpwstr>1033-12.1.0.26880</vt:lpwstr>
  </property>
</Properties>
</file>